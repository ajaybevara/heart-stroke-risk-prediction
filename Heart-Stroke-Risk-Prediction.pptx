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3"/>
  </p:notesMasterIdLst>
  <p:sldIdLst>
    <p:sldId id="256" r:id="rId3"/>
    <p:sldId id="257" r:id="rId4"/>
    <p:sldId id="258" r:id="rId5"/>
    <p:sldId id="259"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64" r:id="rId20"/>
    <p:sldId id="276" r:id="rId21"/>
    <p:sldId id="277" r:id="rId22"/>
    <p:sldId id="279" r:id="rId23"/>
    <p:sldId id="280" r:id="rId24"/>
    <p:sldId id="281" r:id="rId25"/>
    <p:sldId id="282" r:id="rId26"/>
    <p:sldId id="283" r:id="rId27"/>
    <p:sldId id="284" r:id="rId28"/>
    <p:sldId id="285" r:id="rId29"/>
    <p:sldId id="288" r:id="rId30"/>
    <p:sldId id="287" r:id="rId31"/>
    <p:sldId id="289" r:id="rId32"/>
    <p:sldId id="286" r:id="rId33"/>
    <p:sldId id="290" r:id="rId34"/>
    <p:sldId id="278" r:id="rId35"/>
    <p:sldId id="291" r:id="rId36"/>
    <p:sldId id="292" r:id="rId37"/>
    <p:sldId id="293" r:id="rId38"/>
    <p:sldId id="294" r:id="rId39"/>
    <p:sldId id="295" r:id="rId40"/>
    <p:sldId id="296" r:id="rId41"/>
    <p:sldId id="297" r:id="rId42"/>
    <p:sldId id="298" r:id="rId43"/>
    <p:sldId id="299" r:id="rId44"/>
    <p:sldId id="300" r:id="rId45"/>
    <p:sldId id="302" r:id="rId46"/>
    <p:sldId id="303" r:id="rId47"/>
    <p:sldId id="304" r:id="rId48"/>
    <p:sldId id="305" r:id="rId49"/>
    <p:sldId id="306" r:id="rId50"/>
    <p:sldId id="301" r:id="rId51"/>
    <p:sldId id="307" r:id="rId52"/>
    <p:sldId id="308" r:id="rId53"/>
    <p:sldId id="310" r:id="rId54"/>
    <p:sldId id="311" r:id="rId55"/>
    <p:sldId id="312" r:id="rId56"/>
    <p:sldId id="313" r:id="rId57"/>
    <p:sldId id="314" r:id="rId58"/>
    <p:sldId id="315" r:id="rId59"/>
    <p:sldId id="316" r:id="rId60"/>
    <p:sldId id="317" r:id="rId61"/>
    <p:sldId id="309" r:id="rId62"/>
    <p:sldId id="318" r:id="rId63"/>
    <p:sldId id="320" r:id="rId64"/>
    <p:sldId id="321" r:id="rId65"/>
    <p:sldId id="322" r:id="rId66"/>
    <p:sldId id="323" r:id="rId67"/>
    <p:sldId id="324" r:id="rId68"/>
    <p:sldId id="325" r:id="rId69"/>
    <p:sldId id="326" r:id="rId70"/>
    <p:sldId id="327" r:id="rId71"/>
    <p:sldId id="319" r:id="rId72"/>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4" userDrawn="1">
          <p15:clr>
            <a:srgbClr val="A4A3A4"/>
          </p15:clr>
        </p15:guide>
        <p15:guide id="2" pos="2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4"/>
        <p:guide pos="217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notesMaster" Target="notesMasters/notesMaster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817112" cy="55513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989570" y="0"/>
            <a:ext cx="3817112" cy="555133"/>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085088" y="1383030"/>
            <a:ext cx="6638544" cy="373418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80872" y="5324666"/>
            <a:ext cx="7046976" cy="435654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10509108"/>
            <a:ext cx="3817112" cy="55513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989570" y="10509108"/>
            <a:ext cx="3817112" cy="555132"/>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t>Sri Sivani College of Engineering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alibri" panose="020F0502020204030204"/>
                <a:cs typeface="Calibri" panose="020F0502020204030204"/>
              </a:defRPr>
            </a:lvl1pPr>
          </a:lstStyle>
          <a:p>
            <a:pPr marL="38100">
              <a:lnSpc>
                <a:spcPts val="1055"/>
              </a:lnSpc>
            </a:pPr>
            <a:fld id="{81D60167-4931-47E6-BA6A-407CBD079E47}" type="slidenum">
              <a:rPr spc="-50" dirty="0"/>
            </a:fld>
            <a:endParaRPr spc="-50"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t>Sri Sivani College of Engineering</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Calibri" panose="020F0502020204030204"/>
                <a:cs typeface="Calibri" panose="020F0502020204030204"/>
              </a:defRPr>
            </a:lvl1pPr>
          </a:lstStyle>
          <a:p>
            <a:pPr marL="38100">
              <a:lnSpc>
                <a:spcPts val="1055"/>
              </a:lnSpc>
            </a:pPr>
            <a:fld id="{81D60167-4931-47E6-BA6A-407CBD079E47}" type="slidenum">
              <a:rPr spc="-50" dirty="0"/>
            </a:fld>
            <a:endParaRPr spc="-50"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t>Sri Sivani College of Engineering</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000" b="0" i="0">
                <a:solidFill>
                  <a:schemeClr val="tx1"/>
                </a:solidFill>
                <a:latin typeface="Calibri" panose="020F0502020204030204"/>
                <a:cs typeface="Calibri" panose="020F0502020204030204"/>
              </a:defRPr>
            </a:lvl1pPr>
          </a:lstStyle>
          <a:p>
            <a:pPr marL="38100">
              <a:lnSpc>
                <a:spcPts val="1055"/>
              </a:lnSpc>
            </a:pPr>
            <a:fld id="{81D60167-4931-47E6-BA6A-407CBD079E47}" type="slidenum">
              <a:rPr spc="-50" dirty="0"/>
            </a:fld>
            <a:endParaRPr spc="-50"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t>Sri Sivani College of Engineering</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Calibri" panose="020F0502020204030204"/>
                <a:cs typeface="Calibri" panose="020F0502020204030204"/>
              </a:defRPr>
            </a:lvl1pPr>
          </a:lstStyle>
          <a:p>
            <a:pPr marL="38100">
              <a:lnSpc>
                <a:spcPts val="1055"/>
              </a:lnSpc>
            </a:pPr>
            <a:fld id="{81D60167-4931-47E6-BA6A-407CBD079E47}" type="slidenum">
              <a:rPr spc="-50" dirty="0"/>
            </a:fld>
            <a:endParaRPr spc="-50"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t>Sri Sivani College of Engineering</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000" b="0" i="0">
                <a:solidFill>
                  <a:schemeClr val="tx1"/>
                </a:solidFill>
                <a:latin typeface="Calibri" panose="020F0502020204030204"/>
                <a:cs typeface="Calibri" panose="020F0502020204030204"/>
              </a:defRPr>
            </a:lvl1pPr>
          </a:lstStyle>
          <a:p>
            <a:pPr marL="38100">
              <a:lnSpc>
                <a:spcPts val="1055"/>
              </a:lnSpc>
            </a:pPr>
            <a:fld id="{81D60167-4931-47E6-BA6A-407CBD079E47}" type="slidenum">
              <a:rPr spc="-50" dirty="0"/>
            </a:fld>
            <a:endParaRPr spc="-50"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r>
              <a:t>Sri Sivani College of Engineering</a:t>
            </a: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474840" y="9333686"/>
            <a:ext cx="156845" cy="153670"/>
          </a:xfrm>
          <a:prstGeom prst="rect">
            <a:avLst/>
          </a:prstGeom>
        </p:spPr>
        <p:txBody>
          <a:bodyPr wrap="square" lIns="0" tIns="0" rIns="0" bIns="0">
            <a:spAutoFit/>
          </a:bodyPr>
          <a:lstStyle>
            <a:lvl1pPr>
              <a:defRPr sz="1000" b="0" i="0">
                <a:solidFill>
                  <a:schemeClr val="tx1"/>
                </a:solidFill>
                <a:latin typeface="Calibri" panose="020F0502020204030204"/>
                <a:cs typeface="Calibri" panose="020F0502020204030204"/>
              </a:defRPr>
            </a:lvl1pPr>
          </a:lstStyle>
          <a:p>
            <a:pPr marL="38100">
              <a:lnSpc>
                <a:spcPts val="1055"/>
              </a:lnSpc>
            </a:pPr>
            <a:fld id="{81D60167-4931-47E6-BA6A-407CBD079E47}" type="slidenum">
              <a:rPr spc="-50" dirty="0"/>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5.png"/><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4.png"/><Relationship Id="rId1" Type="http://schemas.openxmlformats.org/officeDocument/2006/relationships/tags" Target="../tags/tag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14425" y="1361440"/>
            <a:ext cx="5895340" cy="2916555"/>
          </a:xfrm>
          <a:prstGeom prst="rect">
            <a:avLst/>
          </a:prstGeom>
        </p:spPr>
        <p:txBody>
          <a:bodyPr vert="horz" wrap="square" lIns="0" tIns="23495" rIns="0" bIns="0" rtlCol="0">
            <a:spAutoFit/>
          </a:bodyPr>
          <a:lstStyle/>
          <a:p>
            <a:pPr marL="12065" marR="5080" indent="1270" algn="ctr">
              <a:lnSpc>
                <a:spcPct val="144000"/>
              </a:lnSpc>
              <a:spcBef>
                <a:spcPts val="185"/>
              </a:spcBef>
            </a:pPr>
            <a:r>
              <a:rPr lang="en-US" altLang="en-US" sz="1400" b="1" dirty="0">
                <a:latin typeface="Times New Roman" panose="02020603050405020304"/>
                <a:cs typeface="Times New Roman" panose="02020603050405020304"/>
              </a:rPr>
              <a:t>Heart Stroke Risk Prediction System With Clinical Safety and Action Plans</a:t>
            </a:r>
            <a:r>
              <a:rPr lang="en-US" altLang="en-US" sz="1400" dirty="0">
                <a:latin typeface="Times New Roman" panose="02020603050405020304"/>
                <a:cs typeface="Times New Roman" panose="02020603050405020304"/>
              </a:rPr>
              <a:t> </a:t>
            </a:r>
            <a:r>
              <a:rPr sz="1400" dirty="0">
                <a:latin typeface="Times New Roman" panose="02020603050405020304"/>
                <a:cs typeface="Times New Roman" panose="02020603050405020304"/>
              </a:rPr>
              <a:t>A</a:t>
            </a:r>
            <a:r>
              <a:rPr sz="1400" spc="-30" dirty="0">
                <a:latin typeface="Times New Roman" panose="02020603050405020304"/>
                <a:cs typeface="Times New Roman" panose="02020603050405020304"/>
              </a:rPr>
              <a:t> </a:t>
            </a:r>
            <a:r>
              <a:rPr sz="1400" dirty="0">
                <a:latin typeface="Times New Roman" panose="02020603050405020304"/>
                <a:cs typeface="Times New Roman" panose="02020603050405020304"/>
              </a:rPr>
              <a:t>main</a:t>
            </a:r>
            <a:r>
              <a:rPr sz="1400" spc="-55" dirty="0">
                <a:latin typeface="Times New Roman" panose="02020603050405020304"/>
                <a:cs typeface="Times New Roman" panose="02020603050405020304"/>
              </a:rPr>
              <a:t> </a:t>
            </a:r>
            <a:r>
              <a:rPr sz="1400" dirty="0">
                <a:latin typeface="Times New Roman" panose="02020603050405020304"/>
                <a:cs typeface="Times New Roman" panose="02020603050405020304"/>
              </a:rPr>
              <a:t>project</a:t>
            </a:r>
            <a:r>
              <a:rPr sz="1400" spc="-35" dirty="0">
                <a:latin typeface="Times New Roman" panose="02020603050405020304"/>
                <a:cs typeface="Times New Roman" panose="02020603050405020304"/>
              </a:rPr>
              <a:t> </a:t>
            </a:r>
            <a:r>
              <a:rPr sz="1400" dirty="0">
                <a:latin typeface="Times New Roman" panose="02020603050405020304"/>
                <a:cs typeface="Times New Roman" panose="02020603050405020304"/>
              </a:rPr>
              <a:t>report</a:t>
            </a:r>
            <a:r>
              <a:rPr sz="1400" spc="-25" dirty="0">
                <a:latin typeface="Times New Roman" panose="02020603050405020304"/>
                <a:cs typeface="Times New Roman" panose="02020603050405020304"/>
              </a:rPr>
              <a:t> </a:t>
            </a:r>
            <a:r>
              <a:rPr sz="1400" dirty="0">
                <a:latin typeface="Times New Roman" panose="02020603050405020304"/>
                <a:cs typeface="Times New Roman" panose="02020603050405020304"/>
              </a:rPr>
              <a:t>submitted</a:t>
            </a:r>
            <a:r>
              <a:rPr sz="1400" spc="-30"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55"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50" dirty="0">
                <a:latin typeface="Times New Roman" panose="02020603050405020304"/>
                <a:cs typeface="Times New Roman" panose="02020603050405020304"/>
              </a:rPr>
              <a:t> </a:t>
            </a:r>
            <a:r>
              <a:rPr sz="1400" dirty="0">
                <a:latin typeface="Times New Roman" panose="02020603050405020304"/>
                <a:cs typeface="Times New Roman" panose="02020603050405020304"/>
              </a:rPr>
              <a:t>partial</a:t>
            </a:r>
            <a:r>
              <a:rPr sz="1400" spc="-45" dirty="0">
                <a:latin typeface="Times New Roman" panose="02020603050405020304"/>
                <a:cs typeface="Times New Roman" panose="02020603050405020304"/>
              </a:rPr>
              <a:t> </a:t>
            </a:r>
            <a:r>
              <a:rPr sz="1400" dirty="0">
                <a:latin typeface="Times New Roman" panose="02020603050405020304"/>
                <a:cs typeface="Times New Roman" panose="02020603050405020304"/>
              </a:rPr>
              <a:t>fulfillment</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for</a:t>
            </a:r>
            <a:r>
              <a:rPr sz="1400" spc="-60"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50" dirty="0">
                <a:latin typeface="Times New Roman" panose="02020603050405020304"/>
                <a:cs typeface="Times New Roman" panose="02020603050405020304"/>
              </a:rPr>
              <a:t> </a:t>
            </a:r>
            <a:r>
              <a:rPr sz="1400" spc="-10" dirty="0">
                <a:latin typeface="Times New Roman" panose="02020603050405020304"/>
                <a:cs typeface="Times New Roman" panose="02020603050405020304"/>
              </a:rPr>
              <a:t>requirements </a:t>
            </a:r>
            <a:r>
              <a:rPr sz="1400" dirty="0">
                <a:latin typeface="Times New Roman" panose="02020603050405020304"/>
                <a:cs typeface="Times New Roman" panose="02020603050405020304"/>
              </a:rPr>
              <a:t>of</a:t>
            </a:r>
            <a:r>
              <a:rPr sz="1400" spc="-45"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Award</a:t>
            </a:r>
            <a:r>
              <a:rPr sz="1400" spc="-15"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45"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Bachelor</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45" dirty="0">
                <a:latin typeface="Times New Roman" panose="02020603050405020304"/>
                <a:cs typeface="Times New Roman" panose="02020603050405020304"/>
              </a:rPr>
              <a:t> </a:t>
            </a:r>
            <a:r>
              <a:rPr sz="1400" spc="-10" dirty="0">
                <a:latin typeface="Times New Roman" panose="02020603050405020304"/>
                <a:cs typeface="Times New Roman" panose="02020603050405020304"/>
              </a:rPr>
              <a:t>Technology</a:t>
            </a:r>
            <a:endParaRPr sz="1400">
              <a:latin typeface="Times New Roman" panose="02020603050405020304"/>
              <a:cs typeface="Times New Roman" panose="02020603050405020304"/>
            </a:endParaRPr>
          </a:p>
          <a:p>
            <a:pPr marL="8890" algn="ctr">
              <a:lnSpc>
                <a:spcPct val="100000"/>
              </a:lnSpc>
              <a:spcBef>
                <a:spcPts val="1320"/>
              </a:spcBef>
            </a:pPr>
            <a:r>
              <a:rPr sz="1400" spc="-25" dirty="0">
                <a:latin typeface="Times New Roman" panose="02020603050405020304"/>
                <a:cs typeface="Times New Roman" panose="02020603050405020304"/>
              </a:rPr>
              <a:t>By</a:t>
            </a:r>
            <a:endParaRPr sz="1400">
              <a:latin typeface="Times New Roman" panose="02020603050405020304"/>
              <a:cs typeface="Times New Roman" panose="02020603050405020304"/>
            </a:endParaRPr>
          </a:p>
          <a:p>
            <a:pPr marL="8255" algn="ctr">
              <a:lnSpc>
                <a:spcPct val="100000"/>
              </a:lnSpc>
              <a:spcBef>
                <a:spcPts val="1345"/>
              </a:spcBef>
            </a:pPr>
            <a:r>
              <a:rPr sz="1400" b="1" dirty="0">
                <a:latin typeface="Times New Roman" panose="02020603050405020304"/>
                <a:cs typeface="Times New Roman" panose="02020603050405020304"/>
              </a:rPr>
              <a:t>Jawaharlal</a:t>
            </a:r>
            <a:r>
              <a:rPr sz="1400" b="1" spc="-3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Nehru</a:t>
            </a:r>
            <a:r>
              <a:rPr sz="1400" b="1" spc="-70" dirty="0">
                <a:latin typeface="Times New Roman" panose="02020603050405020304"/>
                <a:cs typeface="Times New Roman" panose="02020603050405020304"/>
              </a:rPr>
              <a:t> </a:t>
            </a:r>
            <a:r>
              <a:rPr sz="1400" b="1" spc="-10" dirty="0">
                <a:latin typeface="Times New Roman" panose="02020603050405020304"/>
                <a:cs typeface="Times New Roman" panose="02020603050405020304"/>
              </a:rPr>
              <a:t>Technological</a:t>
            </a:r>
            <a:r>
              <a:rPr sz="1400" b="1" spc="-25"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University,</a:t>
            </a:r>
            <a:r>
              <a:rPr sz="1400" b="1" spc="-5" dirty="0">
                <a:latin typeface="Times New Roman" panose="02020603050405020304"/>
                <a:cs typeface="Times New Roman" panose="02020603050405020304"/>
              </a:rPr>
              <a:t> </a:t>
            </a:r>
            <a:r>
              <a:rPr sz="1400" b="1" spc="-10" dirty="0">
                <a:latin typeface="Times New Roman" panose="02020603050405020304"/>
                <a:cs typeface="Times New Roman" panose="02020603050405020304"/>
              </a:rPr>
              <a:t>Gurajada</a:t>
            </a:r>
            <a:r>
              <a:rPr sz="1400" b="1" spc="-30" dirty="0">
                <a:latin typeface="Times New Roman" panose="02020603050405020304"/>
                <a:cs typeface="Times New Roman" panose="02020603050405020304"/>
              </a:rPr>
              <a:t> </a:t>
            </a:r>
            <a:r>
              <a:rPr sz="1400" b="1" spc="-10" dirty="0">
                <a:latin typeface="Times New Roman" panose="02020603050405020304"/>
                <a:cs typeface="Times New Roman" panose="02020603050405020304"/>
              </a:rPr>
              <a:t>Vizianagaram</a:t>
            </a:r>
            <a:endParaRPr sz="1400">
              <a:latin typeface="Times New Roman" panose="02020603050405020304"/>
              <a:cs typeface="Times New Roman" panose="02020603050405020304"/>
            </a:endParaRPr>
          </a:p>
          <a:p>
            <a:pPr marL="12065" algn="ctr">
              <a:lnSpc>
                <a:spcPct val="100000"/>
              </a:lnSpc>
              <a:spcBef>
                <a:spcPts val="1345"/>
              </a:spcBef>
            </a:pPr>
            <a:r>
              <a:rPr sz="1400" dirty="0">
                <a:latin typeface="Times New Roman" panose="02020603050405020304"/>
                <a:cs typeface="Times New Roman" panose="02020603050405020304"/>
              </a:rPr>
              <a:t>In</a:t>
            </a:r>
            <a:r>
              <a:rPr sz="1400" spc="-80"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50" dirty="0">
                <a:latin typeface="Times New Roman" panose="02020603050405020304"/>
                <a:cs typeface="Times New Roman" panose="02020603050405020304"/>
              </a:rPr>
              <a:t> </a:t>
            </a:r>
            <a:r>
              <a:rPr sz="1400" dirty="0">
                <a:latin typeface="Times New Roman" panose="02020603050405020304"/>
                <a:cs typeface="Times New Roman" panose="02020603050405020304"/>
              </a:rPr>
              <a:t>Discipline</a:t>
            </a:r>
            <a:r>
              <a:rPr sz="1400" spc="-25" dirty="0">
                <a:latin typeface="Times New Roman" panose="02020603050405020304"/>
                <a:cs typeface="Times New Roman" panose="02020603050405020304"/>
              </a:rPr>
              <a:t> of</a:t>
            </a:r>
            <a:endParaRPr sz="1400">
              <a:latin typeface="Times New Roman" panose="02020603050405020304"/>
              <a:cs typeface="Times New Roman" panose="02020603050405020304"/>
            </a:endParaRPr>
          </a:p>
          <a:p>
            <a:pPr marL="6350" algn="ctr">
              <a:lnSpc>
                <a:spcPct val="100000"/>
              </a:lnSpc>
              <a:spcBef>
                <a:spcPts val="1345"/>
              </a:spcBef>
            </a:pPr>
            <a:r>
              <a:rPr lang="en-US" altLang="en-US" sz="1600" b="1">
                <a:latin typeface="Times New Roman" panose="02020603050405020304"/>
                <a:cs typeface="Times New Roman" panose="02020603050405020304"/>
              </a:rPr>
              <a:t>Artificial Intelligence &amp; Machine Learning</a:t>
            </a:r>
            <a:endParaRPr sz="1600" b="1">
              <a:latin typeface="Times New Roman" panose="02020603050405020304"/>
              <a:cs typeface="Times New Roman" panose="02020603050405020304"/>
            </a:endParaRPr>
          </a:p>
          <a:p>
            <a:pPr marL="7620" algn="ctr">
              <a:lnSpc>
                <a:spcPct val="100000"/>
              </a:lnSpc>
              <a:spcBef>
                <a:spcPts val="1320"/>
              </a:spcBef>
            </a:pPr>
            <a:r>
              <a:rPr sz="1400" dirty="0">
                <a:latin typeface="Times New Roman" panose="02020603050405020304"/>
                <a:cs typeface="Times New Roman" panose="02020603050405020304"/>
              </a:rPr>
              <a:t>Submitted</a:t>
            </a:r>
            <a:r>
              <a:rPr sz="1400" spc="-50" dirty="0">
                <a:latin typeface="Times New Roman" panose="02020603050405020304"/>
                <a:cs typeface="Times New Roman" panose="02020603050405020304"/>
              </a:rPr>
              <a:t> </a:t>
            </a:r>
            <a:r>
              <a:rPr sz="1400" spc="-25" dirty="0">
                <a:latin typeface="Times New Roman" panose="02020603050405020304"/>
                <a:cs typeface="Times New Roman" panose="02020603050405020304"/>
              </a:rPr>
              <a:t>by</a:t>
            </a:r>
            <a:endParaRPr sz="1400">
              <a:latin typeface="Times New Roman" panose="02020603050405020304"/>
              <a:cs typeface="Times New Roman" panose="02020603050405020304"/>
            </a:endParaRPr>
          </a:p>
        </p:txBody>
      </p:sp>
      <p:graphicFrame>
        <p:nvGraphicFramePr>
          <p:cNvPr id="3" name="object 3"/>
          <p:cNvGraphicFramePr>
            <a:graphicFrameLocks noGrp="1"/>
          </p:cNvGraphicFramePr>
          <p:nvPr/>
        </p:nvGraphicFramePr>
        <p:xfrm>
          <a:off x="2441067" y="4444887"/>
          <a:ext cx="3399154" cy="1497330"/>
        </p:xfrm>
        <a:graphic>
          <a:graphicData uri="http://schemas.openxmlformats.org/drawingml/2006/table">
            <a:tbl>
              <a:tblPr firstRow="1" bandRow="1">
                <a:tableStyleId>{2D5ABB26-0587-4C30-8999-92F81FD0307C}</a:tableStyleId>
              </a:tblPr>
              <a:tblGrid>
                <a:gridCol w="2045335"/>
                <a:gridCol w="1277619"/>
              </a:tblGrid>
              <a:tr h="223520">
                <a:tc>
                  <a:txBody>
                    <a:bodyPr/>
                    <a:lstStyle/>
                    <a:p>
                      <a:pPr marL="31750">
                        <a:lnSpc>
                          <a:spcPts val="1415"/>
                        </a:lnSpc>
                      </a:pPr>
                      <a:r>
                        <a:rPr lang="en-US" sz="1300" b="1">
                          <a:latin typeface="Times New Roman" panose="02020603050405020304"/>
                          <a:cs typeface="Times New Roman" panose="02020603050405020304"/>
                        </a:rPr>
                        <a:t>B. Rajasekhar</a:t>
                      </a:r>
                      <a:endParaRPr lang="en-US" sz="1300" b="1">
                        <a:latin typeface="Times New Roman" panose="02020603050405020304"/>
                        <a:cs typeface="Times New Roman" panose="02020603050405020304"/>
                      </a:endParaRPr>
                    </a:p>
                  </a:txBody>
                  <a:tcPr marL="0" marR="0" marT="0" marB="0"/>
                </a:tc>
                <a:tc>
                  <a:txBody>
                    <a:bodyPr/>
                    <a:lstStyle/>
                    <a:p>
                      <a:pPr marR="24130" algn="r">
                        <a:lnSpc>
                          <a:spcPts val="1415"/>
                        </a:lnSpc>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W61A6105</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0" marB="0"/>
                </a:tc>
              </a:tr>
              <a:tr h="264795">
                <a:tc>
                  <a:txBody>
                    <a:bodyPr/>
                    <a:lstStyle/>
                    <a:p>
                      <a:pPr marL="31750">
                        <a:lnSpc>
                          <a:spcPct val="100000"/>
                        </a:lnSpc>
                        <a:spcBef>
                          <a:spcPts val="180"/>
                        </a:spcBef>
                      </a:pPr>
                      <a:r>
                        <a:rPr lang="en-US" sz="1300" b="1">
                          <a:latin typeface="Times New Roman" panose="02020603050405020304"/>
                          <a:cs typeface="Times New Roman" panose="02020603050405020304"/>
                        </a:rPr>
                        <a:t>A. Durga Prasad</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W61A6102</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64795">
                <a:tc>
                  <a:txBody>
                    <a:bodyPr/>
                    <a:lstStyle/>
                    <a:p>
                      <a:pPr marL="31750">
                        <a:lnSpc>
                          <a:spcPct val="100000"/>
                        </a:lnSpc>
                        <a:spcBef>
                          <a:spcPts val="180"/>
                        </a:spcBef>
                      </a:pPr>
                      <a:r>
                        <a:rPr lang="en-US" sz="1300" b="1">
                          <a:latin typeface="Times New Roman" panose="02020603050405020304"/>
                          <a:cs typeface="Times New Roman" panose="02020603050405020304"/>
                        </a:rPr>
                        <a:t>B. Tejaswani</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W61A6107</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64795">
                <a:tc>
                  <a:txBody>
                    <a:bodyPr/>
                    <a:lstStyle/>
                    <a:p>
                      <a:pPr marL="31750">
                        <a:lnSpc>
                          <a:spcPct val="100000"/>
                        </a:lnSpc>
                        <a:spcBef>
                          <a:spcPts val="180"/>
                        </a:spcBef>
                      </a:pPr>
                      <a:r>
                        <a:rPr lang="en-US" sz="1300" b="1">
                          <a:latin typeface="Times New Roman" panose="02020603050405020304"/>
                          <a:cs typeface="Times New Roman" panose="02020603050405020304"/>
                        </a:rPr>
                        <a:t>CH. Santhosh</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W61A6109</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60350">
                <a:tc>
                  <a:txBody>
                    <a:bodyPr/>
                    <a:lstStyle/>
                    <a:p>
                      <a:pPr marL="31750">
                        <a:lnSpc>
                          <a:spcPct val="100000"/>
                        </a:lnSpc>
                        <a:spcBef>
                          <a:spcPts val="180"/>
                        </a:spcBef>
                      </a:pPr>
                      <a:r>
                        <a:rPr lang="en-US" sz="1300" b="1">
                          <a:latin typeface="Times New Roman" panose="02020603050405020304"/>
                          <a:cs typeface="Times New Roman" panose="02020603050405020304"/>
                        </a:rPr>
                        <a:t>T. Gnana Deepthi</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a:t>
                      </a:r>
                      <a:r>
                        <a:rPr lang="en-US" sz="1300" b="1" spc="-10" dirty="0">
                          <a:latin typeface="Times New Roman" panose="02020603050405020304"/>
                          <a:cs typeface="Times New Roman" panose="02020603050405020304"/>
                        </a:rPr>
                        <a:t>2W61A6143</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19075">
                <a:tc>
                  <a:txBody>
                    <a:bodyPr/>
                    <a:lstStyle/>
                    <a:p>
                      <a:pPr marL="31750">
                        <a:lnSpc>
                          <a:spcPts val="1480"/>
                        </a:lnSpc>
                        <a:spcBef>
                          <a:spcPts val="145"/>
                        </a:spcBef>
                      </a:pPr>
                      <a:endParaRPr sz="1300">
                        <a:latin typeface="Times New Roman" panose="02020603050405020304"/>
                        <a:cs typeface="Times New Roman" panose="02020603050405020304"/>
                      </a:endParaRPr>
                    </a:p>
                  </a:txBody>
                  <a:tcPr marL="0" marR="0" marT="18415" marB="0"/>
                </a:tc>
                <a:tc>
                  <a:txBody>
                    <a:bodyPr/>
                    <a:lstStyle/>
                    <a:p>
                      <a:pPr marR="24130" algn="r">
                        <a:lnSpc>
                          <a:spcPts val="1480"/>
                        </a:lnSpc>
                        <a:spcBef>
                          <a:spcPts val="145"/>
                        </a:spcBef>
                      </a:pPr>
                      <a:endParaRPr sz="1300">
                        <a:latin typeface="Times New Roman" panose="02020603050405020304"/>
                        <a:cs typeface="Times New Roman" panose="02020603050405020304"/>
                      </a:endParaRPr>
                    </a:p>
                  </a:txBody>
                  <a:tcPr marL="0" marR="0" marT="18415" marB="0"/>
                </a:tc>
              </a:tr>
            </a:tbl>
          </a:graphicData>
        </a:graphic>
      </p:graphicFrame>
      <p:sp>
        <p:nvSpPr>
          <p:cNvPr id="4" name="object 4"/>
          <p:cNvSpPr txBox="1"/>
          <p:nvPr/>
        </p:nvSpPr>
        <p:spPr>
          <a:xfrm>
            <a:off x="1176020" y="6005830"/>
            <a:ext cx="5990590" cy="3146425"/>
          </a:xfrm>
          <a:prstGeom prst="rect">
            <a:avLst/>
          </a:prstGeom>
        </p:spPr>
        <p:txBody>
          <a:bodyPr vert="horz" wrap="square" lIns="0" tIns="11430" rIns="0" bIns="0" rtlCol="0">
            <a:spAutoFit/>
          </a:bodyPr>
          <a:lstStyle/>
          <a:p>
            <a:pPr marR="28575" algn="ctr">
              <a:lnSpc>
                <a:spcPct val="100000"/>
              </a:lnSpc>
              <a:spcBef>
                <a:spcPts val="90"/>
              </a:spcBef>
            </a:pPr>
            <a:r>
              <a:rPr sz="1400" dirty="0">
                <a:latin typeface="Times New Roman" panose="02020603050405020304"/>
                <a:cs typeface="Times New Roman" panose="02020603050405020304"/>
              </a:rPr>
              <a:t>Under</a:t>
            </a:r>
            <a:r>
              <a:rPr sz="1400" spc="-75"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60" dirty="0">
                <a:latin typeface="Times New Roman" panose="02020603050405020304"/>
                <a:cs typeface="Times New Roman" panose="02020603050405020304"/>
              </a:rPr>
              <a:t> </a:t>
            </a:r>
            <a:r>
              <a:rPr sz="1400" dirty="0">
                <a:latin typeface="Times New Roman" panose="02020603050405020304"/>
                <a:cs typeface="Times New Roman" panose="02020603050405020304"/>
              </a:rPr>
              <a:t>esteemed</a:t>
            </a:r>
            <a:r>
              <a:rPr sz="1400" spc="-40" dirty="0">
                <a:latin typeface="Times New Roman" panose="02020603050405020304"/>
                <a:cs typeface="Times New Roman" panose="02020603050405020304"/>
              </a:rPr>
              <a:t> </a:t>
            </a:r>
            <a:r>
              <a:rPr sz="1400" dirty="0">
                <a:latin typeface="Times New Roman" panose="02020603050405020304"/>
                <a:cs typeface="Times New Roman" panose="02020603050405020304"/>
              </a:rPr>
              <a:t>guidance</a:t>
            </a:r>
            <a:r>
              <a:rPr sz="1400" spc="-60" dirty="0">
                <a:latin typeface="Times New Roman" panose="02020603050405020304"/>
                <a:cs typeface="Times New Roman" panose="02020603050405020304"/>
              </a:rPr>
              <a:t> </a:t>
            </a:r>
            <a:r>
              <a:rPr sz="1400" spc="-25" dirty="0">
                <a:latin typeface="Times New Roman" panose="02020603050405020304"/>
                <a:cs typeface="Times New Roman" panose="02020603050405020304"/>
              </a:rPr>
              <a:t>of</a:t>
            </a:r>
            <a:endParaRPr sz="1400">
              <a:latin typeface="Times New Roman" panose="02020603050405020304"/>
              <a:cs typeface="Times New Roman" panose="02020603050405020304"/>
            </a:endParaRPr>
          </a:p>
          <a:p>
            <a:pPr marL="3810" algn="ctr">
              <a:lnSpc>
                <a:spcPct val="100000"/>
              </a:lnSpc>
              <a:spcBef>
                <a:spcPts val="1370"/>
              </a:spcBef>
            </a:pPr>
            <a:r>
              <a:rPr sz="1400" b="1" dirty="0">
                <a:latin typeface="Times New Roman" panose="02020603050405020304"/>
                <a:cs typeface="Times New Roman" panose="02020603050405020304"/>
              </a:rPr>
              <a:t>Mr.</a:t>
            </a:r>
            <a:r>
              <a:rPr sz="1400" b="1" spc="-75" dirty="0">
                <a:latin typeface="Times New Roman" panose="02020603050405020304"/>
                <a:cs typeface="Times New Roman" panose="02020603050405020304"/>
              </a:rPr>
              <a:t> </a:t>
            </a:r>
            <a:r>
              <a:rPr lang="en-US" altLang="en-US" sz="1400" b="1" spc="-75" dirty="0">
                <a:latin typeface="Times New Roman" panose="02020603050405020304"/>
                <a:cs typeface="Times New Roman" panose="02020603050405020304"/>
              </a:rPr>
              <a:t>Pradeep</a:t>
            </a:r>
            <a:r>
              <a:rPr sz="1400" b="1" spc="-30" dirty="0">
                <a:latin typeface="Times New Roman" panose="02020603050405020304"/>
                <a:cs typeface="Times New Roman" panose="02020603050405020304"/>
              </a:rPr>
              <a:t> </a:t>
            </a:r>
            <a:r>
              <a:rPr sz="1400" b="1" spc="-20" dirty="0">
                <a:latin typeface="Times New Roman" panose="02020603050405020304"/>
                <a:cs typeface="Times New Roman" panose="02020603050405020304"/>
              </a:rPr>
              <a:t>K</a:t>
            </a:r>
            <a:r>
              <a:rPr lang="en-US" altLang="en-US" sz="1400" b="1" spc="-20" dirty="0">
                <a:latin typeface="Times New Roman" panose="02020603050405020304"/>
                <a:cs typeface="Times New Roman" panose="02020603050405020304"/>
              </a:rPr>
              <a:t>umar</a:t>
            </a:r>
            <a:endParaRPr sz="1400">
              <a:latin typeface="Times New Roman" panose="02020603050405020304"/>
              <a:cs typeface="Times New Roman" panose="02020603050405020304"/>
            </a:endParaRPr>
          </a:p>
          <a:p>
            <a:pPr marL="3810" algn="ctr">
              <a:lnSpc>
                <a:spcPct val="100000"/>
              </a:lnSpc>
              <a:spcBef>
                <a:spcPts val="1320"/>
              </a:spcBef>
            </a:pPr>
            <a:r>
              <a:rPr sz="1400" b="1" dirty="0">
                <a:latin typeface="Times New Roman" panose="02020603050405020304"/>
                <a:cs typeface="Times New Roman" panose="02020603050405020304"/>
              </a:rPr>
              <a:t>Assistant</a:t>
            </a:r>
            <a:r>
              <a:rPr sz="1400" b="1" spc="-50" dirty="0">
                <a:latin typeface="Times New Roman" panose="02020603050405020304"/>
                <a:cs typeface="Times New Roman" panose="02020603050405020304"/>
              </a:rPr>
              <a:t> </a:t>
            </a:r>
            <a:r>
              <a:rPr sz="1400" b="1" spc="-10" dirty="0">
                <a:latin typeface="Times New Roman" panose="02020603050405020304"/>
                <a:cs typeface="Times New Roman" panose="02020603050405020304"/>
              </a:rPr>
              <a:t>Professor</a:t>
            </a:r>
            <a:endParaRPr sz="1400">
              <a:latin typeface="Times New Roman" panose="02020603050405020304"/>
              <a:cs typeface="Times New Roman" panose="02020603050405020304"/>
            </a:endParaRPr>
          </a:p>
          <a:p>
            <a:pPr marL="1064260" marR="1055370" algn="ctr">
              <a:lnSpc>
                <a:spcPct val="179000"/>
              </a:lnSpc>
            </a:pPr>
            <a:r>
              <a:rPr sz="1400" dirty="0">
                <a:latin typeface="Times New Roman" panose="02020603050405020304"/>
                <a:cs typeface="Times New Roman" panose="02020603050405020304"/>
              </a:rPr>
              <a:t>Department</a:t>
            </a:r>
            <a:r>
              <a:rPr sz="1400" spc="-40"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50" dirty="0">
                <a:latin typeface="Times New Roman" panose="02020603050405020304"/>
                <a:cs typeface="Times New Roman" panose="02020603050405020304"/>
              </a:rPr>
              <a:t> </a:t>
            </a:r>
            <a:r>
              <a:rPr lang="en-US" altLang="en-US" sz="1400" spc="-50" dirty="0">
                <a:latin typeface="Times New Roman" panose="02020603050405020304"/>
                <a:cs typeface="Times New Roman" panose="02020603050405020304"/>
              </a:rPr>
              <a:t>Artificial Intelligence &amp; Machine Learning</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SRI</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SIVANI</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COLLEGE</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20" dirty="0">
                <a:latin typeface="Times New Roman" panose="02020603050405020304"/>
                <a:cs typeface="Times New Roman" panose="02020603050405020304"/>
              </a:rPr>
              <a:t> </a:t>
            </a:r>
            <a:r>
              <a:rPr sz="1400" spc="-10" dirty="0">
                <a:latin typeface="Times New Roman" panose="02020603050405020304"/>
                <a:cs typeface="Times New Roman" panose="02020603050405020304"/>
              </a:rPr>
              <a:t>ENGINEERING</a:t>
            </a:r>
            <a:endParaRPr sz="1400">
              <a:latin typeface="Times New Roman" panose="02020603050405020304"/>
              <a:cs typeface="Times New Roman" panose="02020603050405020304"/>
            </a:endParaRPr>
          </a:p>
          <a:p>
            <a:pPr>
              <a:lnSpc>
                <a:spcPct val="100000"/>
              </a:lnSpc>
              <a:spcBef>
                <a:spcPts val="1105"/>
              </a:spcBef>
            </a:pPr>
            <a:endParaRPr sz="1400">
              <a:latin typeface="Times New Roman" panose="02020603050405020304"/>
              <a:cs typeface="Times New Roman" panose="02020603050405020304"/>
            </a:endParaRPr>
          </a:p>
          <a:p>
            <a:pPr marR="1270" algn="ctr">
              <a:lnSpc>
                <a:spcPct val="100000"/>
              </a:lnSpc>
            </a:pPr>
            <a:r>
              <a:rPr sz="1400" dirty="0">
                <a:latin typeface="Times New Roman" panose="02020603050405020304"/>
                <a:cs typeface="Times New Roman" panose="02020603050405020304"/>
              </a:rPr>
              <a:t>(Under</a:t>
            </a:r>
            <a:r>
              <a:rPr sz="1400" spc="-30" dirty="0">
                <a:latin typeface="Times New Roman" panose="02020603050405020304"/>
                <a:cs typeface="Times New Roman" panose="02020603050405020304"/>
              </a:rPr>
              <a:t> </a:t>
            </a:r>
            <a:r>
              <a:rPr sz="1400" dirty="0">
                <a:latin typeface="Times New Roman" panose="02020603050405020304"/>
                <a:cs typeface="Times New Roman" panose="02020603050405020304"/>
              </a:rPr>
              <a:t>the</a:t>
            </a:r>
            <a:r>
              <a:rPr sz="1400" spc="-15" dirty="0">
                <a:latin typeface="Times New Roman" panose="02020603050405020304"/>
                <a:cs typeface="Times New Roman" panose="02020603050405020304"/>
              </a:rPr>
              <a:t> </a:t>
            </a:r>
            <a:r>
              <a:rPr sz="1400" spc="-10" dirty="0">
                <a:latin typeface="Times New Roman" panose="02020603050405020304"/>
                <a:cs typeface="Times New Roman" panose="02020603050405020304"/>
              </a:rPr>
              <a:t>Management</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of</a:t>
            </a:r>
            <a:r>
              <a:rPr sz="1400" spc="-50" dirty="0">
                <a:latin typeface="Times New Roman" panose="02020603050405020304"/>
                <a:cs typeface="Times New Roman" panose="02020603050405020304"/>
              </a:rPr>
              <a:t> </a:t>
            </a:r>
            <a:r>
              <a:rPr sz="1400" dirty="0">
                <a:latin typeface="Times New Roman" panose="02020603050405020304"/>
                <a:cs typeface="Times New Roman" panose="02020603050405020304"/>
              </a:rPr>
              <a:t>Sri</a:t>
            </a:r>
            <a:r>
              <a:rPr sz="1400" spc="-45" dirty="0">
                <a:latin typeface="Times New Roman" panose="02020603050405020304"/>
                <a:cs typeface="Times New Roman" panose="02020603050405020304"/>
              </a:rPr>
              <a:t> </a:t>
            </a:r>
            <a:r>
              <a:rPr sz="1400" dirty="0">
                <a:latin typeface="Times New Roman" panose="02020603050405020304"/>
                <a:cs typeface="Times New Roman" panose="02020603050405020304"/>
              </a:rPr>
              <a:t>Sivani</a:t>
            </a:r>
            <a:r>
              <a:rPr sz="1400" spc="-20" dirty="0">
                <a:latin typeface="Times New Roman" panose="02020603050405020304"/>
                <a:cs typeface="Times New Roman" panose="02020603050405020304"/>
              </a:rPr>
              <a:t> </a:t>
            </a:r>
            <a:r>
              <a:rPr sz="1400" dirty="0">
                <a:latin typeface="Times New Roman" panose="02020603050405020304"/>
                <a:cs typeface="Times New Roman" panose="02020603050405020304"/>
              </a:rPr>
              <a:t>Educational</a:t>
            </a:r>
            <a:r>
              <a:rPr sz="1400" spc="-45" dirty="0">
                <a:latin typeface="Times New Roman" panose="02020603050405020304"/>
                <a:cs typeface="Times New Roman" panose="02020603050405020304"/>
              </a:rPr>
              <a:t> </a:t>
            </a:r>
            <a:r>
              <a:rPr sz="1400" dirty="0">
                <a:latin typeface="Times New Roman" panose="02020603050405020304"/>
                <a:cs typeface="Times New Roman" panose="02020603050405020304"/>
              </a:rPr>
              <a:t>Society,</a:t>
            </a:r>
            <a:r>
              <a:rPr sz="1400" spc="-10" dirty="0">
                <a:latin typeface="Times New Roman" panose="02020603050405020304"/>
                <a:cs typeface="Times New Roman" panose="02020603050405020304"/>
              </a:rPr>
              <a:t> Srikakulam)</a:t>
            </a:r>
            <a:endParaRPr sz="1400">
              <a:latin typeface="Times New Roman" panose="02020603050405020304"/>
              <a:cs typeface="Times New Roman" panose="02020603050405020304"/>
            </a:endParaRPr>
          </a:p>
          <a:p>
            <a:pPr marL="12700" marR="5080" algn="ctr">
              <a:lnSpc>
                <a:spcPct val="96000"/>
              </a:lnSpc>
              <a:spcBef>
                <a:spcPts val="1415"/>
              </a:spcBef>
            </a:pPr>
            <a:r>
              <a:rPr sz="1400" dirty="0">
                <a:latin typeface="Times New Roman" panose="02020603050405020304"/>
                <a:cs typeface="Times New Roman" panose="02020603050405020304"/>
              </a:rPr>
              <a:t>(Approved</a:t>
            </a:r>
            <a:r>
              <a:rPr sz="1400" spc="-35" dirty="0">
                <a:latin typeface="Times New Roman" panose="02020603050405020304"/>
                <a:cs typeface="Times New Roman" panose="02020603050405020304"/>
              </a:rPr>
              <a:t> </a:t>
            </a:r>
            <a:r>
              <a:rPr sz="1400" dirty="0">
                <a:latin typeface="Times New Roman" panose="02020603050405020304"/>
                <a:cs typeface="Times New Roman" panose="02020603050405020304"/>
              </a:rPr>
              <a:t>by</a:t>
            </a:r>
            <a:r>
              <a:rPr sz="1400" spc="-50" dirty="0">
                <a:latin typeface="Times New Roman" panose="02020603050405020304"/>
                <a:cs typeface="Times New Roman" panose="02020603050405020304"/>
              </a:rPr>
              <a:t> </a:t>
            </a:r>
            <a:r>
              <a:rPr sz="1400" dirty="0">
                <a:latin typeface="Times New Roman" panose="02020603050405020304"/>
                <a:cs typeface="Times New Roman" panose="02020603050405020304"/>
              </a:rPr>
              <a:t>AICTE</a:t>
            </a:r>
            <a:r>
              <a:rPr sz="1400" spc="-40"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a:t>
            </a:r>
            <a:r>
              <a:rPr sz="1400" spc="-5" dirty="0">
                <a:latin typeface="Times New Roman" panose="02020603050405020304"/>
                <a:cs typeface="Times New Roman" panose="02020603050405020304"/>
              </a:rPr>
              <a:t> </a:t>
            </a:r>
            <a:r>
              <a:rPr sz="1400" dirty="0">
                <a:latin typeface="Times New Roman" panose="02020603050405020304"/>
                <a:cs typeface="Times New Roman" panose="02020603050405020304"/>
              </a:rPr>
              <a:t>Permanently</a:t>
            </a:r>
            <a:r>
              <a:rPr sz="1400" spc="-30" dirty="0">
                <a:latin typeface="Times New Roman" panose="02020603050405020304"/>
                <a:cs typeface="Times New Roman" panose="02020603050405020304"/>
              </a:rPr>
              <a:t> </a:t>
            </a:r>
            <a:r>
              <a:rPr sz="1400" dirty="0">
                <a:latin typeface="Times New Roman" panose="02020603050405020304"/>
                <a:cs typeface="Times New Roman" panose="02020603050405020304"/>
              </a:rPr>
              <a:t>Affiliated</a:t>
            </a:r>
            <a:r>
              <a:rPr sz="1400" spc="-35" dirty="0">
                <a:latin typeface="Times New Roman" panose="02020603050405020304"/>
                <a:cs typeface="Times New Roman" panose="02020603050405020304"/>
              </a:rPr>
              <a:t> </a:t>
            </a:r>
            <a:r>
              <a:rPr sz="1400" dirty="0">
                <a:latin typeface="Times New Roman" panose="02020603050405020304"/>
                <a:cs typeface="Times New Roman" panose="02020603050405020304"/>
              </a:rPr>
              <a:t>to</a:t>
            </a:r>
            <a:r>
              <a:rPr sz="1400" spc="-30" dirty="0">
                <a:latin typeface="Times New Roman" panose="02020603050405020304"/>
                <a:cs typeface="Times New Roman" panose="02020603050405020304"/>
              </a:rPr>
              <a:t> </a:t>
            </a:r>
            <a:r>
              <a:rPr sz="1400" dirty="0">
                <a:latin typeface="Times New Roman" panose="02020603050405020304"/>
                <a:cs typeface="Times New Roman" panose="02020603050405020304"/>
              </a:rPr>
              <a:t>JNTUGV,</a:t>
            </a:r>
            <a:r>
              <a:rPr sz="1400" spc="-15" dirty="0">
                <a:latin typeface="Times New Roman" panose="02020603050405020304"/>
                <a:cs typeface="Times New Roman" panose="02020603050405020304"/>
              </a:rPr>
              <a:t> </a:t>
            </a:r>
            <a:r>
              <a:rPr sz="1400" spc="-10" dirty="0">
                <a:latin typeface="Times New Roman" panose="02020603050405020304"/>
                <a:cs typeface="Times New Roman" panose="02020603050405020304"/>
              </a:rPr>
              <a:t>Vizianagaram, Accredited </a:t>
            </a:r>
            <a:r>
              <a:rPr sz="1400" dirty="0">
                <a:latin typeface="Times New Roman" panose="02020603050405020304"/>
                <a:cs typeface="Times New Roman" panose="02020603050405020304"/>
              </a:rPr>
              <a:t>by</a:t>
            </a:r>
            <a:r>
              <a:rPr sz="1400" spc="-25" dirty="0">
                <a:latin typeface="Times New Roman" panose="02020603050405020304"/>
                <a:cs typeface="Times New Roman" panose="02020603050405020304"/>
              </a:rPr>
              <a:t> </a:t>
            </a:r>
            <a:r>
              <a:rPr sz="1400" dirty="0">
                <a:latin typeface="Times New Roman" panose="02020603050405020304"/>
                <a:cs typeface="Times New Roman" panose="02020603050405020304"/>
              </a:rPr>
              <a:t>NAAC,</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UGC </a:t>
            </a:r>
            <a:r>
              <a:rPr sz="1400" spc="-10" dirty="0">
                <a:latin typeface="Times New Roman" panose="02020603050405020304"/>
                <a:cs typeface="Times New Roman" panose="02020603050405020304"/>
              </a:rPr>
              <a:t>Recognition</a:t>
            </a:r>
            <a:r>
              <a:rPr sz="1400" spc="-5" dirty="0">
                <a:latin typeface="Times New Roman" panose="02020603050405020304"/>
                <a:cs typeface="Times New Roman" panose="02020603050405020304"/>
              </a:rPr>
              <a:t> </a:t>
            </a:r>
            <a:r>
              <a:rPr sz="1400" dirty="0">
                <a:latin typeface="Times New Roman" panose="02020603050405020304"/>
                <a:cs typeface="Times New Roman" panose="02020603050405020304"/>
              </a:rPr>
              <a:t>under</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2(f)</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&amp;</a:t>
            </a:r>
            <a:r>
              <a:rPr sz="1400" spc="-5" dirty="0">
                <a:latin typeface="Times New Roman" panose="02020603050405020304"/>
                <a:cs typeface="Times New Roman" panose="02020603050405020304"/>
              </a:rPr>
              <a:t> </a:t>
            </a:r>
            <a:r>
              <a:rPr sz="1400" dirty="0">
                <a:latin typeface="Times New Roman" panose="02020603050405020304"/>
                <a:cs typeface="Times New Roman" panose="02020603050405020304"/>
              </a:rPr>
              <a:t>12(B))</a:t>
            </a:r>
            <a:r>
              <a:rPr sz="1400" spc="-10" dirty="0">
                <a:latin typeface="Times New Roman" panose="02020603050405020304"/>
                <a:cs typeface="Times New Roman" panose="02020603050405020304"/>
              </a:rPr>
              <a:t> </a:t>
            </a:r>
            <a:r>
              <a:rPr sz="1400" dirty="0">
                <a:latin typeface="Times New Roman" panose="02020603050405020304"/>
                <a:cs typeface="Times New Roman" panose="02020603050405020304"/>
              </a:rPr>
              <a:t>NH-</a:t>
            </a:r>
            <a:r>
              <a:rPr sz="1400" spc="-25" dirty="0">
                <a:latin typeface="Times New Roman" panose="02020603050405020304"/>
                <a:cs typeface="Times New Roman" panose="02020603050405020304"/>
              </a:rPr>
              <a:t>16, </a:t>
            </a:r>
            <a:r>
              <a:rPr sz="1400" spc="-10" dirty="0">
                <a:latin typeface="Times New Roman" panose="02020603050405020304"/>
                <a:cs typeface="Times New Roman" panose="02020603050405020304"/>
              </a:rPr>
              <a:t>Chilakapalem</a:t>
            </a:r>
            <a:r>
              <a:rPr sz="1400" spc="-70" dirty="0">
                <a:latin typeface="Times New Roman" panose="02020603050405020304"/>
                <a:cs typeface="Times New Roman" panose="02020603050405020304"/>
              </a:rPr>
              <a:t> </a:t>
            </a:r>
            <a:r>
              <a:rPr sz="1400" dirty="0">
                <a:latin typeface="Times New Roman" panose="02020603050405020304"/>
                <a:cs typeface="Times New Roman" panose="02020603050405020304"/>
              </a:rPr>
              <a:t>Jn., Srikakulam</a:t>
            </a:r>
            <a:r>
              <a:rPr sz="1400" spc="-45" dirty="0">
                <a:latin typeface="Times New Roman" panose="02020603050405020304"/>
                <a:cs typeface="Times New Roman" panose="02020603050405020304"/>
              </a:rPr>
              <a:t> </a:t>
            </a:r>
            <a:r>
              <a:rPr sz="1400" dirty="0">
                <a:latin typeface="Times New Roman" panose="02020603050405020304"/>
                <a:cs typeface="Times New Roman" panose="02020603050405020304"/>
              </a:rPr>
              <a:t>Dist.,</a:t>
            </a:r>
            <a:r>
              <a:rPr sz="1400" spc="-5" dirty="0">
                <a:latin typeface="Times New Roman" panose="02020603050405020304"/>
                <a:cs typeface="Times New Roman" panose="02020603050405020304"/>
              </a:rPr>
              <a:t> </a:t>
            </a:r>
            <a:r>
              <a:rPr sz="1400" dirty="0">
                <a:latin typeface="Times New Roman" panose="02020603050405020304"/>
                <a:cs typeface="Times New Roman" panose="02020603050405020304"/>
              </a:rPr>
              <a:t>Andhra</a:t>
            </a:r>
            <a:r>
              <a:rPr sz="1400" spc="-15" dirty="0">
                <a:latin typeface="Times New Roman" panose="02020603050405020304"/>
                <a:cs typeface="Times New Roman" panose="02020603050405020304"/>
              </a:rPr>
              <a:t> </a:t>
            </a:r>
            <a:r>
              <a:rPr sz="1400" dirty="0">
                <a:latin typeface="Times New Roman" panose="02020603050405020304"/>
                <a:cs typeface="Times New Roman" panose="02020603050405020304"/>
              </a:rPr>
              <a:t>Pradesh</a:t>
            </a:r>
            <a:r>
              <a:rPr sz="1400" spc="5" dirty="0">
                <a:latin typeface="Times New Roman" panose="02020603050405020304"/>
                <a:cs typeface="Times New Roman" panose="02020603050405020304"/>
              </a:rPr>
              <a:t> </a:t>
            </a:r>
            <a:r>
              <a:rPr sz="1400" spc="-10" dirty="0">
                <a:latin typeface="Times New Roman" panose="02020603050405020304"/>
                <a:cs typeface="Times New Roman" panose="02020603050405020304"/>
              </a:rPr>
              <a:t>-532410</a:t>
            </a:r>
            <a:endParaRPr sz="1400">
              <a:latin typeface="Times New Roman" panose="02020603050405020304"/>
              <a:cs typeface="Times New Roman" panose="02020603050405020304"/>
            </a:endParaRPr>
          </a:p>
        </p:txBody>
      </p:sp>
      <p:pic>
        <p:nvPicPr>
          <p:cNvPr id="5" name="object 5"/>
          <p:cNvPicPr/>
          <p:nvPr/>
        </p:nvPicPr>
        <p:blipFill>
          <a:blip r:embed="rId1" cstate="print"/>
          <a:stretch>
            <a:fillRect/>
          </a:stretch>
        </p:blipFill>
        <p:spPr>
          <a:xfrm>
            <a:off x="1116964" y="635000"/>
            <a:ext cx="5645150" cy="656590"/>
          </a:xfrm>
          <a:prstGeom prst="rect">
            <a:avLst/>
          </a:prstGeom>
        </p:spPr>
      </p:pic>
      <p:sp>
        <p:nvSpPr>
          <p:cNvPr id="7" name="Slide Number Placeholder 6"/>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59815" y="1823085"/>
            <a:ext cx="5814060" cy="1413510"/>
          </a:xfrm>
          <a:prstGeom prst="rect">
            <a:avLst/>
          </a:prstGeom>
        </p:spPr>
        <p:txBody>
          <a:bodyPr vert="horz" wrap="square" lIns="0" tIns="12700" rIns="0" bIns="0" rtlCol="0">
            <a:noAutofit/>
          </a:bodyPr>
          <a:lstStyle/>
          <a:p>
            <a:pPr marR="4445" algn="ctr">
              <a:lnSpc>
                <a:spcPct val="100000"/>
              </a:lnSpc>
              <a:spcBef>
                <a:spcPts val="100"/>
              </a:spcBef>
            </a:pPr>
            <a:r>
              <a:rPr sz="1200" b="1" spc="-10" dirty="0">
                <a:latin typeface="Times New Roman" panose="02020603050405020304"/>
                <a:cs typeface="Times New Roman" panose="02020603050405020304"/>
              </a:rPr>
              <a:t>Department</a:t>
            </a:r>
            <a:r>
              <a:rPr sz="1200" b="1" spc="-4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of</a:t>
            </a:r>
            <a:r>
              <a:rPr sz="1200" b="1" spc="-7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Computer</a:t>
            </a:r>
            <a:r>
              <a:rPr sz="1200" b="1" spc="-3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Science</a:t>
            </a:r>
            <a:r>
              <a:rPr sz="1200" b="1" spc="-1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&amp; </a:t>
            </a:r>
            <a:r>
              <a:rPr sz="1200" b="1" spc="-10" dirty="0">
                <a:latin typeface="Times New Roman" panose="02020603050405020304"/>
                <a:cs typeface="Times New Roman" panose="02020603050405020304"/>
              </a:rPr>
              <a:t>Engineering</a:t>
            </a:r>
            <a:endParaRPr sz="1200">
              <a:latin typeface="Times New Roman" panose="02020603050405020304"/>
              <a:cs typeface="Times New Roman" panose="02020603050405020304"/>
            </a:endParaRPr>
          </a:p>
          <a:p>
            <a:pPr>
              <a:lnSpc>
                <a:spcPct val="100000"/>
              </a:lnSpc>
            </a:pPr>
            <a:endParaRPr sz="1200">
              <a:latin typeface="Times New Roman" panose="02020603050405020304"/>
              <a:cs typeface="Times New Roman" panose="02020603050405020304"/>
            </a:endParaRPr>
          </a:p>
          <a:p>
            <a:pPr>
              <a:lnSpc>
                <a:spcPct val="100000"/>
              </a:lnSpc>
              <a:spcBef>
                <a:spcPts val="365"/>
              </a:spcBef>
            </a:pPr>
            <a:endParaRPr sz="1200">
              <a:latin typeface="Times New Roman" panose="02020603050405020304"/>
              <a:cs typeface="Times New Roman" panose="02020603050405020304"/>
            </a:endParaRPr>
          </a:p>
          <a:p>
            <a:pPr algn="ctr">
              <a:lnSpc>
                <a:spcPct val="100000"/>
              </a:lnSpc>
            </a:pPr>
            <a:r>
              <a:rPr sz="1600" b="1" u="sng" spc="-10" dirty="0">
                <a:uFill>
                  <a:solidFill>
                    <a:srgbClr val="000000"/>
                  </a:solidFill>
                </a:uFill>
                <a:latin typeface="Times New Roman" panose="02020603050405020304"/>
                <a:cs typeface="Times New Roman" panose="02020603050405020304"/>
              </a:rPr>
              <a:t>CERTIFICATE</a:t>
            </a:r>
            <a:endParaRPr sz="1600">
              <a:latin typeface="Times New Roman" panose="02020603050405020304"/>
              <a:cs typeface="Times New Roman" panose="02020603050405020304"/>
            </a:endParaRPr>
          </a:p>
          <a:p>
            <a:pPr marL="12065" marR="5080" indent="-635" algn="dist">
              <a:lnSpc>
                <a:spcPct val="144000"/>
              </a:lnSpc>
              <a:spcBef>
                <a:spcPts val="55"/>
              </a:spcBef>
            </a:pPr>
            <a:r>
              <a:rPr sz="1200" dirty="0">
                <a:latin typeface="Times New Roman" panose="02020603050405020304"/>
                <a:cs typeface="Times New Roman" panose="02020603050405020304"/>
              </a:rPr>
              <a:t>This</a:t>
            </a:r>
            <a:r>
              <a:rPr sz="1200" spc="455" dirty="0">
                <a:latin typeface="Times New Roman" panose="02020603050405020304"/>
                <a:cs typeface="Times New Roman" panose="02020603050405020304"/>
              </a:rPr>
              <a:t> </a:t>
            </a:r>
            <a:r>
              <a:rPr sz="1200" dirty="0">
                <a:latin typeface="Times New Roman" panose="02020603050405020304"/>
                <a:cs typeface="Times New Roman" panose="02020603050405020304"/>
              </a:rPr>
              <a:t>is</a:t>
            </a:r>
            <a:r>
              <a:rPr sz="1200" spc="43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470" dirty="0">
                <a:latin typeface="Times New Roman" panose="02020603050405020304"/>
                <a:cs typeface="Times New Roman" panose="02020603050405020304"/>
              </a:rPr>
              <a:t> </a:t>
            </a:r>
            <a:r>
              <a:rPr sz="1200" dirty="0">
                <a:latin typeface="Times New Roman" panose="02020603050405020304"/>
                <a:cs typeface="Times New Roman" panose="02020603050405020304"/>
              </a:rPr>
              <a:t>certify</a:t>
            </a:r>
            <a:r>
              <a:rPr sz="1200" spc="40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that</a:t>
            </a:r>
            <a:r>
              <a:rPr sz="1200" spc="445"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440" dirty="0">
                <a:latin typeface="Times New Roman" panose="02020603050405020304"/>
                <a:cs typeface="Times New Roman" panose="02020603050405020304"/>
              </a:rPr>
              <a:t> </a:t>
            </a:r>
            <a:r>
              <a:rPr sz="1200" dirty="0">
                <a:latin typeface="Times New Roman" panose="02020603050405020304"/>
                <a:cs typeface="Times New Roman" panose="02020603050405020304"/>
              </a:rPr>
              <a:t>main</a:t>
            </a:r>
            <a:r>
              <a:rPr sz="1200" spc="425" dirty="0">
                <a:latin typeface="Times New Roman" panose="02020603050405020304"/>
                <a:cs typeface="Times New Roman" panose="02020603050405020304"/>
              </a:rPr>
              <a:t> </a:t>
            </a:r>
            <a:r>
              <a:rPr sz="1200" dirty="0">
                <a:latin typeface="Times New Roman" panose="02020603050405020304"/>
                <a:cs typeface="Times New Roman" panose="02020603050405020304"/>
              </a:rPr>
              <a:t>project</a:t>
            </a:r>
            <a:r>
              <a:rPr sz="1200" spc="445" dirty="0">
                <a:latin typeface="Times New Roman" panose="02020603050405020304"/>
                <a:cs typeface="Times New Roman" panose="02020603050405020304"/>
              </a:rPr>
              <a:t> </a:t>
            </a:r>
            <a:r>
              <a:rPr sz="1200" dirty="0">
                <a:latin typeface="Times New Roman" panose="02020603050405020304"/>
                <a:cs typeface="Times New Roman" panose="02020603050405020304"/>
              </a:rPr>
              <a:t>report</a:t>
            </a:r>
            <a:r>
              <a:rPr sz="1200" spc="445" dirty="0">
                <a:latin typeface="Times New Roman" panose="02020603050405020304"/>
                <a:cs typeface="Times New Roman" panose="02020603050405020304"/>
              </a:rPr>
              <a:t> </a:t>
            </a:r>
            <a:r>
              <a:rPr sz="1200" dirty="0">
                <a:latin typeface="Times New Roman" panose="02020603050405020304"/>
                <a:cs typeface="Times New Roman" panose="02020603050405020304"/>
              </a:rPr>
              <a:t>entitled</a:t>
            </a:r>
            <a:r>
              <a:rPr sz="1200" spc="450"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a:t>
            </a:r>
            <a:r>
              <a:rPr lang="en-US" altLang="en-US" sz="1200" b="1" dirty="0">
                <a:latin typeface="Times New Roman" panose="02020603050405020304"/>
                <a:cs typeface="Times New Roman" panose="02020603050405020304"/>
                <a:sym typeface="+mn-ea"/>
              </a:rPr>
              <a:t>Heart Stroke Risk Prediction System With Clinical Safety and Action Plans</a:t>
            </a:r>
            <a:r>
              <a:rPr lang="en-US" altLang="en-US" sz="1200" dirty="0">
                <a:latin typeface="Times New Roman" panose="02020603050405020304"/>
                <a:cs typeface="Times New Roman" panose="02020603050405020304"/>
                <a:sym typeface="+mn-ea"/>
              </a:rPr>
              <a:t> </a:t>
            </a:r>
            <a:r>
              <a:rPr sz="1200" dirty="0">
                <a:latin typeface="Times New Roman" panose="02020603050405020304"/>
                <a:cs typeface="Times New Roman" panose="02020603050405020304"/>
              </a:rPr>
              <a:t>”</a:t>
            </a:r>
            <a:r>
              <a:rPr sz="1200" spc="65" dirty="0">
                <a:latin typeface="Times New Roman" panose="02020603050405020304"/>
                <a:cs typeface="Times New Roman" panose="02020603050405020304"/>
              </a:rPr>
              <a:t> </a:t>
            </a:r>
            <a:r>
              <a:rPr sz="1200" dirty="0">
                <a:latin typeface="Times New Roman" panose="02020603050405020304"/>
                <a:cs typeface="Times New Roman" panose="02020603050405020304"/>
              </a:rPr>
              <a:t>submitted</a:t>
            </a:r>
            <a:r>
              <a:rPr sz="1200" spc="65" dirty="0">
                <a:latin typeface="Times New Roman" panose="02020603050405020304"/>
                <a:cs typeface="Times New Roman" panose="02020603050405020304"/>
              </a:rPr>
              <a:t> </a:t>
            </a:r>
            <a:r>
              <a:rPr sz="1200" dirty="0">
                <a:latin typeface="Times New Roman" panose="02020603050405020304"/>
                <a:cs typeface="Times New Roman" panose="02020603050405020304"/>
              </a:rPr>
              <a:t>by</a:t>
            </a:r>
            <a:r>
              <a:rPr sz="1200" spc="30" dirty="0">
                <a:latin typeface="Times New Roman" panose="02020603050405020304"/>
                <a:cs typeface="Times New Roman" panose="02020603050405020304"/>
              </a:rPr>
              <a:t> </a:t>
            </a:r>
            <a:r>
              <a:rPr lang="en-US" altLang="en-US" sz="1200" b="1" spc="30" dirty="0">
                <a:latin typeface="Times New Roman" panose="02020603050405020304"/>
                <a:cs typeface="Times New Roman" panose="02020603050405020304"/>
              </a:rPr>
              <a:t>B.Rajasekhar</a:t>
            </a:r>
            <a:endParaRPr lang="en-US" altLang="en-US" sz="1200" b="1" spc="30" dirty="0">
              <a:latin typeface="Times New Roman" panose="02020603050405020304"/>
              <a:cs typeface="Times New Roman" panose="02020603050405020304"/>
            </a:endParaRPr>
          </a:p>
        </p:txBody>
      </p:sp>
      <p:sp>
        <p:nvSpPr>
          <p:cNvPr id="3" name="object 3"/>
          <p:cNvSpPr txBox="1"/>
          <p:nvPr/>
        </p:nvSpPr>
        <p:spPr>
          <a:xfrm>
            <a:off x="992505" y="3157220"/>
            <a:ext cx="2114550" cy="815340"/>
          </a:xfrm>
          <a:prstGeom prst="rect">
            <a:avLst/>
          </a:prstGeom>
        </p:spPr>
        <p:txBody>
          <a:bodyPr vert="horz" wrap="square" lIns="0" tIns="12700" rIns="0" bIns="0" rtlCol="0">
            <a:noAutofit/>
          </a:bodyPr>
          <a:lstStyle/>
          <a:p>
            <a:pPr marL="12700" marR="5080">
              <a:lnSpc>
                <a:spcPct val="145000"/>
              </a:lnSpc>
              <a:spcBef>
                <a:spcPts val="100"/>
              </a:spcBef>
            </a:pPr>
            <a:r>
              <a:rPr sz="1200" b="1" spc="-20" dirty="0">
                <a:latin typeface="Times New Roman" panose="02020603050405020304"/>
                <a:cs typeface="Times New Roman" panose="02020603050405020304"/>
              </a:rPr>
              <a:t>(</a:t>
            </a:r>
            <a:r>
              <a:rPr sz="1300" b="1" spc="-20" dirty="0">
                <a:latin typeface="Times New Roman" panose="02020603050405020304"/>
                <a:cs typeface="Times New Roman" panose="02020603050405020304"/>
              </a:rPr>
              <a:t>22</a:t>
            </a:r>
            <a:r>
              <a:rPr lang="en-US" altLang="en-US" sz="1300" b="1" spc="-20" dirty="0">
                <a:latin typeface="Times New Roman" panose="02020603050405020304"/>
                <a:cs typeface="Times New Roman" panose="02020603050405020304"/>
              </a:rPr>
              <a:t>W61A6105</a:t>
            </a:r>
            <a:r>
              <a:rPr sz="1200" b="1" spc="-20" dirty="0">
                <a:latin typeface="Times New Roman" panose="02020603050405020304"/>
                <a:cs typeface="Times New Roman" panose="02020603050405020304"/>
              </a:rPr>
              <a:t>),</a:t>
            </a:r>
            <a:endParaRPr sz="1200" b="1" spc="-20" dirty="0">
              <a:latin typeface="Times New Roman" panose="02020603050405020304"/>
              <a:cs typeface="Times New Roman" panose="02020603050405020304"/>
            </a:endParaRPr>
          </a:p>
          <a:p>
            <a:pPr marL="12700" marR="5080">
              <a:lnSpc>
                <a:spcPct val="145000"/>
              </a:lnSpc>
              <a:spcBef>
                <a:spcPts val="100"/>
              </a:spcBef>
            </a:pPr>
            <a:r>
              <a:rPr lang="en-US" altLang="en-US" sz="1200" b="1">
                <a:latin typeface="Times New Roman" panose="02020603050405020304"/>
                <a:cs typeface="Times New Roman" panose="02020603050405020304"/>
              </a:rPr>
              <a:t>CH. Santhosh </a:t>
            </a:r>
            <a:r>
              <a:rPr lang="en-US" altLang="en-US" sz="1200" b="1">
                <a:latin typeface="Times New Roman" panose="02020603050405020304"/>
                <a:cs typeface="Times New Roman" panose="02020603050405020304"/>
                <a:sym typeface="+mn-ea"/>
              </a:rPr>
              <a:t>(22W61A6109)</a:t>
            </a:r>
            <a:endParaRPr lang="en-US" altLang="en-US" sz="1200" b="1">
              <a:latin typeface="Times New Roman" panose="02020603050405020304"/>
              <a:cs typeface="Times New Roman" panose="02020603050405020304"/>
            </a:endParaRPr>
          </a:p>
        </p:txBody>
      </p:sp>
      <p:sp>
        <p:nvSpPr>
          <p:cNvPr id="4" name="object 4"/>
          <p:cNvSpPr txBox="1"/>
          <p:nvPr/>
        </p:nvSpPr>
        <p:spPr>
          <a:xfrm>
            <a:off x="2222500" y="3144520"/>
            <a:ext cx="1442085" cy="310515"/>
          </a:xfrm>
          <a:prstGeom prst="rect">
            <a:avLst/>
          </a:prstGeom>
        </p:spPr>
        <p:txBody>
          <a:bodyPr vert="horz" wrap="square" lIns="0" tIns="116205" rIns="0" bIns="0" rtlCol="0">
            <a:noAutofit/>
          </a:bodyPr>
          <a:lstStyle/>
          <a:p>
            <a:pPr marL="12700">
              <a:lnSpc>
                <a:spcPct val="100000"/>
              </a:lnSpc>
              <a:spcBef>
                <a:spcPts val="915"/>
              </a:spcBef>
              <a:tabLst>
                <a:tab pos="344805" algn="l"/>
              </a:tabLst>
            </a:pPr>
            <a:r>
              <a:rPr lang="en-US" altLang="en-US" sz="1200" b="1">
                <a:latin typeface="Times New Roman" panose="02020603050405020304"/>
                <a:cs typeface="Times New Roman" panose="02020603050405020304"/>
              </a:rPr>
              <a:t>A. Durga Prasad </a:t>
            </a:r>
            <a:endParaRPr lang="en-US" altLang="en-US" sz="1200" b="1">
              <a:latin typeface="Times New Roman" panose="02020603050405020304"/>
              <a:cs typeface="Times New Roman" panose="02020603050405020304"/>
            </a:endParaRPr>
          </a:p>
          <a:p>
            <a:pPr marL="12700">
              <a:lnSpc>
                <a:spcPct val="100000"/>
              </a:lnSpc>
              <a:spcBef>
                <a:spcPts val="915"/>
              </a:spcBef>
              <a:tabLst>
                <a:tab pos="344805" algn="l"/>
              </a:tabLst>
            </a:pPr>
            <a:endParaRPr sz="1200">
              <a:latin typeface="Times New Roman" panose="02020603050405020304"/>
              <a:cs typeface="Times New Roman" panose="02020603050405020304"/>
            </a:endParaRPr>
          </a:p>
        </p:txBody>
      </p:sp>
      <p:sp>
        <p:nvSpPr>
          <p:cNvPr id="5" name="object 5"/>
          <p:cNvSpPr txBox="1"/>
          <p:nvPr/>
        </p:nvSpPr>
        <p:spPr>
          <a:xfrm>
            <a:off x="3538855" y="3231515"/>
            <a:ext cx="3340100" cy="394970"/>
          </a:xfrm>
          <a:prstGeom prst="rect">
            <a:avLst/>
          </a:prstGeom>
        </p:spPr>
        <p:txBody>
          <a:bodyPr vert="horz" wrap="square" lIns="0" tIns="12065" rIns="0" bIns="0" rtlCol="0">
            <a:noAutofit/>
          </a:bodyPr>
          <a:lstStyle/>
          <a:p>
            <a:pPr marL="12700">
              <a:lnSpc>
                <a:spcPct val="100000"/>
              </a:lnSpc>
              <a:spcBef>
                <a:spcPts val="95"/>
              </a:spcBef>
              <a:tabLst>
                <a:tab pos="659130" algn="l"/>
                <a:tab pos="1800225" algn="l"/>
                <a:tab pos="2214245" algn="l"/>
                <a:tab pos="2729230" algn="l"/>
              </a:tabLst>
            </a:pPr>
            <a:r>
              <a:rPr sz="1200" b="1" spc="-10" dirty="0">
                <a:latin typeface="Times New Roman" panose="02020603050405020304"/>
                <a:cs typeface="Times New Roman" panose="02020603050405020304"/>
              </a:rPr>
              <a:t>(</a:t>
            </a:r>
            <a:r>
              <a:rPr sz="1300" b="1" spc="-10" dirty="0">
                <a:latin typeface="Times New Roman" panose="02020603050405020304"/>
                <a:cs typeface="Times New Roman" panose="02020603050405020304"/>
              </a:rPr>
              <a:t>22</a:t>
            </a:r>
            <a:r>
              <a:rPr lang="en-US" altLang="en-US" sz="1300" b="1" spc="-10" dirty="0">
                <a:latin typeface="Times New Roman" panose="02020603050405020304"/>
                <a:cs typeface="Times New Roman" panose="02020603050405020304"/>
              </a:rPr>
              <a:t>W61A6102)</a:t>
            </a:r>
            <a:r>
              <a:rPr sz="1200" b="1" spc="-10" dirty="0">
                <a:latin typeface="Times New Roman" panose="02020603050405020304"/>
                <a:cs typeface="Times New Roman" panose="02020603050405020304"/>
              </a:rPr>
              <a:t>,</a:t>
            </a:r>
            <a:r>
              <a:rPr lang="en-US" altLang="en-US" sz="1200" b="1" spc="-10" dirty="0">
                <a:latin typeface="Times New Roman" panose="02020603050405020304"/>
                <a:cs typeface="Times New Roman" panose="02020603050405020304"/>
              </a:rPr>
              <a:t>  B. Tejaswani (22W61A6107),</a:t>
            </a:r>
            <a:endParaRPr lang="en-US" altLang="en-US" sz="1200" b="1" spc="-10" dirty="0">
              <a:latin typeface="Times New Roman" panose="02020603050405020304"/>
              <a:cs typeface="Times New Roman" panose="02020603050405020304"/>
            </a:endParaRPr>
          </a:p>
        </p:txBody>
      </p:sp>
      <p:sp>
        <p:nvSpPr>
          <p:cNvPr id="6" name="object 6"/>
          <p:cNvSpPr txBox="1"/>
          <p:nvPr/>
        </p:nvSpPr>
        <p:spPr>
          <a:xfrm>
            <a:off x="2974340" y="3507740"/>
            <a:ext cx="3902075" cy="416560"/>
          </a:xfrm>
          <a:prstGeom prst="rect">
            <a:avLst/>
          </a:prstGeom>
        </p:spPr>
        <p:txBody>
          <a:bodyPr vert="horz" wrap="square" lIns="0" tIns="12065" rIns="0" bIns="0" rtlCol="0">
            <a:noAutofit/>
          </a:bodyPr>
          <a:lstStyle/>
          <a:p>
            <a:pPr marL="12700">
              <a:lnSpc>
                <a:spcPct val="100000"/>
              </a:lnSpc>
              <a:spcBef>
                <a:spcPts val="95"/>
              </a:spcBef>
              <a:tabLst>
                <a:tab pos="781685" algn="l"/>
                <a:tab pos="1955800" algn="l"/>
                <a:tab pos="2278380" algn="l"/>
                <a:tab pos="2908935" algn="l"/>
              </a:tabLst>
            </a:pPr>
            <a:r>
              <a:rPr lang="en-US" altLang="en-US" sz="1200" b="1">
                <a:latin typeface="Times New Roman" panose="02020603050405020304"/>
                <a:cs typeface="Times New Roman" panose="02020603050405020304"/>
              </a:rPr>
              <a:t>, T. Gnana Deepthi (22W61A6143)</a:t>
            </a:r>
            <a:endParaRPr lang="en-US" altLang="en-US" sz="1200" b="1">
              <a:latin typeface="Times New Roman" panose="02020603050405020304"/>
              <a:cs typeface="Times New Roman" panose="02020603050405020304"/>
            </a:endParaRPr>
          </a:p>
        </p:txBody>
      </p:sp>
      <p:sp>
        <p:nvSpPr>
          <p:cNvPr id="7" name="object 7"/>
          <p:cNvSpPr txBox="1"/>
          <p:nvPr/>
        </p:nvSpPr>
        <p:spPr>
          <a:xfrm>
            <a:off x="992505" y="3435350"/>
            <a:ext cx="5882640" cy="1792605"/>
          </a:xfrm>
          <a:prstGeom prst="rect">
            <a:avLst/>
          </a:prstGeom>
        </p:spPr>
        <p:txBody>
          <a:bodyPr vert="horz" wrap="square" lIns="0" tIns="15240" rIns="0" bIns="0" rtlCol="0">
            <a:noAutofit/>
          </a:bodyPr>
          <a:lstStyle/>
          <a:p>
            <a:pPr marL="12700" marR="5080" algn="just">
              <a:lnSpc>
                <a:spcPct val="143000"/>
              </a:lnSpc>
              <a:spcBef>
                <a:spcPts val="120"/>
              </a:spcBef>
            </a:pPr>
            <a:r>
              <a:rPr lang="en-US" altLang="en-US" sz="120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65" dirty="0">
                <a:latin typeface="Times New Roman" panose="02020603050405020304"/>
                <a:cs typeface="Times New Roman" panose="02020603050405020304"/>
              </a:rPr>
              <a:t> </a:t>
            </a:r>
            <a:r>
              <a:rPr sz="1200" dirty="0">
                <a:latin typeface="Times New Roman" panose="02020603050405020304"/>
                <a:cs typeface="Times New Roman" panose="02020603050405020304"/>
              </a:rPr>
              <a:t>partial</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fulfillment</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for</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award </a:t>
            </a:r>
            <a:r>
              <a:rPr sz="1200" spc="-25" dirty="0">
                <a:latin typeface="Times New Roman" panose="02020603050405020304"/>
                <a:cs typeface="Times New Roman" panose="02020603050405020304"/>
              </a:rPr>
              <a:t>of </a:t>
            </a:r>
            <a:r>
              <a:rPr sz="1200" dirty="0">
                <a:latin typeface="Times New Roman" panose="02020603050405020304"/>
                <a:cs typeface="Times New Roman" panose="02020603050405020304"/>
              </a:rPr>
              <a:t>B.Tech</a:t>
            </a:r>
            <a:r>
              <a:rPr sz="1200" spc="105" dirty="0">
                <a:latin typeface="Times New Roman" panose="02020603050405020304"/>
                <a:cs typeface="Times New Roman" panose="02020603050405020304"/>
              </a:rPr>
              <a:t> </a:t>
            </a:r>
            <a:r>
              <a:rPr sz="1200" dirty="0">
                <a:latin typeface="Times New Roman" panose="02020603050405020304"/>
                <a:cs typeface="Times New Roman" panose="02020603050405020304"/>
              </a:rPr>
              <a:t>Degree</a:t>
            </a:r>
            <a:r>
              <a:rPr sz="1200" spc="150"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1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25" dirty="0">
                <a:latin typeface="Times New Roman" panose="02020603050405020304"/>
                <a:cs typeface="Times New Roman" panose="02020603050405020304"/>
              </a:rPr>
              <a:t> </a:t>
            </a:r>
            <a:r>
              <a:rPr sz="1200" dirty="0">
                <a:latin typeface="Times New Roman" panose="02020603050405020304"/>
                <a:cs typeface="Times New Roman" panose="02020603050405020304"/>
              </a:rPr>
              <a:t>discipline</a:t>
            </a:r>
            <a:r>
              <a:rPr sz="1200" spc="13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1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t>
            </a:r>
            <a:r>
              <a:rPr lang="en-US" altLang="en-US" sz="1200" b="1">
                <a:latin typeface="Times New Roman" panose="02020603050405020304"/>
                <a:cs typeface="Times New Roman" panose="02020603050405020304"/>
                <a:sym typeface="+mn-ea"/>
              </a:rPr>
              <a:t>Artificial Intelligence &amp; Machine Learning</a:t>
            </a:r>
            <a:r>
              <a:rPr sz="1200" dirty="0">
                <a:latin typeface="Times New Roman" panose="02020603050405020304"/>
                <a:cs typeface="Times New Roman" panose="02020603050405020304"/>
              </a:rPr>
              <a:t>”</a:t>
            </a:r>
            <a:r>
              <a:rPr sz="1200" spc="13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a:t>
            </a:r>
            <a:r>
              <a:rPr sz="1200" spc="11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2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Jawaharlal </a:t>
            </a:r>
            <a:r>
              <a:rPr sz="1200" dirty="0">
                <a:latin typeface="Times New Roman" panose="02020603050405020304"/>
                <a:cs typeface="Times New Roman" panose="02020603050405020304"/>
              </a:rPr>
              <a:t>Nehru</a:t>
            </a:r>
            <a:r>
              <a:rPr sz="1200" spc="-10" dirty="0">
                <a:latin typeface="Times New Roman" panose="02020603050405020304"/>
                <a:cs typeface="Times New Roman" panose="02020603050405020304"/>
              </a:rPr>
              <a:t> Technological</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University,</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Gurajada</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Vizianagaram</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is a</a:t>
            </a:r>
            <a:r>
              <a:rPr sz="1200" spc="-10" dirty="0">
                <a:latin typeface="Times New Roman" panose="02020603050405020304"/>
                <a:cs typeface="Times New Roman" panose="02020603050405020304"/>
              </a:rPr>
              <a:t> </a:t>
            </a:r>
            <a:r>
              <a:rPr sz="1200" dirty="0">
                <a:latin typeface="Times New Roman" panose="02020603050405020304"/>
                <a:cs typeface="Times New Roman" panose="02020603050405020304"/>
              </a:rPr>
              <a:t>record</a:t>
            </a:r>
            <a:r>
              <a:rPr sz="1200" spc="-30"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Bonafide</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work</a:t>
            </a:r>
            <a:r>
              <a:rPr sz="1200" spc="-10" dirty="0">
                <a:latin typeface="Times New Roman" panose="02020603050405020304"/>
                <a:cs typeface="Times New Roman" panose="02020603050405020304"/>
              </a:rPr>
              <a:t> carried </a:t>
            </a:r>
            <a:r>
              <a:rPr sz="1200" dirty="0">
                <a:latin typeface="Times New Roman" panose="02020603050405020304"/>
                <a:cs typeface="Times New Roman" panose="02020603050405020304"/>
              </a:rPr>
              <a:t>out</a:t>
            </a:r>
            <a:r>
              <a:rPr sz="1200" spc="140" dirty="0">
                <a:latin typeface="Times New Roman" panose="02020603050405020304"/>
                <a:cs typeface="Times New Roman" panose="02020603050405020304"/>
              </a:rPr>
              <a:t> </a:t>
            </a:r>
            <a:r>
              <a:rPr sz="1200" dirty="0">
                <a:latin typeface="Times New Roman" panose="02020603050405020304"/>
                <a:cs typeface="Times New Roman" panose="02020603050405020304"/>
              </a:rPr>
              <a:t>under</a:t>
            </a:r>
            <a:r>
              <a:rPr sz="1200" spc="105" dirty="0">
                <a:latin typeface="Times New Roman" panose="02020603050405020304"/>
                <a:cs typeface="Times New Roman" panose="02020603050405020304"/>
              </a:rPr>
              <a:t> </a:t>
            </a:r>
            <a:r>
              <a:rPr sz="1200" dirty="0">
                <a:latin typeface="Times New Roman" panose="02020603050405020304"/>
                <a:cs typeface="Times New Roman" panose="02020603050405020304"/>
              </a:rPr>
              <a:t>our</a:t>
            </a:r>
            <a:r>
              <a:rPr sz="1200" spc="125" dirty="0">
                <a:latin typeface="Times New Roman" panose="02020603050405020304"/>
                <a:cs typeface="Times New Roman" panose="02020603050405020304"/>
              </a:rPr>
              <a:t> </a:t>
            </a:r>
            <a:r>
              <a:rPr sz="1200" dirty="0">
                <a:latin typeface="Times New Roman" panose="02020603050405020304"/>
                <a:cs typeface="Times New Roman" panose="02020603050405020304"/>
              </a:rPr>
              <a:t>guidance</a:t>
            </a:r>
            <a:r>
              <a:rPr sz="1200" spc="114" dirty="0">
                <a:latin typeface="Times New Roman" panose="02020603050405020304"/>
                <a:cs typeface="Times New Roman" panose="02020603050405020304"/>
              </a:rPr>
              <a:t> </a:t>
            </a:r>
            <a:r>
              <a:rPr sz="1200" dirty="0">
                <a:latin typeface="Times New Roman" panose="02020603050405020304"/>
                <a:cs typeface="Times New Roman" panose="02020603050405020304"/>
              </a:rPr>
              <a:t>and</a:t>
            </a:r>
            <a:r>
              <a:rPr sz="1200" spc="135" dirty="0">
                <a:latin typeface="Times New Roman" panose="02020603050405020304"/>
                <a:cs typeface="Times New Roman" panose="02020603050405020304"/>
              </a:rPr>
              <a:t> </a:t>
            </a:r>
            <a:r>
              <a:rPr sz="1200" dirty="0">
                <a:latin typeface="Times New Roman" panose="02020603050405020304"/>
                <a:cs typeface="Times New Roman" panose="02020603050405020304"/>
              </a:rPr>
              <a:t>supervision.</a:t>
            </a:r>
            <a:r>
              <a:rPr sz="1200" spc="13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114" dirty="0">
                <a:latin typeface="Times New Roman" panose="02020603050405020304"/>
                <a:cs typeface="Times New Roman" panose="02020603050405020304"/>
              </a:rPr>
              <a:t> </a:t>
            </a:r>
            <a:r>
              <a:rPr sz="1200" dirty="0">
                <a:latin typeface="Times New Roman" panose="02020603050405020304"/>
                <a:cs typeface="Times New Roman" panose="02020603050405020304"/>
              </a:rPr>
              <a:t>results</a:t>
            </a:r>
            <a:r>
              <a:rPr sz="1200" spc="110" dirty="0">
                <a:latin typeface="Times New Roman" panose="02020603050405020304"/>
                <a:cs typeface="Times New Roman" panose="02020603050405020304"/>
              </a:rPr>
              <a:t> </a:t>
            </a:r>
            <a:r>
              <a:rPr sz="1200" dirty="0">
                <a:latin typeface="Times New Roman" panose="02020603050405020304"/>
                <a:cs typeface="Times New Roman" panose="02020603050405020304"/>
              </a:rPr>
              <a:t>embodied</a:t>
            </a:r>
            <a:r>
              <a:rPr sz="1200" spc="135" dirty="0">
                <a:latin typeface="Times New Roman" panose="02020603050405020304"/>
                <a:cs typeface="Times New Roman" panose="02020603050405020304"/>
              </a:rPr>
              <a:t> </a:t>
            </a:r>
            <a:r>
              <a:rPr sz="1200" dirty="0">
                <a:latin typeface="Times New Roman" panose="02020603050405020304"/>
                <a:cs typeface="Times New Roman" panose="02020603050405020304"/>
              </a:rPr>
              <a:t>in</a:t>
            </a:r>
            <a:r>
              <a:rPr sz="1200" spc="1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this</a:t>
            </a:r>
            <a:r>
              <a:rPr sz="1200" spc="105" dirty="0">
                <a:latin typeface="Times New Roman" panose="02020603050405020304"/>
                <a:cs typeface="Times New Roman" panose="02020603050405020304"/>
              </a:rPr>
              <a:t> </a:t>
            </a:r>
            <a:r>
              <a:rPr sz="1200" dirty="0">
                <a:latin typeface="Times New Roman" panose="02020603050405020304"/>
                <a:cs typeface="Times New Roman" panose="02020603050405020304"/>
              </a:rPr>
              <a:t>report</a:t>
            </a:r>
            <a:r>
              <a:rPr sz="1200" spc="175" dirty="0">
                <a:latin typeface="Times New Roman" panose="02020603050405020304"/>
                <a:cs typeface="Times New Roman" panose="02020603050405020304"/>
              </a:rPr>
              <a:t> </a:t>
            </a:r>
            <a:r>
              <a:rPr sz="1200" dirty="0">
                <a:latin typeface="Times New Roman" panose="02020603050405020304"/>
                <a:cs typeface="Times New Roman" panose="02020603050405020304"/>
              </a:rPr>
              <a:t>have</a:t>
            </a:r>
            <a:r>
              <a:rPr sz="1200" spc="114" dirty="0">
                <a:latin typeface="Times New Roman" panose="02020603050405020304"/>
                <a:cs typeface="Times New Roman" panose="02020603050405020304"/>
              </a:rPr>
              <a:t> </a:t>
            </a:r>
            <a:r>
              <a:rPr sz="1200" dirty="0">
                <a:latin typeface="Times New Roman" panose="02020603050405020304"/>
                <a:cs typeface="Times New Roman" panose="02020603050405020304"/>
              </a:rPr>
              <a:t>not</a:t>
            </a:r>
            <a:r>
              <a:rPr sz="1200" spc="120"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been </a:t>
            </a:r>
            <a:r>
              <a:rPr sz="1200" dirty="0">
                <a:latin typeface="Times New Roman" panose="02020603050405020304"/>
                <a:cs typeface="Times New Roman" panose="02020603050405020304"/>
              </a:rPr>
              <a:t>submitted</a:t>
            </a:r>
            <a:r>
              <a:rPr sz="1200" spc="-20" dirty="0">
                <a:latin typeface="Times New Roman" panose="02020603050405020304"/>
                <a:cs typeface="Times New Roman" panose="02020603050405020304"/>
              </a:rPr>
              <a:t> </a:t>
            </a:r>
            <a:r>
              <a:rPr sz="1200" dirty="0">
                <a:latin typeface="Times New Roman" panose="02020603050405020304"/>
                <a:cs typeface="Times New Roman" panose="02020603050405020304"/>
              </a:rPr>
              <a:t>to any</a:t>
            </a:r>
            <a:r>
              <a:rPr sz="1200" spc="-70" dirty="0">
                <a:latin typeface="Times New Roman" panose="02020603050405020304"/>
                <a:cs typeface="Times New Roman" panose="02020603050405020304"/>
              </a:rPr>
              <a:t> </a:t>
            </a:r>
            <a:r>
              <a:rPr sz="1200" dirty="0">
                <a:latin typeface="Times New Roman" panose="02020603050405020304"/>
                <a:cs typeface="Times New Roman" panose="02020603050405020304"/>
              </a:rPr>
              <a:t>other</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University</a:t>
            </a:r>
            <a:r>
              <a:rPr sz="1200" spc="-40" dirty="0">
                <a:latin typeface="Times New Roman" panose="02020603050405020304"/>
                <a:cs typeface="Times New Roman" panose="02020603050405020304"/>
              </a:rPr>
              <a:t> </a:t>
            </a:r>
            <a:r>
              <a:rPr sz="1200" dirty="0">
                <a:latin typeface="Times New Roman" panose="02020603050405020304"/>
                <a:cs typeface="Times New Roman" panose="02020603050405020304"/>
              </a:rPr>
              <a:t>or</a:t>
            </a:r>
            <a:r>
              <a:rPr sz="1200" spc="-15" dirty="0">
                <a:latin typeface="Times New Roman" panose="02020603050405020304"/>
                <a:cs typeface="Times New Roman" panose="02020603050405020304"/>
              </a:rPr>
              <a:t> </a:t>
            </a:r>
            <a:r>
              <a:rPr sz="1200" dirty="0">
                <a:latin typeface="Times New Roman" panose="02020603050405020304"/>
                <a:cs typeface="Times New Roman" panose="02020603050405020304"/>
              </a:rPr>
              <a:t>Institute for</a:t>
            </a:r>
            <a:r>
              <a:rPr sz="1200" spc="-35"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award</a:t>
            </a:r>
            <a:r>
              <a:rPr sz="1200" spc="-25"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60" dirty="0">
                <a:latin typeface="Times New Roman" panose="02020603050405020304"/>
                <a:cs typeface="Times New Roman" panose="02020603050405020304"/>
              </a:rPr>
              <a:t> </a:t>
            </a:r>
            <a:r>
              <a:rPr sz="1200" dirty="0">
                <a:latin typeface="Times New Roman" panose="02020603050405020304"/>
                <a:cs typeface="Times New Roman" panose="02020603050405020304"/>
              </a:rPr>
              <a:t>any</a:t>
            </a:r>
            <a:r>
              <a:rPr sz="1200" spc="-65" dirty="0">
                <a:latin typeface="Times New Roman" panose="02020603050405020304"/>
                <a:cs typeface="Times New Roman" panose="02020603050405020304"/>
              </a:rPr>
              <a:t> </a:t>
            </a:r>
            <a:r>
              <a:rPr sz="1200" dirty="0">
                <a:latin typeface="Times New Roman" panose="02020603050405020304"/>
                <a:cs typeface="Times New Roman" panose="02020603050405020304"/>
              </a:rPr>
              <a:t>degree</a:t>
            </a:r>
            <a:r>
              <a:rPr sz="1200" spc="-5" dirty="0">
                <a:latin typeface="Times New Roman" panose="02020603050405020304"/>
                <a:cs typeface="Times New Roman" panose="02020603050405020304"/>
              </a:rPr>
              <a:t> </a:t>
            </a:r>
            <a:r>
              <a:rPr sz="1200" dirty="0">
                <a:latin typeface="Times New Roman" panose="02020603050405020304"/>
                <a:cs typeface="Times New Roman" panose="02020603050405020304"/>
              </a:rPr>
              <a:t>or</a:t>
            </a:r>
            <a:r>
              <a:rPr sz="1200" spc="-15" dirty="0">
                <a:latin typeface="Times New Roman" panose="02020603050405020304"/>
                <a:cs typeface="Times New Roman" panose="02020603050405020304"/>
              </a:rPr>
              <a:t> </a:t>
            </a:r>
            <a:r>
              <a:rPr sz="1200" spc="-10" dirty="0">
                <a:latin typeface="Times New Roman" panose="02020603050405020304"/>
                <a:cs typeface="Times New Roman" panose="02020603050405020304"/>
              </a:rPr>
              <a:t>diploma.</a:t>
            </a:r>
            <a:endParaRPr sz="1200">
              <a:latin typeface="Times New Roman" panose="02020603050405020304"/>
              <a:cs typeface="Times New Roman" panose="02020603050405020304"/>
            </a:endParaRPr>
          </a:p>
        </p:txBody>
      </p:sp>
      <p:sp>
        <p:nvSpPr>
          <p:cNvPr id="8" name="object 8"/>
          <p:cNvSpPr txBox="1"/>
          <p:nvPr/>
        </p:nvSpPr>
        <p:spPr>
          <a:xfrm>
            <a:off x="1154988" y="6645909"/>
            <a:ext cx="135255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Signature</a:t>
            </a:r>
            <a:r>
              <a:rPr sz="1200" spc="-65"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8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30"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guide</a:t>
            </a:r>
            <a:endParaRPr sz="1200">
              <a:latin typeface="Times New Roman" panose="02020603050405020304"/>
              <a:cs typeface="Times New Roman" panose="02020603050405020304"/>
            </a:endParaRPr>
          </a:p>
        </p:txBody>
      </p:sp>
      <p:sp>
        <p:nvSpPr>
          <p:cNvPr id="9" name="object 9"/>
          <p:cNvSpPr txBox="1"/>
          <p:nvPr/>
        </p:nvSpPr>
        <p:spPr>
          <a:xfrm>
            <a:off x="4338320" y="6645909"/>
            <a:ext cx="142875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Times New Roman" panose="02020603050405020304"/>
                <a:cs typeface="Times New Roman" panose="02020603050405020304"/>
              </a:rPr>
              <a:t>Signature</a:t>
            </a:r>
            <a:r>
              <a:rPr sz="1200" spc="-65" dirty="0">
                <a:latin typeface="Times New Roman" panose="02020603050405020304"/>
                <a:cs typeface="Times New Roman" panose="02020603050405020304"/>
              </a:rPr>
              <a:t> </a:t>
            </a:r>
            <a:r>
              <a:rPr sz="1200" dirty="0">
                <a:latin typeface="Times New Roman" panose="02020603050405020304"/>
                <a:cs typeface="Times New Roman" panose="02020603050405020304"/>
              </a:rPr>
              <a:t>of</a:t>
            </a:r>
            <a:r>
              <a:rPr sz="1200" spc="-80" dirty="0">
                <a:latin typeface="Times New Roman" panose="02020603050405020304"/>
                <a:cs typeface="Times New Roman" panose="02020603050405020304"/>
              </a:rPr>
              <a:t> </a:t>
            </a:r>
            <a:r>
              <a:rPr sz="1200" dirty="0">
                <a:latin typeface="Times New Roman" panose="02020603050405020304"/>
                <a:cs typeface="Times New Roman" panose="02020603050405020304"/>
              </a:rPr>
              <a:t>the</a:t>
            </a:r>
            <a:r>
              <a:rPr sz="1200" spc="-30" dirty="0">
                <a:latin typeface="Times New Roman" panose="02020603050405020304"/>
                <a:cs typeface="Times New Roman" panose="02020603050405020304"/>
              </a:rPr>
              <a:t> </a:t>
            </a:r>
            <a:r>
              <a:rPr sz="1200" spc="-20" dirty="0">
                <a:latin typeface="Times New Roman" panose="02020603050405020304"/>
                <a:cs typeface="Times New Roman" panose="02020603050405020304"/>
              </a:rPr>
              <a:t>H.O.D</a:t>
            </a:r>
            <a:endParaRPr sz="1200">
              <a:latin typeface="Times New Roman" panose="02020603050405020304"/>
              <a:cs typeface="Times New Roman" panose="02020603050405020304"/>
            </a:endParaRPr>
          </a:p>
        </p:txBody>
      </p:sp>
      <p:sp>
        <p:nvSpPr>
          <p:cNvPr id="10" name="object 10"/>
          <p:cNvSpPr txBox="1"/>
          <p:nvPr/>
        </p:nvSpPr>
        <p:spPr>
          <a:xfrm>
            <a:off x="1154988" y="7015098"/>
            <a:ext cx="1538605" cy="181610"/>
          </a:xfrm>
          <a:prstGeom prst="rect">
            <a:avLst/>
          </a:prstGeom>
        </p:spPr>
        <p:txBody>
          <a:bodyPr vert="horz" wrap="square" lIns="0" tIns="12700" rIns="0" bIns="0" rtlCol="0">
            <a:spAutoFit/>
          </a:bodyPr>
          <a:lstStyle/>
          <a:p>
            <a:pPr marL="12700">
              <a:lnSpc>
                <a:spcPct val="100000"/>
              </a:lnSpc>
              <a:spcBef>
                <a:spcPts val="100"/>
              </a:spcBef>
            </a:pPr>
            <a:r>
              <a:rPr sz="1100" b="1" dirty="0">
                <a:latin typeface="Times New Roman" panose="02020603050405020304"/>
                <a:cs typeface="Times New Roman" panose="02020603050405020304"/>
              </a:rPr>
              <a:t>Mr.</a:t>
            </a:r>
            <a:r>
              <a:rPr sz="1100" b="1" spc="-10" dirty="0">
                <a:latin typeface="Times New Roman" panose="02020603050405020304"/>
                <a:cs typeface="Times New Roman" panose="02020603050405020304"/>
              </a:rPr>
              <a:t> </a:t>
            </a:r>
            <a:r>
              <a:rPr lang="en-US" altLang="en-US" sz="1100" b="1" spc="-10" dirty="0">
                <a:latin typeface="Times New Roman" panose="02020603050405020304"/>
                <a:cs typeface="Times New Roman" panose="02020603050405020304"/>
              </a:rPr>
              <a:t>Pradeep </a:t>
            </a:r>
            <a:r>
              <a:rPr sz="1100" b="1" spc="-20" dirty="0">
                <a:latin typeface="Times New Roman" panose="02020603050405020304"/>
                <a:cs typeface="Times New Roman" panose="02020603050405020304"/>
              </a:rPr>
              <a:t>Kumar</a:t>
            </a:r>
            <a:endParaRPr sz="1100">
              <a:latin typeface="Times New Roman" panose="02020603050405020304"/>
              <a:cs typeface="Times New Roman" panose="02020603050405020304"/>
            </a:endParaRPr>
          </a:p>
        </p:txBody>
      </p:sp>
      <p:sp>
        <p:nvSpPr>
          <p:cNvPr id="11" name="object 11"/>
          <p:cNvSpPr txBox="1"/>
          <p:nvPr/>
        </p:nvSpPr>
        <p:spPr>
          <a:xfrm>
            <a:off x="4338320" y="7015098"/>
            <a:ext cx="1675764" cy="19685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panose="02020603050405020304"/>
                <a:cs typeface="Times New Roman" panose="02020603050405020304"/>
              </a:rPr>
              <a:t>Mr.</a:t>
            </a:r>
            <a:r>
              <a:rPr sz="1200" b="1" spc="-5" dirty="0">
                <a:latin typeface="Times New Roman" panose="02020603050405020304"/>
                <a:cs typeface="Times New Roman" panose="02020603050405020304"/>
              </a:rPr>
              <a:t> </a:t>
            </a:r>
            <a:r>
              <a:rPr lang="en-US" altLang="en-US" sz="1200" b="1" spc="-5" dirty="0">
                <a:latin typeface="Times New Roman" panose="02020603050405020304"/>
                <a:cs typeface="Times New Roman" panose="02020603050405020304"/>
              </a:rPr>
              <a:t>Pradeep Kumar</a:t>
            </a:r>
            <a:endParaRPr lang="en-US" altLang="en-US" sz="1200" b="1" spc="-5" dirty="0">
              <a:latin typeface="Times New Roman" panose="02020603050405020304"/>
              <a:cs typeface="Times New Roman" panose="02020603050405020304"/>
            </a:endParaRPr>
          </a:p>
        </p:txBody>
      </p:sp>
      <p:sp>
        <p:nvSpPr>
          <p:cNvPr id="12" name="object 12"/>
          <p:cNvSpPr txBox="1"/>
          <p:nvPr/>
        </p:nvSpPr>
        <p:spPr>
          <a:xfrm>
            <a:off x="1154988" y="7377810"/>
            <a:ext cx="977900" cy="208279"/>
          </a:xfrm>
          <a:prstGeom prst="rect">
            <a:avLst/>
          </a:prstGeom>
        </p:spPr>
        <p:txBody>
          <a:bodyPr vert="horz" wrap="square" lIns="0" tIns="12700" rIns="0" bIns="0" rtlCol="0">
            <a:spAutoFit/>
          </a:bodyPr>
          <a:lstStyle/>
          <a:p>
            <a:pPr marL="12700">
              <a:lnSpc>
                <a:spcPct val="100000"/>
              </a:lnSpc>
              <a:spcBef>
                <a:spcPts val="100"/>
              </a:spcBef>
            </a:pPr>
            <a:r>
              <a:rPr sz="1200" b="1" spc="-10" dirty="0">
                <a:latin typeface="Times New Roman" panose="02020603050405020304"/>
                <a:cs typeface="Times New Roman" panose="02020603050405020304"/>
              </a:rPr>
              <a:t>Asst.</a:t>
            </a:r>
            <a:r>
              <a:rPr sz="1200" b="1" spc="-55"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Professor</a:t>
            </a:r>
            <a:endParaRPr sz="1200">
              <a:latin typeface="Times New Roman" panose="02020603050405020304"/>
              <a:cs typeface="Times New Roman" panose="02020603050405020304"/>
            </a:endParaRPr>
          </a:p>
        </p:txBody>
      </p:sp>
      <p:sp>
        <p:nvSpPr>
          <p:cNvPr id="13" name="object 13"/>
          <p:cNvSpPr txBox="1"/>
          <p:nvPr/>
        </p:nvSpPr>
        <p:spPr>
          <a:xfrm>
            <a:off x="4338320" y="7377810"/>
            <a:ext cx="1885950"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panose="02020603050405020304"/>
                <a:cs typeface="Times New Roman" panose="02020603050405020304"/>
              </a:rPr>
              <a:t>Assistant </a:t>
            </a:r>
            <a:r>
              <a:rPr sz="1200" b="1" spc="-10" dirty="0">
                <a:latin typeface="Times New Roman" panose="02020603050405020304"/>
                <a:cs typeface="Times New Roman" panose="02020603050405020304"/>
              </a:rPr>
              <a:t>Professor</a:t>
            </a:r>
            <a:r>
              <a:rPr sz="1200" b="1" spc="-65"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&amp;</a:t>
            </a:r>
            <a:r>
              <a:rPr sz="1200" b="1" spc="-40" dirty="0">
                <a:latin typeface="Times New Roman" panose="02020603050405020304"/>
                <a:cs typeface="Times New Roman" panose="02020603050405020304"/>
              </a:rPr>
              <a:t> </a:t>
            </a:r>
            <a:r>
              <a:rPr sz="1200" b="1" spc="-10" dirty="0">
                <a:latin typeface="Times New Roman" panose="02020603050405020304"/>
                <a:cs typeface="Times New Roman" panose="02020603050405020304"/>
              </a:rPr>
              <a:t>H.O.D</a:t>
            </a:r>
            <a:endParaRPr sz="1200">
              <a:latin typeface="Times New Roman" panose="02020603050405020304"/>
              <a:cs typeface="Times New Roman" panose="02020603050405020304"/>
            </a:endParaRPr>
          </a:p>
        </p:txBody>
      </p:sp>
      <p:sp>
        <p:nvSpPr>
          <p:cNvPr id="14" name="object 14"/>
          <p:cNvSpPr txBox="1"/>
          <p:nvPr/>
        </p:nvSpPr>
        <p:spPr>
          <a:xfrm>
            <a:off x="1155065" y="7740650"/>
            <a:ext cx="1152525" cy="19685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panose="02020603050405020304"/>
                <a:cs typeface="Times New Roman" panose="02020603050405020304"/>
              </a:rPr>
              <a:t>Dept.</a:t>
            </a:r>
            <a:r>
              <a:rPr sz="1200" b="1" spc="-20" dirty="0">
                <a:latin typeface="Times New Roman" panose="02020603050405020304"/>
                <a:cs typeface="Times New Roman" panose="02020603050405020304"/>
              </a:rPr>
              <a:t> </a:t>
            </a:r>
            <a:r>
              <a:rPr sz="1200" b="1" dirty="0">
                <a:latin typeface="Times New Roman" panose="02020603050405020304"/>
                <a:cs typeface="Times New Roman" panose="02020603050405020304"/>
              </a:rPr>
              <a:t>of</a:t>
            </a:r>
            <a:r>
              <a:rPr sz="1200" b="1" spc="-70" dirty="0">
                <a:latin typeface="Times New Roman" panose="02020603050405020304"/>
                <a:cs typeface="Times New Roman" panose="02020603050405020304"/>
              </a:rPr>
              <a:t> </a:t>
            </a:r>
            <a:r>
              <a:rPr lang="en-US" altLang="en-US" sz="1200" b="1" spc="-70" dirty="0">
                <a:latin typeface="Times New Roman" panose="02020603050405020304"/>
                <a:cs typeface="Times New Roman" panose="02020603050405020304"/>
              </a:rPr>
              <a:t>AI&amp;ML</a:t>
            </a:r>
            <a:endParaRPr lang="en-US" altLang="en-US" sz="1200" b="1" spc="-70" dirty="0">
              <a:latin typeface="Times New Roman" panose="02020603050405020304"/>
              <a:cs typeface="Times New Roman" panose="02020603050405020304"/>
            </a:endParaRPr>
          </a:p>
        </p:txBody>
      </p:sp>
      <p:sp>
        <p:nvSpPr>
          <p:cNvPr id="15" name="object 15"/>
          <p:cNvSpPr txBox="1"/>
          <p:nvPr/>
        </p:nvSpPr>
        <p:spPr>
          <a:xfrm>
            <a:off x="4338320" y="7740650"/>
            <a:ext cx="1063625" cy="196850"/>
          </a:xfrm>
          <a:prstGeom prst="rect">
            <a:avLst/>
          </a:prstGeom>
        </p:spPr>
        <p:txBody>
          <a:bodyPr vert="horz" wrap="square" lIns="0" tIns="12700" rIns="0" bIns="0" rtlCol="0">
            <a:spAutoFit/>
          </a:bodyPr>
          <a:lstStyle/>
          <a:p>
            <a:pPr marL="12700">
              <a:lnSpc>
                <a:spcPct val="100000"/>
              </a:lnSpc>
              <a:spcBef>
                <a:spcPts val="100"/>
              </a:spcBef>
            </a:pPr>
            <a:r>
              <a:rPr sz="1200" b="1" dirty="0">
                <a:latin typeface="Times New Roman" panose="02020603050405020304"/>
                <a:cs typeface="Times New Roman" panose="02020603050405020304"/>
                <a:sym typeface="+mn-ea"/>
              </a:rPr>
              <a:t>Dept.</a:t>
            </a:r>
            <a:r>
              <a:rPr sz="1200" b="1" spc="-20" dirty="0">
                <a:latin typeface="Times New Roman" panose="02020603050405020304"/>
                <a:cs typeface="Times New Roman" panose="02020603050405020304"/>
                <a:sym typeface="+mn-ea"/>
              </a:rPr>
              <a:t> </a:t>
            </a:r>
            <a:r>
              <a:rPr sz="1200" b="1" dirty="0">
                <a:latin typeface="Times New Roman" panose="02020603050405020304"/>
                <a:cs typeface="Times New Roman" panose="02020603050405020304"/>
                <a:sym typeface="+mn-ea"/>
              </a:rPr>
              <a:t>of</a:t>
            </a:r>
            <a:r>
              <a:rPr sz="1200" b="1" spc="-70" dirty="0">
                <a:latin typeface="Times New Roman" panose="02020603050405020304"/>
                <a:cs typeface="Times New Roman" panose="02020603050405020304"/>
                <a:sym typeface="+mn-ea"/>
              </a:rPr>
              <a:t> </a:t>
            </a:r>
            <a:r>
              <a:rPr lang="en-US" altLang="en-US" sz="1200" b="1" spc="-70" dirty="0">
                <a:latin typeface="Times New Roman" panose="02020603050405020304"/>
                <a:cs typeface="Times New Roman" panose="02020603050405020304"/>
                <a:sym typeface="+mn-ea"/>
              </a:rPr>
              <a:t>AI&amp;ML</a:t>
            </a:r>
            <a:endParaRPr sz="1200">
              <a:latin typeface="Times New Roman" panose="02020603050405020304"/>
              <a:cs typeface="Times New Roman" panose="02020603050405020304"/>
            </a:endParaRPr>
          </a:p>
        </p:txBody>
      </p:sp>
      <p:pic>
        <p:nvPicPr>
          <p:cNvPr id="16" name="object 16"/>
          <p:cNvPicPr/>
          <p:nvPr/>
        </p:nvPicPr>
        <p:blipFill>
          <a:blip r:embed="rId1" cstate="print"/>
          <a:stretch>
            <a:fillRect/>
          </a:stretch>
        </p:blipFill>
        <p:spPr>
          <a:xfrm>
            <a:off x="1116964" y="1066800"/>
            <a:ext cx="5645150" cy="655320"/>
          </a:xfrm>
          <a:prstGeom prst="rect">
            <a:avLst/>
          </a:prstGeom>
        </p:spPr>
      </p:pic>
      <p:sp>
        <p:nvSpPr>
          <p:cNvPr id="18" name="Slide Number Placeholder 17"/>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50" dirty="0"/>
            </a:fld>
            <a:endParaRPr spc="-50" dirty="0"/>
          </a:p>
        </p:txBody>
      </p:sp>
      <p:sp>
        <p:nvSpPr>
          <p:cNvPr id="2" name="object 2"/>
          <p:cNvSpPr txBox="1"/>
          <p:nvPr/>
        </p:nvSpPr>
        <p:spPr>
          <a:xfrm>
            <a:off x="1176324" y="837946"/>
            <a:ext cx="5479415" cy="5927090"/>
          </a:xfrm>
          <a:prstGeom prst="rect">
            <a:avLst/>
          </a:prstGeom>
        </p:spPr>
        <p:txBody>
          <a:bodyPr vert="horz" wrap="square" lIns="0" tIns="12065" rIns="0" bIns="0" rtlCol="0">
            <a:spAutoFit/>
          </a:bodyPr>
          <a:lstStyle/>
          <a:p>
            <a:pPr marR="52070" algn="ctr">
              <a:lnSpc>
                <a:spcPct val="100000"/>
              </a:lnSpc>
              <a:spcBef>
                <a:spcPts val="95"/>
              </a:spcBef>
            </a:pPr>
            <a:r>
              <a:rPr sz="1300" b="1" spc="-10" dirty="0">
                <a:latin typeface="Times New Roman" panose="02020603050405020304"/>
                <a:cs typeface="Times New Roman" panose="02020603050405020304"/>
              </a:rPr>
              <a:t>ACKNOWLEDGEMENT</a:t>
            </a:r>
            <a:endParaRPr sz="1300">
              <a:latin typeface="Times New Roman" panose="02020603050405020304"/>
              <a:cs typeface="Times New Roman" panose="02020603050405020304"/>
            </a:endParaRPr>
          </a:p>
          <a:p>
            <a:pPr marL="12700" marR="73025" algn="just">
              <a:lnSpc>
                <a:spcPct val="147000"/>
              </a:lnSpc>
              <a:spcBef>
                <a:spcPts val="845"/>
              </a:spcBef>
            </a:pPr>
            <a:r>
              <a:rPr sz="1100" dirty="0">
                <a:latin typeface="Times New Roman" panose="02020603050405020304"/>
                <a:cs typeface="Times New Roman" panose="02020603050405020304"/>
              </a:rPr>
              <a:t>It</a:t>
            </a:r>
            <a:r>
              <a:rPr sz="1100" spc="114" dirty="0">
                <a:latin typeface="Times New Roman" panose="02020603050405020304"/>
                <a:cs typeface="Times New Roman" panose="02020603050405020304"/>
              </a:rPr>
              <a:t>  </a:t>
            </a:r>
            <a:r>
              <a:rPr sz="1100" dirty="0">
                <a:latin typeface="Times New Roman" panose="02020603050405020304"/>
                <a:cs typeface="Times New Roman" panose="02020603050405020304"/>
              </a:rPr>
              <a:t>gives</a:t>
            </a:r>
            <a:r>
              <a:rPr sz="1100" spc="130" dirty="0">
                <a:latin typeface="Times New Roman" panose="02020603050405020304"/>
                <a:cs typeface="Times New Roman" panose="02020603050405020304"/>
              </a:rPr>
              <a:t>  </a:t>
            </a:r>
            <a:r>
              <a:rPr sz="1100" dirty="0">
                <a:latin typeface="Times New Roman" panose="02020603050405020304"/>
                <a:cs typeface="Times New Roman" panose="02020603050405020304"/>
              </a:rPr>
              <a:t>me</a:t>
            </a:r>
            <a:r>
              <a:rPr sz="1100" spc="495" dirty="0">
                <a:latin typeface="Times New Roman" panose="02020603050405020304"/>
                <a:cs typeface="Times New Roman" panose="02020603050405020304"/>
              </a:rPr>
              <a:t> </a:t>
            </a:r>
            <a:r>
              <a:rPr sz="1100" dirty="0">
                <a:latin typeface="Times New Roman" panose="02020603050405020304"/>
                <a:cs typeface="Times New Roman" panose="02020603050405020304"/>
              </a:rPr>
              <a:t>an</a:t>
            </a:r>
            <a:r>
              <a:rPr sz="1100" spc="484" dirty="0">
                <a:latin typeface="Times New Roman" panose="02020603050405020304"/>
                <a:cs typeface="Times New Roman" panose="02020603050405020304"/>
              </a:rPr>
              <a:t> </a:t>
            </a:r>
            <a:r>
              <a:rPr sz="1100" dirty="0">
                <a:latin typeface="Times New Roman" panose="02020603050405020304"/>
                <a:cs typeface="Times New Roman" panose="02020603050405020304"/>
              </a:rPr>
              <a:t>immense</a:t>
            </a:r>
            <a:r>
              <a:rPr sz="1100" spc="475" dirty="0">
                <a:latin typeface="Times New Roman" panose="02020603050405020304"/>
                <a:cs typeface="Times New Roman" panose="02020603050405020304"/>
              </a:rPr>
              <a:t> </a:t>
            </a:r>
            <a:r>
              <a:rPr sz="1100" dirty="0">
                <a:latin typeface="Times New Roman" panose="02020603050405020304"/>
                <a:cs typeface="Times New Roman" panose="02020603050405020304"/>
              </a:rPr>
              <a:t>pleasure</a:t>
            </a:r>
            <a:r>
              <a:rPr sz="1100" spc="470"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114" dirty="0">
                <a:latin typeface="Times New Roman" panose="02020603050405020304"/>
                <a:cs typeface="Times New Roman" panose="02020603050405020304"/>
              </a:rPr>
              <a:t>  </a:t>
            </a:r>
            <a:r>
              <a:rPr sz="1100" dirty="0">
                <a:latin typeface="Times New Roman" panose="02020603050405020304"/>
                <a:cs typeface="Times New Roman" panose="02020603050405020304"/>
              </a:rPr>
              <a:t>express</a:t>
            </a:r>
            <a:r>
              <a:rPr sz="1100" spc="130" dirty="0">
                <a:latin typeface="Times New Roman" panose="02020603050405020304"/>
                <a:cs typeface="Times New Roman" panose="02020603050405020304"/>
              </a:rPr>
              <a:t>  </a:t>
            </a:r>
            <a:r>
              <a:rPr sz="1100" dirty="0">
                <a:latin typeface="Times New Roman" panose="02020603050405020304"/>
                <a:cs typeface="Times New Roman" panose="02020603050405020304"/>
              </a:rPr>
              <a:t>deep</a:t>
            </a:r>
            <a:r>
              <a:rPr sz="1100" spc="114" dirty="0">
                <a:latin typeface="Times New Roman" panose="02020603050405020304"/>
                <a:cs typeface="Times New Roman" panose="02020603050405020304"/>
              </a:rPr>
              <a:t>  </a:t>
            </a:r>
            <a:r>
              <a:rPr sz="1100" dirty="0">
                <a:latin typeface="Times New Roman" panose="02020603050405020304"/>
                <a:cs typeface="Times New Roman" panose="02020603050405020304"/>
              </a:rPr>
              <a:t>sense</a:t>
            </a:r>
            <a:r>
              <a:rPr sz="1100" spc="114"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120" dirty="0">
                <a:latin typeface="Times New Roman" panose="02020603050405020304"/>
                <a:cs typeface="Times New Roman" panose="02020603050405020304"/>
              </a:rPr>
              <a:t>  </a:t>
            </a:r>
            <a:r>
              <a:rPr sz="1100" dirty="0">
                <a:latin typeface="Times New Roman" panose="02020603050405020304"/>
                <a:cs typeface="Times New Roman" panose="02020603050405020304"/>
              </a:rPr>
              <a:t>gratitude</a:t>
            </a:r>
            <a:r>
              <a:rPr sz="1100" spc="480"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114" dirty="0">
                <a:latin typeface="Times New Roman" panose="02020603050405020304"/>
                <a:cs typeface="Times New Roman" panose="02020603050405020304"/>
              </a:rPr>
              <a:t>  </a:t>
            </a:r>
            <a:r>
              <a:rPr sz="1100" dirty="0">
                <a:latin typeface="Times New Roman" panose="02020603050405020304"/>
                <a:cs typeface="Times New Roman" panose="02020603050405020304"/>
              </a:rPr>
              <a:t>my</a:t>
            </a:r>
            <a:r>
              <a:rPr sz="1100" spc="114"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guide, </a:t>
            </a:r>
            <a:r>
              <a:rPr sz="1100" b="1" dirty="0">
                <a:latin typeface="Times New Roman" panose="02020603050405020304"/>
                <a:cs typeface="Times New Roman" panose="02020603050405020304"/>
              </a:rPr>
              <a:t>Mr.</a:t>
            </a:r>
            <a:r>
              <a:rPr sz="1100" b="1" spc="110" dirty="0">
                <a:latin typeface="Times New Roman" panose="02020603050405020304"/>
                <a:cs typeface="Times New Roman" panose="02020603050405020304"/>
              </a:rPr>
              <a:t> </a:t>
            </a:r>
            <a:r>
              <a:rPr lang="en-US" altLang="en-US" sz="1100" b="1" spc="110" dirty="0">
                <a:latin typeface="Times New Roman" panose="02020603050405020304"/>
                <a:cs typeface="Times New Roman" panose="02020603050405020304"/>
              </a:rPr>
              <a:t>Pradeep </a:t>
            </a:r>
            <a:r>
              <a:rPr sz="1100" b="1" dirty="0">
                <a:latin typeface="Times New Roman" panose="02020603050405020304"/>
                <a:cs typeface="Times New Roman" panose="02020603050405020304"/>
              </a:rPr>
              <a:t>Kumar</a:t>
            </a:r>
            <a:r>
              <a:rPr sz="1100" dirty="0">
                <a:latin typeface="Times New Roman" panose="02020603050405020304"/>
                <a:cs typeface="Times New Roman" panose="02020603050405020304"/>
              </a:rPr>
              <a:t>,</a:t>
            </a:r>
            <a:r>
              <a:rPr sz="1100" spc="110" dirty="0">
                <a:latin typeface="Times New Roman" panose="02020603050405020304"/>
                <a:cs typeface="Times New Roman" panose="02020603050405020304"/>
              </a:rPr>
              <a:t>  </a:t>
            </a:r>
            <a:r>
              <a:rPr sz="1100" dirty="0">
                <a:latin typeface="Times New Roman" panose="02020603050405020304"/>
                <a:cs typeface="Times New Roman" panose="02020603050405020304"/>
              </a:rPr>
              <a:t>Assistant</a:t>
            </a:r>
            <a:r>
              <a:rPr sz="1100" spc="490" dirty="0">
                <a:latin typeface="Times New Roman" panose="02020603050405020304"/>
                <a:cs typeface="Times New Roman" panose="02020603050405020304"/>
              </a:rPr>
              <a:t> </a:t>
            </a:r>
            <a:r>
              <a:rPr sz="1100" dirty="0">
                <a:latin typeface="Times New Roman" panose="02020603050405020304"/>
                <a:cs typeface="Times New Roman" panose="02020603050405020304"/>
              </a:rPr>
              <a:t>Professor,</a:t>
            </a:r>
            <a:r>
              <a:rPr sz="1100" spc="475" dirty="0">
                <a:latin typeface="Times New Roman" panose="02020603050405020304"/>
                <a:cs typeface="Times New Roman" panose="02020603050405020304"/>
              </a:rPr>
              <a:t> </a:t>
            </a:r>
            <a:r>
              <a:rPr sz="1100" dirty="0">
                <a:latin typeface="Times New Roman" panose="02020603050405020304"/>
                <a:cs typeface="Times New Roman" panose="02020603050405020304"/>
              </a:rPr>
              <a:t>Department</a:t>
            </a:r>
            <a:r>
              <a:rPr sz="1100" spc="114"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114" dirty="0">
                <a:latin typeface="Times New Roman" panose="02020603050405020304"/>
                <a:cs typeface="Times New Roman" panose="02020603050405020304"/>
              </a:rPr>
              <a:t>  </a:t>
            </a:r>
            <a:r>
              <a:rPr lang="en-US" altLang="en-US" sz="1100" spc="114" dirty="0">
                <a:latin typeface="Times New Roman" panose="02020603050405020304"/>
                <a:cs typeface="Times New Roman" panose="02020603050405020304"/>
              </a:rPr>
              <a:t>Artificial Intelligence &amp; Machine Learning</a:t>
            </a:r>
            <a:r>
              <a:rPr sz="1100" spc="204"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245" dirty="0">
                <a:latin typeface="Times New Roman" panose="02020603050405020304"/>
                <a:cs typeface="Times New Roman" panose="02020603050405020304"/>
              </a:rPr>
              <a:t> </a:t>
            </a:r>
            <a:r>
              <a:rPr sz="1100" dirty="0">
                <a:latin typeface="Times New Roman" panose="02020603050405020304"/>
                <a:cs typeface="Times New Roman" panose="02020603050405020304"/>
              </a:rPr>
              <a:t>whole</a:t>
            </a:r>
            <a:r>
              <a:rPr sz="1100" spc="225" dirty="0">
                <a:latin typeface="Times New Roman" panose="02020603050405020304"/>
                <a:cs typeface="Times New Roman" panose="02020603050405020304"/>
              </a:rPr>
              <a:t> </a:t>
            </a:r>
            <a:r>
              <a:rPr sz="1100" dirty="0">
                <a:latin typeface="Times New Roman" panose="02020603050405020304"/>
                <a:cs typeface="Times New Roman" panose="02020603050405020304"/>
              </a:rPr>
              <a:t>hearted</a:t>
            </a:r>
            <a:r>
              <a:rPr sz="1100" spc="204" dirty="0">
                <a:latin typeface="Times New Roman" panose="02020603050405020304"/>
                <a:cs typeface="Times New Roman" panose="02020603050405020304"/>
              </a:rPr>
              <a:t> </a:t>
            </a:r>
            <a:r>
              <a:rPr sz="1100" dirty="0">
                <a:latin typeface="Times New Roman" panose="02020603050405020304"/>
                <a:cs typeface="Times New Roman" panose="02020603050405020304"/>
              </a:rPr>
              <a:t>and</a:t>
            </a:r>
            <a:r>
              <a:rPr sz="1100" spc="229" dirty="0">
                <a:latin typeface="Times New Roman" panose="02020603050405020304"/>
                <a:cs typeface="Times New Roman" panose="02020603050405020304"/>
              </a:rPr>
              <a:t> </a:t>
            </a:r>
            <a:r>
              <a:rPr sz="1100" dirty="0">
                <a:latin typeface="Times New Roman" panose="02020603050405020304"/>
                <a:cs typeface="Times New Roman" panose="02020603050405020304"/>
              </a:rPr>
              <a:t>invaluable</a:t>
            </a:r>
            <a:r>
              <a:rPr sz="1100" spc="200" dirty="0">
                <a:latin typeface="Times New Roman" panose="02020603050405020304"/>
                <a:cs typeface="Times New Roman" panose="02020603050405020304"/>
              </a:rPr>
              <a:t> </a:t>
            </a:r>
            <a:r>
              <a:rPr sz="1100" dirty="0">
                <a:latin typeface="Times New Roman" panose="02020603050405020304"/>
                <a:cs typeface="Times New Roman" panose="02020603050405020304"/>
              </a:rPr>
              <a:t>guidance</a:t>
            </a:r>
            <a:r>
              <a:rPr sz="1100" spc="200" dirty="0">
                <a:latin typeface="Times New Roman" panose="02020603050405020304"/>
                <a:cs typeface="Times New Roman" panose="02020603050405020304"/>
              </a:rPr>
              <a:t> </a:t>
            </a:r>
            <a:r>
              <a:rPr sz="1100" dirty="0">
                <a:latin typeface="Times New Roman" panose="02020603050405020304"/>
                <a:cs typeface="Times New Roman" panose="02020603050405020304"/>
              </a:rPr>
              <a:t>throughout</a:t>
            </a:r>
            <a:r>
              <a:rPr sz="1100" spc="24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a:t>
            </a:r>
            <a:r>
              <a:rPr sz="1100" spc="200" dirty="0">
                <a:latin typeface="Times New Roman" panose="02020603050405020304"/>
                <a:cs typeface="Times New Roman" panose="02020603050405020304"/>
              </a:rPr>
              <a:t> </a:t>
            </a:r>
            <a:r>
              <a:rPr sz="1100" dirty="0">
                <a:latin typeface="Times New Roman" panose="02020603050405020304"/>
                <a:cs typeface="Times New Roman" panose="02020603050405020304"/>
              </a:rPr>
              <a:t>Project.</a:t>
            </a:r>
            <a:r>
              <a:rPr sz="1100" spc="245" dirty="0">
                <a:latin typeface="Times New Roman" panose="02020603050405020304"/>
                <a:cs typeface="Times New Roman" panose="02020603050405020304"/>
              </a:rPr>
              <a:t> </a:t>
            </a:r>
            <a:r>
              <a:rPr sz="1100" dirty="0">
                <a:latin typeface="Times New Roman" panose="02020603050405020304"/>
                <a:cs typeface="Times New Roman" panose="02020603050405020304"/>
              </a:rPr>
              <a:t>Without</a:t>
            </a:r>
            <a:r>
              <a:rPr sz="1100" spc="235" dirty="0">
                <a:latin typeface="Times New Roman" panose="02020603050405020304"/>
                <a:cs typeface="Times New Roman" panose="02020603050405020304"/>
              </a:rPr>
              <a:t> </a:t>
            </a:r>
            <a:r>
              <a:rPr sz="1100" spc="-25" dirty="0">
                <a:latin typeface="Times New Roman" panose="02020603050405020304"/>
                <a:cs typeface="Times New Roman" panose="02020603050405020304"/>
              </a:rPr>
              <a:t>his </a:t>
            </a:r>
            <a:r>
              <a:rPr sz="1100" dirty="0">
                <a:latin typeface="Times New Roman" panose="02020603050405020304"/>
                <a:cs typeface="Times New Roman" panose="02020603050405020304"/>
              </a:rPr>
              <a:t>sustained</a:t>
            </a:r>
            <a:r>
              <a:rPr sz="1100" spc="105" dirty="0">
                <a:latin typeface="Times New Roman" panose="02020603050405020304"/>
                <a:cs typeface="Times New Roman" panose="02020603050405020304"/>
              </a:rPr>
              <a:t> </a:t>
            </a:r>
            <a:r>
              <a:rPr sz="1100" dirty="0">
                <a:latin typeface="Times New Roman" panose="02020603050405020304"/>
                <a:cs typeface="Times New Roman" panose="02020603050405020304"/>
              </a:rPr>
              <a:t>and</a:t>
            </a:r>
            <a:r>
              <a:rPr sz="1100" spc="110" dirty="0">
                <a:latin typeface="Times New Roman" panose="02020603050405020304"/>
                <a:cs typeface="Times New Roman" panose="02020603050405020304"/>
              </a:rPr>
              <a:t> </a:t>
            </a:r>
            <a:r>
              <a:rPr sz="1100" dirty="0">
                <a:latin typeface="Times New Roman" panose="02020603050405020304"/>
                <a:cs typeface="Times New Roman" panose="02020603050405020304"/>
              </a:rPr>
              <a:t>sincere</a:t>
            </a:r>
            <a:r>
              <a:rPr sz="1100" spc="135" dirty="0">
                <a:latin typeface="Times New Roman" panose="02020603050405020304"/>
                <a:cs typeface="Times New Roman" panose="02020603050405020304"/>
              </a:rPr>
              <a:t> </a:t>
            </a:r>
            <a:r>
              <a:rPr sz="1100" dirty="0">
                <a:latin typeface="Times New Roman" panose="02020603050405020304"/>
                <a:cs typeface="Times New Roman" panose="02020603050405020304"/>
              </a:rPr>
              <a:t>effort,</a:t>
            </a:r>
            <a:r>
              <a:rPr sz="1100" spc="120" dirty="0">
                <a:latin typeface="Times New Roman" panose="02020603050405020304"/>
                <a:cs typeface="Times New Roman" panose="02020603050405020304"/>
              </a:rPr>
              <a:t> </a:t>
            </a:r>
            <a:r>
              <a:rPr sz="1100" dirty="0">
                <a:latin typeface="Times New Roman" panose="02020603050405020304"/>
                <a:cs typeface="Times New Roman" panose="02020603050405020304"/>
              </a:rPr>
              <a:t>this</a:t>
            </a:r>
            <a:r>
              <a:rPr sz="1100" spc="135" dirty="0">
                <a:latin typeface="Times New Roman" panose="02020603050405020304"/>
                <a:cs typeface="Times New Roman" panose="02020603050405020304"/>
              </a:rPr>
              <a:t> </a:t>
            </a:r>
            <a:r>
              <a:rPr sz="1100" dirty="0">
                <a:latin typeface="Times New Roman" panose="02020603050405020304"/>
                <a:cs typeface="Times New Roman" panose="02020603050405020304"/>
              </a:rPr>
              <a:t>report</a:t>
            </a:r>
            <a:r>
              <a:rPr sz="1100" spc="140" dirty="0">
                <a:latin typeface="Times New Roman" panose="02020603050405020304"/>
                <a:cs typeface="Times New Roman" panose="02020603050405020304"/>
              </a:rPr>
              <a:t> </a:t>
            </a:r>
            <a:r>
              <a:rPr sz="1100" dirty="0">
                <a:latin typeface="Times New Roman" panose="02020603050405020304"/>
                <a:cs typeface="Times New Roman" panose="02020603050405020304"/>
              </a:rPr>
              <a:t>would</a:t>
            </a:r>
            <a:r>
              <a:rPr sz="1100" spc="114" dirty="0">
                <a:latin typeface="Times New Roman" panose="02020603050405020304"/>
                <a:cs typeface="Times New Roman" panose="02020603050405020304"/>
              </a:rPr>
              <a:t> </a:t>
            </a:r>
            <a:r>
              <a:rPr sz="1100" dirty="0">
                <a:latin typeface="Times New Roman" panose="02020603050405020304"/>
                <a:cs typeface="Times New Roman" panose="02020603050405020304"/>
              </a:rPr>
              <a:t>not</a:t>
            </a:r>
            <a:r>
              <a:rPr sz="1100" spc="140" dirty="0">
                <a:latin typeface="Times New Roman" panose="02020603050405020304"/>
                <a:cs typeface="Times New Roman" panose="02020603050405020304"/>
              </a:rPr>
              <a:t> </a:t>
            </a:r>
            <a:r>
              <a:rPr sz="1100" dirty="0">
                <a:latin typeface="Times New Roman" panose="02020603050405020304"/>
                <a:cs typeface="Times New Roman" panose="02020603050405020304"/>
              </a:rPr>
              <a:t>have</a:t>
            </a:r>
            <a:r>
              <a:rPr sz="1100" spc="105" dirty="0">
                <a:latin typeface="Times New Roman" panose="02020603050405020304"/>
                <a:cs typeface="Times New Roman" panose="02020603050405020304"/>
              </a:rPr>
              <a:t> </a:t>
            </a:r>
            <a:r>
              <a:rPr sz="1100" dirty="0">
                <a:latin typeface="Times New Roman" panose="02020603050405020304"/>
                <a:cs typeface="Times New Roman" panose="02020603050405020304"/>
              </a:rPr>
              <a:t>taken</a:t>
            </a:r>
            <a:r>
              <a:rPr sz="1100" spc="110" dirty="0">
                <a:latin typeface="Times New Roman" panose="02020603050405020304"/>
                <a:cs typeface="Times New Roman" panose="02020603050405020304"/>
              </a:rPr>
              <a:t> </a:t>
            </a:r>
            <a:r>
              <a:rPr sz="1100" dirty="0">
                <a:latin typeface="Times New Roman" panose="02020603050405020304"/>
                <a:cs typeface="Times New Roman" panose="02020603050405020304"/>
              </a:rPr>
              <a:t>this</a:t>
            </a:r>
            <a:r>
              <a:rPr sz="1100" spc="135" dirty="0">
                <a:latin typeface="Times New Roman" panose="02020603050405020304"/>
                <a:cs typeface="Times New Roman" panose="02020603050405020304"/>
              </a:rPr>
              <a:t> </a:t>
            </a:r>
            <a:r>
              <a:rPr sz="1100" dirty="0">
                <a:latin typeface="Times New Roman" panose="02020603050405020304"/>
                <a:cs typeface="Times New Roman" panose="02020603050405020304"/>
              </a:rPr>
              <a:t>shape.</a:t>
            </a:r>
            <a:r>
              <a:rPr sz="1100" spc="150" dirty="0">
                <a:latin typeface="Times New Roman" panose="02020603050405020304"/>
                <a:cs typeface="Times New Roman" panose="02020603050405020304"/>
              </a:rPr>
              <a:t> </a:t>
            </a:r>
            <a:r>
              <a:rPr sz="1100" dirty="0">
                <a:latin typeface="Times New Roman" panose="02020603050405020304"/>
                <a:cs typeface="Times New Roman" panose="02020603050405020304"/>
              </a:rPr>
              <a:t>He</a:t>
            </a:r>
            <a:r>
              <a:rPr sz="1100" spc="100" dirty="0">
                <a:latin typeface="Times New Roman" panose="02020603050405020304"/>
                <a:cs typeface="Times New Roman" panose="02020603050405020304"/>
              </a:rPr>
              <a:t> </a:t>
            </a:r>
            <a:r>
              <a:rPr sz="1100" dirty="0">
                <a:latin typeface="Times New Roman" panose="02020603050405020304"/>
                <a:cs typeface="Times New Roman" panose="02020603050405020304"/>
              </a:rPr>
              <a:t>encouraged</a:t>
            </a:r>
            <a:r>
              <a:rPr sz="1100" spc="114" dirty="0">
                <a:latin typeface="Times New Roman" panose="02020603050405020304"/>
                <a:cs typeface="Times New Roman" panose="02020603050405020304"/>
              </a:rPr>
              <a:t> </a:t>
            </a:r>
            <a:r>
              <a:rPr sz="1100" spc="-25" dirty="0">
                <a:latin typeface="Times New Roman" panose="02020603050405020304"/>
                <a:cs typeface="Times New Roman" panose="02020603050405020304"/>
              </a:rPr>
              <a:t>and </a:t>
            </a:r>
            <a:r>
              <a:rPr sz="1100" dirty="0">
                <a:latin typeface="Times New Roman" panose="02020603050405020304"/>
                <a:cs typeface="Times New Roman" panose="02020603050405020304"/>
              </a:rPr>
              <a:t>helped</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me</a:t>
            </a:r>
            <a:r>
              <a:rPr sz="1100" spc="-40"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30" dirty="0">
                <a:latin typeface="Times New Roman" panose="02020603050405020304"/>
                <a:cs typeface="Times New Roman" panose="02020603050405020304"/>
              </a:rPr>
              <a:t> </a:t>
            </a:r>
            <a:r>
              <a:rPr sz="1100" dirty="0">
                <a:latin typeface="Times New Roman" panose="02020603050405020304"/>
                <a:cs typeface="Times New Roman" panose="02020603050405020304"/>
              </a:rPr>
              <a:t>overcome</a:t>
            </a:r>
            <a:r>
              <a:rPr sz="1100" spc="-10" dirty="0">
                <a:latin typeface="Times New Roman" panose="02020603050405020304"/>
                <a:cs typeface="Times New Roman" panose="02020603050405020304"/>
              </a:rPr>
              <a:t> </a:t>
            </a:r>
            <a:r>
              <a:rPr sz="1100" dirty="0">
                <a:latin typeface="Times New Roman" panose="02020603050405020304"/>
                <a:cs typeface="Times New Roman" panose="02020603050405020304"/>
              </a:rPr>
              <a:t>various</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difficulties</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that I</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have</a:t>
            </a:r>
            <a:r>
              <a:rPr sz="1100" spc="-40" dirty="0">
                <a:latin typeface="Times New Roman" panose="02020603050405020304"/>
                <a:cs typeface="Times New Roman" panose="02020603050405020304"/>
              </a:rPr>
              <a:t> </a:t>
            </a:r>
            <a:r>
              <a:rPr sz="1100" dirty="0">
                <a:latin typeface="Times New Roman" panose="02020603050405020304"/>
                <a:cs typeface="Times New Roman" panose="02020603050405020304"/>
              </a:rPr>
              <a:t>faced</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at various</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stages</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10" dirty="0">
                <a:latin typeface="Times New Roman" panose="02020603050405020304"/>
                <a:cs typeface="Times New Roman" panose="02020603050405020304"/>
              </a:rPr>
              <a:t> </a:t>
            </a:r>
            <a:r>
              <a:rPr sz="1100" dirty="0">
                <a:latin typeface="Times New Roman" panose="02020603050405020304"/>
                <a:cs typeface="Times New Roman" panose="02020603050405020304"/>
              </a:rPr>
              <a:t>my</a:t>
            </a:r>
            <a:r>
              <a:rPr sz="1100" spc="-30"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report.</a:t>
            </a:r>
            <a:endParaRPr sz="1100">
              <a:latin typeface="Times New Roman" panose="02020603050405020304"/>
              <a:cs typeface="Times New Roman" panose="02020603050405020304"/>
            </a:endParaRPr>
          </a:p>
          <a:p>
            <a:pPr>
              <a:lnSpc>
                <a:spcPct val="100000"/>
              </a:lnSpc>
              <a:spcBef>
                <a:spcPts val="680"/>
              </a:spcBef>
            </a:pPr>
            <a:endParaRPr sz="1100">
              <a:latin typeface="Times New Roman" panose="02020603050405020304"/>
              <a:cs typeface="Times New Roman" panose="02020603050405020304"/>
            </a:endParaRPr>
          </a:p>
          <a:p>
            <a:pPr marL="12700" marR="5080" algn="just">
              <a:lnSpc>
                <a:spcPct val="147000"/>
              </a:lnSpc>
              <a:spcBef>
                <a:spcPts val="5"/>
              </a:spcBef>
            </a:pPr>
            <a:r>
              <a:rPr sz="1100" dirty="0">
                <a:latin typeface="Times New Roman" panose="02020603050405020304"/>
                <a:cs typeface="Times New Roman" panose="02020603050405020304"/>
              </a:rPr>
              <a:t>I</a:t>
            </a:r>
            <a:r>
              <a:rPr sz="1100" spc="90" dirty="0">
                <a:latin typeface="Times New Roman" panose="02020603050405020304"/>
                <a:cs typeface="Times New Roman" panose="02020603050405020304"/>
              </a:rPr>
              <a:t> </a:t>
            </a:r>
            <a:r>
              <a:rPr sz="1100" dirty="0">
                <a:latin typeface="Times New Roman" panose="02020603050405020304"/>
                <a:cs typeface="Times New Roman" panose="02020603050405020304"/>
              </a:rPr>
              <a:t>would</a:t>
            </a:r>
            <a:r>
              <a:rPr sz="1100" spc="70" dirty="0">
                <a:latin typeface="Times New Roman" panose="02020603050405020304"/>
                <a:cs typeface="Times New Roman" panose="02020603050405020304"/>
              </a:rPr>
              <a:t> </a:t>
            </a:r>
            <a:r>
              <a:rPr sz="1100" dirty="0">
                <a:latin typeface="Times New Roman" panose="02020603050405020304"/>
                <a:cs typeface="Times New Roman" panose="02020603050405020304"/>
              </a:rPr>
              <a:t>like</a:t>
            </a:r>
            <a:r>
              <a:rPr sz="1100" spc="65"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70" dirty="0">
                <a:latin typeface="Times New Roman" panose="02020603050405020304"/>
                <a:cs typeface="Times New Roman" panose="02020603050405020304"/>
              </a:rPr>
              <a:t> </a:t>
            </a:r>
            <a:r>
              <a:rPr sz="1100" dirty="0">
                <a:latin typeface="Times New Roman" panose="02020603050405020304"/>
                <a:cs typeface="Times New Roman" panose="02020603050405020304"/>
              </a:rPr>
              <a:t>sincerely</a:t>
            </a:r>
            <a:r>
              <a:rPr sz="1100" spc="7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thank</a:t>
            </a:r>
            <a:r>
              <a:rPr sz="1100" spc="95" dirty="0">
                <a:latin typeface="Times New Roman" panose="02020603050405020304"/>
                <a:cs typeface="Times New Roman" panose="02020603050405020304"/>
              </a:rPr>
              <a:t> </a:t>
            </a:r>
            <a:r>
              <a:rPr sz="1100" dirty="0">
                <a:latin typeface="Times New Roman" panose="02020603050405020304"/>
                <a:cs typeface="Times New Roman" panose="02020603050405020304"/>
              </a:rPr>
              <a:t>my</a:t>
            </a:r>
            <a:r>
              <a:rPr sz="1100" spc="100" dirty="0">
                <a:latin typeface="Times New Roman" panose="02020603050405020304"/>
                <a:cs typeface="Times New Roman" panose="02020603050405020304"/>
              </a:rPr>
              <a:t> </a:t>
            </a:r>
            <a:r>
              <a:rPr sz="1100" dirty="0">
                <a:latin typeface="Times New Roman" panose="02020603050405020304"/>
                <a:cs typeface="Times New Roman" panose="02020603050405020304"/>
              </a:rPr>
              <a:t>R</a:t>
            </a:r>
            <a:r>
              <a:rPr sz="1100" spc="105" dirty="0">
                <a:latin typeface="Times New Roman" panose="02020603050405020304"/>
                <a:cs typeface="Times New Roman" panose="02020603050405020304"/>
              </a:rPr>
              <a:t> </a:t>
            </a:r>
            <a:r>
              <a:rPr sz="1100" dirty="0">
                <a:latin typeface="Times New Roman" panose="02020603050405020304"/>
                <a:cs typeface="Times New Roman" panose="02020603050405020304"/>
              </a:rPr>
              <a:t>&amp;</a:t>
            </a:r>
            <a:r>
              <a:rPr sz="1100" spc="100" dirty="0">
                <a:latin typeface="Times New Roman" panose="02020603050405020304"/>
                <a:cs typeface="Times New Roman" panose="02020603050405020304"/>
              </a:rPr>
              <a:t> </a:t>
            </a:r>
            <a:r>
              <a:rPr sz="1100" dirty="0">
                <a:latin typeface="Times New Roman" panose="02020603050405020304"/>
                <a:cs typeface="Times New Roman" panose="02020603050405020304"/>
              </a:rPr>
              <a:t>D</a:t>
            </a:r>
            <a:r>
              <a:rPr sz="1100" spc="90"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IN-</a:t>
            </a:r>
            <a:r>
              <a:rPr sz="1100" dirty="0">
                <a:latin typeface="Times New Roman" panose="02020603050405020304"/>
                <a:cs typeface="Times New Roman" panose="02020603050405020304"/>
              </a:rPr>
              <a:t>Charge</a:t>
            </a:r>
            <a:r>
              <a:rPr sz="1100" spc="95"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Mr.</a:t>
            </a:r>
            <a:r>
              <a:rPr sz="1100" b="1" spc="110"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K.</a:t>
            </a:r>
            <a:r>
              <a:rPr sz="1100" b="1" spc="85"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Venugopal</a:t>
            </a:r>
            <a:r>
              <a:rPr sz="1100" dirty="0">
                <a:latin typeface="Times New Roman" panose="02020603050405020304"/>
                <a:cs typeface="Times New Roman" panose="02020603050405020304"/>
              </a:rPr>
              <a:t>,</a:t>
            </a:r>
            <a:r>
              <a:rPr sz="1100" spc="105" dirty="0">
                <a:latin typeface="Times New Roman" panose="02020603050405020304"/>
                <a:cs typeface="Times New Roman" panose="02020603050405020304"/>
              </a:rPr>
              <a:t> </a:t>
            </a:r>
            <a:r>
              <a:rPr sz="1100" dirty="0">
                <a:latin typeface="Times New Roman" panose="02020603050405020304"/>
                <a:cs typeface="Times New Roman" panose="02020603050405020304"/>
              </a:rPr>
              <a:t>Assistant</a:t>
            </a:r>
            <a:r>
              <a:rPr sz="1100" spc="105"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Professor, </a:t>
            </a:r>
            <a:r>
              <a:rPr sz="1100" dirty="0">
                <a:latin typeface="Times New Roman" panose="02020603050405020304"/>
                <a:cs typeface="Times New Roman" panose="02020603050405020304"/>
              </a:rPr>
              <a:t>Department</a:t>
            </a:r>
            <a:r>
              <a:rPr sz="1100" spc="254"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229" dirty="0">
                <a:latin typeface="Times New Roman" panose="02020603050405020304"/>
                <a:cs typeface="Times New Roman" panose="02020603050405020304"/>
              </a:rPr>
              <a:t> </a:t>
            </a:r>
            <a:r>
              <a:rPr sz="1100" dirty="0">
                <a:latin typeface="Times New Roman" panose="02020603050405020304"/>
                <a:cs typeface="Times New Roman" panose="02020603050405020304"/>
              </a:rPr>
              <a:t>Computer</a:t>
            </a:r>
            <a:r>
              <a:rPr sz="1100" spc="240" dirty="0">
                <a:latin typeface="Times New Roman" panose="02020603050405020304"/>
                <a:cs typeface="Times New Roman" panose="02020603050405020304"/>
              </a:rPr>
              <a:t> </a:t>
            </a:r>
            <a:r>
              <a:rPr sz="1100" dirty="0">
                <a:latin typeface="Times New Roman" panose="02020603050405020304"/>
                <a:cs typeface="Times New Roman" panose="02020603050405020304"/>
              </a:rPr>
              <a:t>Science</a:t>
            </a:r>
            <a:r>
              <a:rPr sz="1100" spc="195" dirty="0">
                <a:latin typeface="Times New Roman" panose="02020603050405020304"/>
                <a:cs typeface="Times New Roman" panose="02020603050405020304"/>
              </a:rPr>
              <a:t> </a:t>
            </a:r>
            <a:r>
              <a:rPr sz="1100" dirty="0">
                <a:latin typeface="Times New Roman" panose="02020603050405020304"/>
                <a:cs typeface="Times New Roman" panose="02020603050405020304"/>
              </a:rPr>
              <a:t>&amp;</a:t>
            </a:r>
            <a:r>
              <a:rPr sz="1100" spc="229" dirty="0">
                <a:latin typeface="Times New Roman" panose="02020603050405020304"/>
                <a:cs typeface="Times New Roman" panose="02020603050405020304"/>
              </a:rPr>
              <a:t> </a:t>
            </a:r>
            <a:r>
              <a:rPr sz="1100" dirty="0">
                <a:latin typeface="Times New Roman" panose="02020603050405020304"/>
                <a:cs typeface="Times New Roman" panose="02020603050405020304"/>
              </a:rPr>
              <a:t>Engineering,</a:t>
            </a:r>
            <a:r>
              <a:rPr sz="1100" spc="240" dirty="0">
                <a:latin typeface="Times New Roman" panose="02020603050405020304"/>
                <a:cs typeface="Times New Roman" panose="02020603050405020304"/>
              </a:rPr>
              <a:t> </a:t>
            </a:r>
            <a:r>
              <a:rPr sz="1100" dirty="0">
                <a:latin typeface="Times New Roman" panose="02020603050405020304"/>
                <a:cs typeface="Times New Roman" panose="02020603050405020304"/>
              </a:rPr>
              <a:t>for</a:t>
            </a:r>
            <a:r>
              <a:rPr sz="1100" spc="240" dirty="0">
                <a:latin typeface="Times New Roman" panose="02020603050405020304"/>
                <a:cs typeface="Times New Roman" panose="02020603050405020304"/>
              </a:rPr>
              <a:t> </a:t>
            </a:r>
            <a:r>
              <a:rPr sz="1100" dirty="0">
                <a:latin typeface="Times New Roman" panose="02020603050405020304"/>
                <a:cs typeface="Times New Roman" panose="02020603050405020304"/>
              </a:rPr>
              <a:t>giving</a:t>
            </a:r>
            <a:r>
              <a:rPr sz="1100" spc="204" dirty="0">
                <a:latin typeface="Times New Roman" panose="02020603050405020304"/>
                <a:cs typeface="Times New Roman" panose="02020603050405020304"/>
              </a:rPr>
              <a:t> </a:t>
            </a:r>
            <a:r>
              <a:rPr sz="1100" dirty="0">
                <a:latin typeface="Times New Roman" panose="02020603050405020304"/>
                <a:cs typeface="Times New Roman" panose="02020603050405020304"/>
              </a:rPr>
              <a:t>his</a:t>
            </a:r>
            <a:r>
              <a:rPr sz="1100" spc="225" dirty="0">
                <a:latin typeface="Times New Roman" panose="02020603050405020304"/>
                <a:cs typeface="Times New Roman" panose="02020603050405020304"/>
              </a:rPr>
              <a:t> </a:t>
            </a:r>
            <a:r>
              <a:rPr sz="1100" dirty="0">
                <a:latin typeface="Times New Roman" panose="02020603050405020304"/>
                <a:cs typeface="Times New Roman" panose="02020603050405020304"/>
              </a:rPr>
              <a:t>direct</a:t>
            </a:r>
            <a:r>
              <a:rPr sz="1100" spc="229" dirty="0">
                <a:latin typeface="Times New Roman" panose="02020603050405020304"/>
                <a:cs typeface="Times New Roman" panose="02020603050405020304"/>
              </a:rPr>
              <a:t> </a:t>
            </a:r>
            <a:r>
              <a:rPr sz="1100" dirty="0">
                <a:latin typeface="Times New Roman" panose="02020603050405020304"/>
                <a:cs typeface="Times New Roman" panose="02020603050405020304"/>
              </a:rPr>
              <a:t>and</a:t>
            </a:r>
            <a:r>
              <a:rPr sz="1100" spc="430" dirty="0">
                <a:latin typeface="Times New Roman" panose="02020603050405020304"/>
                <a:cs typeface="Times New Roman" panose="02020603050405020304"/>
              </a:rPr>
              <a:t> </a:t>
            </a:r>
            <a:r>
              <a:rPr sz="1100" dirty="0">
                <a:latin typeface="Times New Roman" panose="02020603050405020304"/>
                <a:cs typeface="Times New Roman" panose="02020603050405020304"/>
              </a:rPr>
              <a:t>indirect</a:t>
            </a:r>
            <a:r>
              <a:rPr sz="1100" spc="229"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support </a:t>
            </a:r>
            <a:r>
              <a:rPr sz="1100" dirty="0">
                <a:latin typeface="Times New Roman" panose="02020603050405020304"/>
                <a:cs typeface="Times New Roman" panose="02020603050405020304"/>
              </a:rPr>
              <a:t>throughout</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this</a:t>
            </a:r>
            <a:r>
              <a:rPr sz="1100" spc="10" dirty="0">
                <a:latin typeface="Times New Roman" panose="02020603050405020304"/>
                <a:cs typeface="Times New Roman" panose="02020603050405020304"/>
              </a:rPr>
              <a:t> </a:t>
            </a:r>
            <a:r>
              <a:rPr sz="1100" dirty="0">
                <a:latin typeface="Times New Roman" panose="02020603050405020304"/>
                <a:cs typeface="Times New Roman" panose="02020603050405020304"/>
              </a:rPr>
              <a:t>Main</a:t>
            </a:r>
            <a:r>
              <a:rPr sz="1100" spc="-30"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Project.</a:t>
            </a:r>
            <a:endParaRPr sz="1100">
              <a:latin typeface="Times New Roman" panose="02020603050405020304"/>
              <a:cs typeface="Times New Roman" panose="02020603050405020304"/>
            </a:endParaRPr>
          </a:p>
          <a:p>
            <a:pPr>
              <a:lnSpc>
                <a:spcPct val="100000"/>
              </a:lnSpc>
            </a:pPr>
            <a:endParaRPr sz="1100">
              <a:latin typeface="Times New Roman" panose="02020603050405020304"/>
              <a:cs typeface="Times New Roman" panose="02020603050405020304"/>
            </a:endParaRPr>
          </a:p>
          <a:p>
            <a:pPr>
              <a:lnSpc>
                <a:spcPct val="100000"/>
              </a:lnSpc>
              <a:spcBef>
                <a:spcPts val="120"/>
              </a:spcBef>
            </a:pPr>
            <a:endParaRPr sz="1100">
              <a:latin typeface="Times New Roman" panose="02020603050405020304"/>
              <a:cs typeface="Times New Roman" panose="02020603050405020304"/>
            </a:endParaRPr>
          </a:p>
          <a:p>
            <a:pPr marL="12700" marR="70485" algn="just">
              <a:lnSpc>
                <a:spcPct val="148000"/>
              </a:lnSpc>
              <a:spcBef>
                <a:spcPts val="5"/>
              </a:spcBef>
            </a:pPr>
            <a:r>
              <a:rPr sz="1100" dirty="0">
                <a:latin typeface="Times New Roman" panose="02020603050405020304"/>
                <a:cs typeface="Times New Roman" panose="02020603050405020304"/>
              </a:rPr>
              <a:t>I</a:t>
            </a:r>
            <a:r>
              <a:rPr sz="1100" spc="300" dirty="0">
                <a:latin typeface="Times New Roman" panose="02020603050405020304"/>
                <a:cs typeface="Times New Roman" panose="02020603050405020304"/>
              </a:rPr>
              <a:t> </a:t>
            </a:r>
            <a:r>
              <a:rPr sz="1100" dirty="0">
                <a:latin typeface="Times New Roman" panose="02020603050405020304"/>
                <a:cs typeface="Times New Roman" panose="02020603050405020304"/>
              </a:rPr>
              <a:t>would</a:t>
            </a:r>
            <a:r>
              <a:rPr sz="1100" spc="280" dirty="0">
                <a:latin typeface="Times New Roman" panose="02020603050405020304"/>
                <a:cs typeface="Times New Roman" panose="02020603050405020304"/>
              </a:rPr>
              <a:t> </a:t>
            </a:r>
            <a:r>
              <a:rPr sz="1100" dirty="0">
                <a:latin typeface="Times New Roman" panose="02020603050405020304"/>
                <a:cs typeface="Times New Roman" panose="02020603050405020304"/>
              </a:rPr>
              <a:t>like</a:t>
            </a:r>
            <a:r>
              <a:rPr sz="1100" spc="275"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280" dirty="0">
                <a:latin typeface="Times New Roman" panose="02020603050405020304"/>
                <a:cs typeface="Times New Roman" panose="02020603050405020304"/>
              </a:rPr>
              <a:t> </a:t>
            </a:r>
            <a:r>
              <a:rPr sz="1100" dirty="0">
                <a:latin typeface="Times New Roman" panose="02020603050405020304"/>
                <a:cs typeface="Times New Roman" panose="02020603050405020304"/>
              </a:rPr>
              <a:t>sincerely</a:t>
            </a:r>
            <a:r>
              <a:rPr sz="1100" spc="280" dirty="0">
                <a:latin typeface="Times New Roman" panose="02020603050405020304"/>
                <a:cs typeface="Times New Roman" panose="02020603050405020304"/>
              </a:rPr>
              <a:t> </a:t>
            </a:r>
            <a:r>
              <a:rPr sz="1100" dirty="0">
                <a:latin typeface="Times New Roman" panose="02020603050405020304"/>
                <a:cs typeface="Times New Roman" panose="02020603050405020304"/>
              </a:rPr>
              <a:t>thank</a:t>
            </a:r>
            <a:r>
              <a:rPr sz="1100" spc="310"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Mr.</a:t>
            </a:r>
            <a:r>
              <a:rPr lang="en-US" altLang="en-US" sz="1100" b="1" dirty="0">
                <a:latin typeface="Times New Roman" panose="02020603050405020304"/>
                <a:cs typeface="Times New Roman" panose="02020603050405020304"/>
              </a:rPr>
              <a:t>Pradeep</a:t>
            </a:r>
            <a:r>
              <a:rPr sz="1100" b="1" spc="325"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Kumar,</a:t>
            </a:r>
            <a:r>
              <a:rPr sz="1100" b="1" spc="325"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Assistant</a:t>
            </a:r>
            <a:r>
              <a:rPr sz="1100" b="1" spc="305" dirty="0">
                <a:latin typeface="Times New Roman" panose="02020603050405020304"/>
                <a:cs typeface="Times New Roman" panose="02020603050405020304"/>
              </a:rPr>
              <a:t> </a:t>
            </a:r>
            <a:r>
              <a:rPr sz="1100" dirty="0">
                <a:latin typeface="Times New Roman" panose="02020603050405020304"/>
                <a:cs typeface="Times New Roman" panose="02020603050405020304"/>
              </a:rPr>
              <a:t>Professor&amp;</a:t>
            </a:r>
            <a:r>
              <a:rPr sz="1100" spc="315" dirty="0">
                <a:latin typeface="Times New Roman" panose="02020603050405020304"/>
                <a:cs typeface="Times New Roman" panose="02020603050405020304"/>
              </a:rPr>
              <a:t> </a:t>
            </a:r>
            <a:r>
              <a:rPr sz="1100" spc="-20" dirty="0">
                <a:latin typeface="Times New Roman" panose="02020603050405020304"/>
                <a:cs typeface="Times New Roman" panose="02020603050405020304"/>
              </a:rPr>
              <a:t>HOD, </a:t>
            </a:r>
            <a:r>
              <a:rPr sz="1100" dirty="0">
                <a:latin typeface="Times New Roman" panose="02020603050405020304"/>
                <a:cs typeface="Times New Roman" panose="02020603050405020304"/>
              </a:rPr>
              <a:t>Department</a:t>
            </a:r>
            <a:r>
              <a:rPr sz="1100" spc="90"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65" dirty="0">
                <a:latin typeface="Times New Roman" panose="02020603050405020304"/>
                <a:cs typeface="Times New Roman" panose="02020603050405020304"/>
              </a:rPr>
              <a:t> </a:t>
            </a:r>
            <a:r>
              <a:rPr lang="en-US" altLang="en-US" sz="1100" spc="65" dirty="0">
                <a:latin typeface="Times New Roman" panose="02020603050405020304"/>
                <a:cs typeface="Times New Roman" panose="02020603050405020304"/>
              </a:rPr>
              <a:t>Artificial Intelligence &amp; Machine Learning</a:t>
            </a:r>
            <a:r>
              <a:rPr sz="1100" dirty="0">
                <a:latin typeface="Times New Roman" panose="02020603050405020304"/>
                <a:cs typeface="Times New Roman" panose="02020603050405020304"/>
              </a:rPr>
              <a:t>,</a:t>
            </a:r>
            <a:r>
              <a:rPr sz="1100" spc="75" dirty="0">
                <a:latin typeface="Times New Roman" panose="02020603050405020304"/>
                <a:cs typeface="Times New Roman" panose="02020603050405020304"/>
              </a:rPr>
              <a:t> </a:t>
            </a:r>
            <a:r>
              <a:rPr sz="1100" dirty="0">
                <a:latin typeface="Times New Roman" panose="02020603050405020304"/>
                <a:cs typeface="Times New Roman" panose="02020603050405020304"/>
              </a:rPr>
              <a:t>for</a:t>
            </a:r>
            <a:r>
              <a:rPr sz="1100" spc="100" dirty="0">
                <a:latin typeface="Times New Roman" panose="02020603050405020304"/>
                <a:cs typeface="Times New Roman" panose="02020603050405020304"/>
              </a:rPr>
              <a:t> </a:t>
            </a:r>
            <a:r>
              <a:rPr sz="1100" dirty="0">
                <a:latin typeface="Times New Roman" panose="02020603050405020304"/>
                <a:cs typeface="Times New Roman" panose="02020603050405020304"/>
              </a:rPr>
              <a:t>providing</a:t>
            </a:r>
            <a:r>
              <a:rPr sz="1100" spc="40" dirty="0">
                <a:latin typeface="Times New Roman" panose="02020603050405020304"/>
                <a:cs typeface="Times New Roman" panose="02020603050405020304"/>
              </a:rPr>
              <a:t> </a:t>
            </a:r>
            <a:r>
              <a:rPr sz="1100" dirty="0">
                <a:latin typeface="Times New Roman" panose="02020603050405020304"/>
                <a:cs typeface="Times New Roman" panose="02020603050405020304"/>
              </a:rPr>
              <a:t>all</a:t>
            </a:r>
            <a:r>
              <a:rPr sz="1100" spc="4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a:t>
            </a:r>
            <a:r>
              <a:rPr sz="1100" spc="55" dirty="0">
                <a:latin typeface="Times New Roman" panose="02020603050405020304"/>
                <a:cs typeface="Times New Roman" panose="02020603050405020304"/>
              </a:rPr>
              <a:t> </a:t>
            </a:r>
            <a:r>
              <a:rPr sz="1100" dirty="0">
                <a:latin typeface="Times New Roman" panose="02020603050405020304"/>
                <a:cs typeface="Times New Roman" panose="02020603050405020304"/>
              </a:rPr>
              <a:t>necessary</a:t>
            </a:r>
            <a:r>
              <a:rPr sz="1100" spc="40" dirty="0">
                <a:latin typeface="Times New Roman" panose="02020603050405020304"/>
                <a:cs typeface="Times New Roman" panose="02020603050405020304"/>
              </a:rPr>
              <a:t> </a:t>
            </a:r>
            <a:r>
              <a:rPr sz="1100" dirty="0">
                <a:latin typeface="Times New Roman" panose="02020603050405020304"/>
                <a:cs typeface="Times New Roman" panose="02020603050405020304"/>
              </a:rPr>
              <a:t>facilities</a:t>
            </a:r>
            <a:r>
              <a:rPr sz="1100" spc="65" dirty="0">
                <a:latin typeface="Times New Roman" panose="02020603050405020304"/>
                <a:cs typeface="Times New Roman" panose="02020603050405020304"/>
              </a:rPr>
              <a:t> </a:t>
            </a:r>
            <a:r>
              <a:rPr sz="1100" spc="-20" dirty="0">
                <a:latin typeface="Times New Roman" panose="02020603050405020304"/>
                <a:cs typeface="Times New Roman" panose="02020603050405020304"/>
              </a:rPr>
              <a:t>that </a:t>
            </a:r>
            <a:r>
              <a:rPr sz="1100" dirty="0">
                <a:latin typeface="Times New Roman" panose="02020603050405020304"/>
                <a:cs typeface="Times New Roman" panose="02020603050405020304"/>
              </a:rPr>
              <a:t>led</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successful</a:t>
            </a:r>
            <a:r>
              <a:rPr sz="1100" spc="-10" dirty="0">
                <a:latin typeface="Times New Roman" panose="02020603050405020304"/>
                <a:cs typeface="Times New Roman" panose="02020603050405020304"/>
              </a:rPr>
              <a:t> </a:t>
            </a:r>
            <a:r>
              <a:rPr sz="1100" dirty="0">
                <a:latin typeface="Times New Roman" panose="02020603050405020304"/>
                <a:cs typeface="Times New Roman" panose="02020603050405020304"/>
              </a:rPr>
              <a:t>completion</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my</a:t>
            </a:r>
            <a:r>
              <a:rPr sz="1100" spc="-15"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report.</a:t>
            </a:r>
            <a:endParaRPr sz="1100">
              <a:latin typeface="Times New Roman" panose="02020603050405020304"/>
              <a:cs typeface="Times New Roman" panose="02020603050405020304"/>
            </a:endParaRPr>
          </a:p>
          <a:p>
            <a:pPr>
              <a:lnSpc>
                <a:spcPct val="100000"/>
              </a:lnSpc>
              <a:spcBef>
                <a:spcPts val="680"/>
              </a:spcBef>
            </a:pPr>
            <a:endParaRPr sz="1100">
              <a:latin typeface="Times New Roman" panose="02020603050405020304"/>
              <a:cs typeface="Times New Roman" panose="02020603050405020304"/>
            </a:endParaRPr>
          </a:p>
          <a:p>
            <a:pPr marL="12700" marR="69850" algn="just">
              <a:lnSpc>
                <a:spcPct val="147000"/>
              </a:lnSpc>
            </a:pPr>
            <a:r>
              <a:rPr sz="1100" dirty="0">
                <a:latin typeface="Times New Roman" panose="02020603050405020304"/>
                <a:cs typeface="Times New Roman" panose="02020603050405020304"/>
              </a:rPr>
              <a:t>I</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take</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privilege</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thank</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our</a:t>
            </a:r>
            <a:r>
              <a:rPr sz="1100" spc="45" dirty="0">
                <a:latin typeface="Times New Roman" panose="02020603050405020304"/>
                <a:cs typeface="Times New Roman" panose="02020603050405020304"/>
              </a:rPr>
              <a:t> </a:t>
            </a:r>
            <a:r>
              <a:rPr sz="1100" dirty="0">
                <a:latin typeface="Times New Roman" panose="02020603050405020304"/>
                <a:cs typeface="Times New Roman" panose="02020603050405020304"/>
              </a:rPr>
              <a:t>Principal</a:t>
            </a:r>
            <a:r>
              <a:rPr sz="1100" spc="30"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Dr.</a:t>
            </a:r>
            <a:r>
              <a:rPr sz="1100" b="1" spc="45"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Y.</a:t>
            </a:r>
            <a:r>
              <a:rPr sz="1100" b="1" spc="40" dirty="0">
                <a:latin typeface="Times New Roman" panose="02020603050405020304"/>
                <a:cs typeface="Times New Roman" panose="02020603050405020304"/>
              </a:rPr>
              <a:t> </a:t>
            </a:r>
            <a:r>
              <a:rPr sz="1100" b="1" dirty="0">
                <a:latin typeface="Times New Roman" panose="02020603050405020304"/>
                <a:cs typeface="Times New Roman" panose="02020603050405020304"/>
              </a:rPr>
              <a:t>Srinivasa Rao</a:t>
            </a:r>
            <a:r>
              <a:rPr sz="1100" b="1" spc="65" dirty="0">
                <a:latin typeface="Times New Roman" panose="02020603050405020304"/>
                <a:cs typeface="Times New Roman" panose="02020603050405020304"/>
              </a:rPr>
              <a:t> </a:t>
            </a:r>
            <a:r>
              <a:rPr sz="1100" dirty="0">
                <a:latin typeface="Times New Roman" panose="02020603050405020304"/>
                <a:cs typeface="Times New Roman" panose="02020603050405020304"/>
              </a:rPr>
              <a:t>who</a:t>
            </a:r>
            <a:r>
              <a:rPr sz="1100" spc="30" dirty="0">
                <a:latin typeface="Times New Roman" panose="02020603050405020304"/>
                <a:cs typeface="Times New Roman" panose="02020603050405020304"/>
              </a:rPr>
              <a:t> </a:t>
            </a:r>
            <a:r>
              <a:rPr sz="1100" dirty="0">
                <a:latin typeface="Times New Roman" panose="02020603050405020304"/>
                <a:cs typeface="Times New Roman" panose="02020603050405020304"/>
              </a:rPr>
              <a:t>have</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made</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atmosphere</a:t>
            </a:r>
            <a:r>
              <a:rPr sz="1100" spc="-5" dirty="0">
                <a:latin typeface="Times New Roman" panose="02020603050405020304"/>
                <a:cs typeface="Times New Roman" panose="02020603050405020304"/>
              </a:rPr>
              <a:t> </a:t>
            </a:r>
            <a:r>
              <a:rPr sz="1100" spc="-25" dirty="0">
                <a:latin typeface="Times New Roman" panose="02020603050405020304"/>
                <a:cs typeface="Times New Roman" panose="02020603050405020304"/>
              </a:rPr>
              <a:t>so </a:t>
            </a:r>
            <a:r>
              <a:rPr sz="1100" dirty="0">
                <a:latin typeface="Times New Roman" panose="02020603050405020304"/>
                <a:cs typeface="Times New Roman" panose="02020603050405020304"/>
              </a:rPr>
              <a:t>easy</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work.</a:t>
            </a:r>
            <a:r>
              <a:rPr sz="1100" spc="10" dirty="0">
                <a:latin typeface="Times New Roman" panose="02020603050405020304"/>
                <a:cs typeface="Times New Roman" panose="02020603050405020304"/>
              </a:rPr>
              <a:t> </a:t>
            </a:r>
            <a:r>
              <a:rPr sz="1100" dirty="0">
                <a:latin typeface="Times New Roman" panose="02020603050405020304"/>
                <a:cs typeface="Times New Roman" panose="02020603050405020304"/>
              </a:rPr>
              <a:t>I</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shall</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always</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be</a:t>
            </a:r>
            <a:r>
              <a:rPr sz="1100" spc="-30" dirty="0">
                <a:latin typeface="Times New Roman" panose="02020603050405020304"/>
                <a:cs typeface="Times New Roman" panose="02020603050405020304"/>
              </a:rPr>
              <a:t> </a:t>
            </a:r>
            <a:r>
              <a:rPr sz="1100" dirty="0">
                <a:latin typeface="Times New Roman" panose="02020603050405020304"/>
                <a:cs typeface="Times New Roman" panose="02020603050405020304"/>
              </a:rPr>
              <a:t>indebted</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15" dirty="0">
                <a:latin typeface="Times New Roman" panose="02020603050405020304"/>
                <a:cs typeface="Times New Roman" panose="02020603050405020304"/>
              </a:rPr>
              <a:t> </a:t>
            </a:r>
            <a:r>
              <a:rPr sz="1100" spc="-20" dirty="0">
                <a:latin typeface="Times New Roman" panose="02020603050405020304"/>
                <a:cs typeface="Times New Roman" panose="02020603050405020304"/>
              </a:rPr>
              <a:t>them.</a:t>
            </a:r>
            <a:endParaRPr sz="1100">
              <a:latin typeface="Times New Roman" panose="02020603050405020304"/>
              <a:cs typeface="Times New Roman" panose="02020603050405020304"/>
            </a:endParaRPr>
          </a:p>
          <a:p>
            <a:pPr>
              <a:lnSpc>
                <a:spcPct val="100000"/>
              </a:lnSpc>
              <a:spcBef>
                <a:spcPts val="640"/>
              </a:spcBef>
            </a:pPr>
            <a:endParaRPr sz="1100">
              <a:latin typeface="Times New Roman" panose="02020603050405020304"/>
              <a:cs typeface="Times New Roman" panose="02020603050405020304"/>
            </a:endParaRPr>
          </a:p>
          <a:p>
            <a:pPr marL="12700" marR="78740" algn="just">
              <a:lnSpc>
                <a:spcPct val="148000"/>
              </a:lnSpc>
            </a:pPr>
            <a:r>
              <a:rPr sz="1100" dirty="0">
                <a:latin typeface="Times New Roman" panose="02020603050405020304"/>
                <a:cs typeface="Times New Roman" panose="02020603050405020304"/>
              </a:rPr>
              <a:t>I</a:t>
            </a:r>
            <a:r>
              <a:rPr sz="1100" spc="229" dirty="0">
                <a:latin typeface="Times New Roman" panose="02020603050405020304"/>
                <a:cs typeface="Times New Roman" panose="02020603050405020304"/>
              </a:rPr>
              <a:t> </a:t>
            </a:r>
            <a:r>
              <a:rPr sz="1100" dirty="0">
                <a:latin typeface="Times New Roman" panose="02020603050405020304"/>
                <a:cs typeface="Times New Roman" panose="02020603050405020304"/>
              </a:rPr>
              <a:t>would</a:t>
            </a:r>
            <a:r>
              <a:rPr sz="1100" spc="240" dirty="0">
                <a:latin typeface="Times New Roman" panose="02020603050405020304"/>
                <a:cs typeface="Times New Roman" panose="02020603050405020304"/>
              </a:rPr>
              <a:t> </a:t>
            </a:r>
            <a:r>
              <a:rPr sz="1100" dirty="0">
                <a:latin typeface="Times New Roman" panose="02020603050405020304"/>
                <a:cs typeface="Times New Roman" panose="02020603050405020304"/>
              </a:rPr>
              <a:t>like</a:t>
            </a:r>
            <a:r>
              <a:rPr sz="1100" spc="204" dirty="0">
                <a:latin typeface="Times New Roman" panose="02020603050405020304"/>
                <a:cs typeface="Times New Roman" panose="02020603050405020304"/>
              </a:rPr>
              <a:t> </a:t>
            </a:r>
            <a:r>
              <a:rPr sz="1100" dirty="0">
                <a:latin typeface="Times New Roman" panose="02020603050405020304"/>
                <a:cs typeface="Times New Roman" panose="02020603050405020304"/>
              </a:rPr>
              <a:t>to</a:t>
            </a:r>
            <a:r>
              <a:rPr sz="1100" spc="21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thank</a:t>
            </a:r>
            <a:r>
              <a:rPr sz="1100" spc="215" dirty="0">
                <a:latin typeface="Times New Roman" panose="02020603050405020304"/>
                <a:cs typeface="Times New Roman" panose="02020603050405020304"/>
              </a:rPr>
              <a:t> </a:t>
            </a:r>
            <a:r>
              <a:rPr sz="1100" dirty="0">
                <a:latin typeface="Times New Roman" panose="02020603050405020304"/>
                <a:cs typeface="Times New Roman" panose="02020603050405020304"/>
              </a:rPr>
              <a:t>all</a:t>
            </a:r>
            <a:r>
              <a:rPr sz="1100" spc="220"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a:t>
            </a:r>
            <a:r>
              <a:rPr sz="1100" spc="204" dirty="0">
                <a:latin typeface="Times New Roman" panose="02020603050405020304"/>
                <a:cs typeface="Times New Roman" panose="02020603050405020304"/>
              </a:rPr>
              <a:t> </a:t>
            </a:r>
            <a:r>
              <a:rPr sz="1100" dirty="0">
                <a:latin typeface="Times New Roman" panose="02020603050405020304"/>
                <a:cs typeface="Times New Roman" panose="02020603050405020304"/>
              </a:rPr>
              <a:t>faculty</a:t>
            </a:r>
            <a:r>
              <a:rPr sz="1100" spc="240" dirty="0">
                <a:latin typeface="Times New Roman" panose="02020603050405020304"/>
                <a:cs typeface="Times New Roman" panose="02020603050405020304"/>
              </a:rPr>
              <a:t> </a:t>
            </a:r>
            <a:r>
              <a:rPr sz="1100" dirty="0">
                <a:latin typeface="Times New Roman" panose="02020603050405020304"/>
                <a:cs typeface="Times New Roman" panose="02020603050405020304"/>
              </a:rPr>
              <a:t>members</a:t>
            </a:r>
            <a:r>
              <a:rPr sz="1100" spc="240"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23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a:t>
            </a:r>
            <a:r>
              <a:rPr sz="1100" spc="204" dirty="0">
                <a:latin typeface="Times New Roman" panose="02020603050405020304"/>
                <a:cs typeface="Times New Roman" panose="02020603050405020304"/>
              </a:rPr>
              <a:t> </a:t>
            </a:r>
            <a:r>
              <a:rPr sz="1100" dirty="0">
                <a:latin typeface="Times New Roman" panose="02020603050405020304"/>
                <a:cs typeface="Times New Roman" panose="02020603050405020304"/>
              </a:rPr>
              <a:t>Department</a:t>
            </a:r>
            <a:r>
              <a:rPr sz="1100" spc="270"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285" dirty="0">
                <a:latin typeface="Times New Roman" panose="02020603050405020304"/>
                <a:cs typeface="Times New Roman" panose="02020603050405020304"/>
              </a:rPr>
              <a:t> </a:t>
            </a:r>
            <a:r>
              <a:rPr lang="en-US" altLang="en-US" sz="1100" spc="65" dirty="0">
                <a:latin typeface="Times New Roman" panose="02020603050405020304"/>
                <a:cs typeface="Times New Roman" panose="02020603050405020304"/>
                <a:sym typeface="+mn-ea"/>
              </a:rPr>
              <a:t>Artificial Intelligence &amp; Machine Learning</a:t>
            </a:r>
            <a:r>
              <a:rPr sz="1100" dirty="0">
                <a:latin typeface="Times New Roman" panose="02020603050405020304"/>
                <a:cs typeface="Times New Roman" panose="02020603050405020304"/>
              </a:rPr>
              <a:t> for</a:t>
            </a:r>
            <a:r>
              <a:rPr sz="1100" spc="3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their</a:t>
            </a:r>
            <a:r>
              <a:rPr sz="1100" spc="35" dirty="0">
                <a:latin typeface="Times New Roman" panose="02020603050405020304"/>
                <a:cs typeface="Times New Roman" panose="02020603050405020304"/>
              </a:rPr>
              <a:t> </a:t>
            </a:r>
            <a:r>
              <a:rPr sz="1100" dirty="0">
                <a:latin typeface="Times New Roman" panose="02020603050405020304"/>
                <a:cs typeface="Times New Roman" panose="02020603050405020304"/>
              </a:rPr>
              <a:t>direct</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or</a:t>
            </a:r>
            <a:r>
              <a:rPr sz="1100" spc="35" dirty="0">
                <a:latin typeface="Times New Roman" panose="02020603050405020304"/>
                <a:cs typeface="Times New Roman" panose="02020603050405020304"/>
              </a:rPr>
              <a:t> </a:t>
            </a:r>
            <a:r>
              <a:rPr sz="1100" dirty="0">
                <a:latin typeface="Times New Roman" panose="02020603050405020304"/>
                <a:cs typeface="Times New Roman" panose="02020603050405020304"/>
              </a:rPr>
              <a:t>indirect</a:t>
            </a:r>
            <a:r>
              <a:rPr sz="1100" spc="30" dirty="0">
                <a:latin typeface="Times New Roman" panose="02020603050405020304"/>
                <a:cs typeface="Times New Roman" panose="02020603050405020304"/>
              </a:rPr>
              <a:t> </a:t>
            </a:r>
            <a:r>
              <a:rPr sz="1100" dirty="0">
                <a:latin typeface="Times New Roman" panose="02020603050405020304"/>
                <a:cs typeface="Times New Roman" panose="02020603050405020304"/>
              </a:rPr>
              <a:t>support and</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also</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all the</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lab</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technicians</a:t>
            </a:r>
            <a:r>
              <a:rPr sz="1100" spc="20" dirty="0">
                <a:latin typeface="Times New Roman" panose="02020603050405020304"/>
                <a:cs typeface="Times New Roman" panose="02020603050405020304"/>
              </a:rPr>
              <a:t> </a:t>
            </a:r>
            <a:r>
              <a:rPr sz="1100" dirty="0">
                <a:latin typeface="Times New Roman" panose="02020603050405020304"/>
                <a:cs typeface="Times New Roman" panose="02020603050405020304"/>
              </a:rPr>
              <a:t>for</a:t>
            </a:r>
            <a:r>
              <a:rPr sz="1100" spc="3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their</a:t>
            </a:r>
            <a:r>
              <a:rPr sz="1100" spc="35"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valuable </a:t>
            </a:r>
            <a:r>
              <a:rPr sz="1100" dirty="0">
                <a:latin typeface="Times New Roman" panose="02020603050405020304"/>
                <a:cs typeface="Times New Roman" panose="02020603050405020304"/>
              </a:rPr>
              <a:t>suggestions</a:t>
            </a:r>
            <a:r>
              <a:rPr sz="1100" spc="-10" dirty="0">
                <a:latin typeface="Times New Roman" panose="02020603050405020304"/>
                <a:cs typeface="Times New Roman" panose="02020603050405020304"/>
              </a:rPr>
              <a:t> </a:t>
            </a:r>
            <a:r>
              <a:rPr sz="1100" dirty="0">
                <a:latin typeface="Times New Roman" panose="02020603050405020304"/>
                <a:cs typeface="Times New Roman" panose="02020603050405020304"/>
              </a:rPr>
              <a:t>and</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providing</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excellent</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opportunities</a:t>
            </a:r>
            <a:r>
              <a:rPr sz="1100" spc="-5" dirty="0">
                <a:latin typeface="Times New Roman" panose="02020603050405020304"/>
                <a:cs typeface="Times New Roman" panose="02020603050405020304"/>
              </a:rPr>
              <a:t> </a:t>
            </a:r>
            <a:r>
              <a:rPr sz="1100" dirty="0">
                <a:latin typeface="Times New Roman" panose="02020603050405020304"/>
                <a:cs typeface="Times New Roman" panose="02020603050405020304"/>
              </a:rPr>
              <a:t>in</a:t>
            </a:r>
            <a:r>
              <a:rPr sz="1100" spc="-30" dirty="0">
                <a:latin typeface="Times New Roman" panose="02020603050405020304"/>
                <a:cs typeface="Times New Roman" panose="02020603050405020304"/>
              </a:rPr>
              <a:t> </a:t>
            </a:r>
            <a:r>
              <a:rPr sz="1100" dirty="0">
                <a:latin typeface="Times New Roman" panose="02020603050405020304"/>
                <a:cs typeface="Times New Roman" panose="02020603050405020304"/>
              </a:rPr>
              <a:t>completion</a:t>
            </a:r>
            <a:r>
              <a:rPr sz="1100" spc="-25" dirty="0">
                <a:latin typeface="Times New Roman" panose="02020603050405020304"/>
                <a:cs typeface="Times New Roman" panose="02020603050405020304"/>
              </a:rPr>
              <a:t> </a:t>
            </a:r>
            <a:r>
              <a:rPr sz="1100" dirty="0">
                <a:latin typeface="Times New Roman" panose="02020603050405020304"/>
                <a:cs typeface="Times New Roman" panose="02020603050405020304"/>
              </a:rPr>
              <a:t>of</a:t>
            </a:r>
            <a:r>
              <a:rPr sz="1100" spc="-15" dirty="0">
                <a:latin typeface="Times New Roman" panose="02020603050405020304"/>
                <a:cs typeface="Times New Roman" panose="02020603050405020304"/>
              </a:rPr>
              <a:t> </a:t>
            </a:r>
            <a:r>
              <a:rPr sz="1100" dirty="0">
                <a:latin typeface="Times New Roman" panose="02020603050405020304"/>
                <a:cs typeface="Times New Roman" panose="02020603050405020304"/>
              </a:rPr>
              <a:t>this</a:t>
            </a:r>
            <a:r>
              <a:rPr sz="1100" spc="-5" dirty="0">
                <a:latin typeface="Times New Roman" panose="02020603050405020304"/>
                <a:cs typeface="Times New Roman" panose="02020603050405020304"/>
              </a:rPr>
              <a:t> </a:t>
            </a:r>
            <a:r>
              <a:rPr sz="1100" spc="-10" dirty="0">
                <a:latin typeface="Times New Roman" panose="02020603050405020304"/>
                <a:cs typeface="Times New Roman" panose="02020603050405020304"/>
              </a:rPr>
              <a:t>report.</a:t>
            </a:r>
            <a:endParaRPr sz="1100">
              <a:latin typeface="Times New Roman" panose="02020603050405020304"/>
              <a:cs typeface="Times New Roman" panose="02020603050405020304"/>
            </a:endParaRPr>
          </a:p>
        </p:txBody>
      </p:sp>
      <p:graphicFrame>
        <p:nvGraphicFramePr>
          <p:cNvPr id="3" name="object 3"/>
          <p:cNvGraphicFramePr>
            <a:graphicFrameLocks noGrp="1"/>
          </p:cNvGraphicFramePr>
          <p:nvPr/>
        </p:nvGraphicFramePr>
        <p:xfrm>
          <a:off x="3172967" y="7021336"/>
          <a:ext cx="3399154" cy="1497965"/>
        </p:xfrm>
        <a:graphic>
          <a:graphicData uri="http://schemas.openxmlformats.org/drawingml/2006/table">
            <a:tbl>
              <a:tblPr firstRow="1" bandRow="1">
                <a:tableStyleId>{2D5ABB26-0587-4C30-8999-92F81FD0307C}</a:tableStyleId>
              </a:tblPr>
              <a:tblGrid>
                <a:gridCol w="2008505"/>
                <a:gridCol w="1313815"/>
              </a:tblGrid>
              <a:tr h="223520">
                <a:tc>
                  <a:txBody>
                    <a:bodyPr/>
                    <a:lstStyle/>
                    <a:p>
                      <a:pPr marL="31750">
                        <a:lnSpc>
                          <a:spcPts val="1415"/>
                        </a:lnSpc>
                      </a:pPr>
                      <a:r>
                        <a:rPr lang="en-US" sz="1300" b="1">
                          <a:latin typeface="Times New Roman" panose="02020603050405020304"/>
                          <a:cs typeface="Times New Roman" panose="02020603050405020304"/>
                        </a:rPr>
                        <a:t>B. Rajasekhar</a:t>
                      </a:r>
                      <a:endParaRPr lang="en-US" sz="1300" b="1">
                        <a:latin typeface="Times New Roman" panose="02020603050405020304"/>
                        <a:cs typeface="Times New Roman" panose="02020603050405020304"/>
                      </a:endParaRPr>
                    </a:p>
                  </a:txBody>
                  <a:tcPr marL="0" marR="0" marT="0" marB="0"/>
                </a:tc>
                <a:tc>
                  <a:txBody>
                    <a:bodyPr/>
                    <a:lstStyle/>
                    <a:p>
                      <a:pPr marR="24130" algn="r">
                        <a:lnSpc>
                          <a:spcPts val="1415"/>
                        </a:lnSpc>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W61A6105</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0" marB="0"/>
                </a:tc>
              </a:tr>
              <a:tr h="264795">
                <a:tc>
                  <a:txBody>
                    <a:bodyPr/>
                    <a:lstStyle/>
                    <a:p>
                      <a:pPr marL="31750">
                        <a:lnSpc>
                          <a:spcPct val="100000"/>
                        </a:lnSpc>
                        <a:spcBef>
                          <a:spcPts val="180"/>
                        </a:spcBef>
                      </a:pPr>
                      <a:r>
                        <a:rPr lang="en-US" sz="1300" b="1">
                          <a:latin typeface="Times New Roman" panose="02020603050405020304"/>
                          <a:cs typeface="Times New Roman" panose="02020603050405020304"/>
                        </a:rPr>
                        <a:t>A. Durga Prasad</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W61A6102</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66700">
                <a:tc>
                  <a:txBody>
                    <a:bodyPr/>
                    <a:lstStyle/>
                    <a:p>
                      <a:pPr marL="31750">
                        <a:lnSpc>
                          <a:spcPct val="100000"/>
                        </a:lnSpc>
                        <a:spcBef>
                          <a:spcPts val="180"/>
                        </a:spcBef>
                      </a:pPr>
                      <a:r>
                        <a:rPr lang="en-US" sz="1300" b="1">
                          <a:latin typeface="Times New Roman" panose="02020603050405020304"/>
                          <a:cs typeface="Times New Roman" panose="02020603050405020304"/>
                        </a:rPr>
                        <a:t>B. Tejaswani</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W61A6107</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64795">
                <a:tc>
                  <a:txBody>
                    <a:bodyPr/>
                    <a:lstStyle/>
                    <a:p>
                      <a:pPr marL="31750">
                        <a:lnSpc>
                          <a:spcPct val="100000"/>
                        </a:lnSpc>
                        <a:spcBef>
                          <a:spcPts val="180"/>
                        </a:spcBef>
                      </a:pPr>
                      <a:r>
                        <a:rPr lang="en-US" sz="1300" b="1">
                          <a:latin typeface="Times New Roman" panose="02020603050405020304"/>
                          <a:cs typeface="Times New Roman" panose="02020603050405020304"/>
                        </a:rPr>
                        <a:t>CH. Santhosh</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(22</a:t>
                      </a:r>
                      <a:r>
                        <a:rPr lang="en-US" sz="1300" b="1" spc="-10" dirty="0">
                          <a:latin typeface="Times New Roman" panose="02020603050405020304"/>
                          <a:cs typeface="Times New Roman" panose="02020603050405020304"/>
                        </a:rPr>
                        <a:t>W61A6109</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59079">
                <a:tc>
                  <a:txBody>
                    <a:bodyPr/>
                    <a:lstStyle/>
                    <a:p>
                      <a:pPr marL="31750">
                        <a:lnSpc>
                          <a:spcPct val="100000"/>
                        </a:lnSpc>
                        <a:spcBef>
                          <a:spcPts val="180"/>
                        </a:spcBef>
                      </a:pPr>
                      <a:r>
                        <a:rPr lang="en-US" sz="1300" b="1">
                          <a:latin typeface="Times New Roman" panose="02020603050405020304"/>
                          <a:cs typeface="Times New Roman" panose="02020603050405020304"/>
                        </a:rPr>
                        <a:t>T. Gnana Deepthi</a:t>
                      </a:r>
                      <a:endParaRPr lang="en-US" sz="1300" b="1">
                        <a:latin typeface="Times New Roman" panose="02020603050405020304"/>
                        <a:cs typeface="Times New Roman" panose="02020603050405020304"/>
                      </a:endParaRPr>
                    </a:p>
                  </a:txBody>
                  <a:tcPr marL="0" marR="0" marT="22860" marB="0"/>
                </a:tc>
                <a:tc>
                  <a:txBody>
                    <a:bodyPr/>
                    <a:lstStyle/>
                    <a:p>
                      <a:pPr marR="24130" algn="r">
                        <a:lnSpc>
                          <a:spcPct val="100000"/>
                        </a:lnSpc>
                        <a:spcBef>
                          <a:spcPts val="180"/>
                        </a:spcBef>
                      </a:pPr>
                      <a:r>
                        <a:rPr sz="1300" b="1" spc="-10" dirty="0">
                          <a:latin typeface="Times New Roman" panose="02020603050405020304"/>
                          <a:cs typeface="Times New Roman" panose="02020603050405020304"/>
                        </a:rPr>
                        <a:t>(2</a:t>
                      </a:r>
                      <a:r>
                        <a:rPr lang="en-US" sz="1300" b="1" spc="-10" dirty="0">
                          <a:latin typeface="Times New Roman" panose="02020603050405020304"/>
                          <a:cs typeface="Times New Roman" panose="02020603050405020304"/>
                        </a:rPr>
                        <a:t>2W61A6143</a:t>
                      </a:r>
                      <a:r>
                        <a:rPr sz="1300" b="1" spc="-10" dirty="0">
                          <a:latin typeface="Times New Roman" panose="02020603050405020304"/>
                          <a:cs typeface="Times New Roman" panose="02020603050405020304"/>
                        </a:rPr>
                        <a:t>)</a:t>
                      </a:r>
                      <a:endParaRPr sz="1300">
                        <a:latin typeface="Times New Roman" panose="02020603050405020304"/>
                        <a:cs typeface="Times New Roman" panose="02020603050405020304"/>
                      </a:endParaRPr>
                    </a:p>
                  </a:txBody>
                  <a:tcPr marL="0" marR="0" marT="22860" marB="0"/>
                </a:tc>
              </a:tr>
              <a:tr h="219075">
                <a:tc>
                  <a:txBody>
                    <a:bodyPr/>
                    <a:lstStyle/>
                    <a:p>
                      <a:pPr marL="31750">
                        <a:lnSpc>
                          <a:spcPts val="1480"/>
                        </a:lnSpc>
                        <a:spcBef>
                          <a:spcPts val="145"/>
                        </a:spcBef>
                      </a:pPr>
                      <a:endParaRPr sz="1300">
                        <a:latin typeface="Times New Roman" panose="02020603050405020304"/>
                        <a:cs typeface="Times New Roman" panose="02020603050405020304"/>
                      </a:endParaRPr>
                    </a:p>
                  </a:txBody>
                  <a:tcPr marL="0" marR="0" marT="18415" marB="0"/>
                </a:tc>
                <a:tc>
                  <a:txBody>
                    <a:bodyPr/>
                    <a:lstStyle/>
                    <a:p>
                      <a:pPr marR="24130" algn="r">
                        <a:lnSpc>
                          <a:spcPts val="1480"/>
                        </a:lnSpc>
                        <a:spcBef>
                          <a:spcPts val="145"/>
                        </a:spcBef>
                      </a:pPr>
                      <a:endParaRPr sz="1300">
                        <a:latin typeface="Times New Roman" panose="02020603050405020304"/>
                        <a:cs typeface="Times New Roman" panose="02020603050405020304"/>
                      </a:endParaRPr>
                    </a:p>
                  </a:txBody>
                  <a:tcPr marL="0" marR="0" marT="18415" marB="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055"/>
              </a:lnSpc>
            </a:pPr>
            <a:fld id="{81D60167-4931-47E6-BA6A-407CBD079E47}" type="slidenum">
              <a:rPr spc="-50" dirty="0"/>
            </a:fld>
            <a:endParaRPr spc="-50" dirty="0"/>
          </a:p>
        </p:txBody>
      </p:sp>
      <p:sp>
        <p:nvSpPr>
          <p:cNvPr id="2" name="object 2"/>
          <p:cNvSpPr txBox="1"/>
          <p:nvPr/>
        </p:nvSpPr>
        <p:spPr>
          <a:xfrm>
            <a:off x="899795" y="619760"/>
            <a:ext cx="5867400" cy="9330690"/>
          </a:xfrm>
          <a:prstGeom prst="rect">
            <a:avLst/>
          </a:prstGeom>
        </p:spPr>
        <p:txBody>
          <a:bodyPr vert="horz" wrap="square" lIns="0" tIns="12065" rIns="0" bIns="0" rtlCol="0">
            <a:noAutofit/>
          </a:bodyPr>
          <a:lstStyle/>
          <a:p>
            <a:pPr marL="12700" marR="5080" algn="just">
              <a:lnSpc>
                <a:spcPct val="147000"/>
              </a:lnSpc>
              <a:spcBef>
                <a:spcPts val="95"/>
              </a:spcBef>
            </a:pPr>
            <a:r>
              <a:rPr sz="1600" b="1" i="1" dirty="0">
                <a:latin typeface="Times New Roman" panose="02020603050405020304"/>
                <a:cs typeface="Times New Roman" panose="02020603050405020304"/>
              </a:rPr>
              <a:t>Abstract:</a:t>
            </a:r>
            <a:r>
              <a:rPr sz="1600" b="1" i="1" spc="170" dirty="0">
                <a:latin typeface="Times New Roman" panose="02020603050405020304"/>
                <a:cs typeface="Times New Roman" panose="02020603050405020304"/>
              </a:rPr>
              <a:t> </a:t>
            </a:r>
            <a:r>
              <a:rPr lang="en-US" altLang="en-US" sz="1100">
                <a:latin typeface="Times New Roman" panose="02020603050405020304"/>
                <a:cs typeface="Times New Roman" panose="02020603050405020304"/>
              </a:rPr>
              <a:t>Stroke risk prediction is critical in preventive healthcare to reduce mortality and improve early intervention. This project identifies patients at high stroke risk by analyzing demographics, clinical metrics, lifestyle factors, and medical history using machine learning. The system employs BMI imputation, label encoding, feature engineering (age groups, glucose categories, risk scores), and dual-dataset training to handle real-world data scarcity. Two ensemble models Model A trained on original healthcare data (5,110 records) and Model B on synthetic data (50,000 records) are built using Gradient Boosting and Random Forest classifiers. Predictions are combined via ensemble averaging with evidence-based clinical rule overrides for hypertension, glucose, and smoking. The solution deploys via a Flask web application with Firebase authentication, prediction history, doctor recommendations, Indian food suggestions, medication tracking, and PDF report generation, providing an accurate, interpretable, and clinically-aware stroke risk decision support system.</a:t>
            </a:r>
            <a:endParaRPr lang="en-US" altLang="en-US" sz="1100">
              <a:latin typeface="Times New Roman" panose="02020603050405020304"/>
              <a:cs typeface="Times New Roman" panose="02020603050405020304"/>
            </a:endParaRPr>
          </a:p>
          <a:p>
            <a:pPr marL="12700" marR="5080" algn="just">
              <a:lnSpc>
                <a:spcPct val="147000"/>
              </a:lnSpc>
              <a:spcBef>
                <a:spcPts val="95"/>
              </a:spcBef>
            </a:pPr>
            <a:endParaRPr lang="en-US" altLang="en-US" sz="1100">
              <a:latin typeface="Times New Roman" panose="02020603050405020304"/>
              <a:cs typeface="Times New Roman" panose="02020603050405020304"/>
            </a:endParaRPr>
          </a:p>
          <a:p>
            <a:pPr marL="12700" marR="5080" algn="just">
              <a:lnSpc>
                <a:spcPct val="147000"/>
              </a:lnSpc>
              <a:spcBef>
                <a:spcPts val="95"/>
              </a:spcBef>
            </a:pPr>
            <a:r>
              <a:rPr lang="en-US" altLang="en-US" sz="1100">
                <a:latin typeface="Times New Roman" panose="02020603050405020304"/>
                <a:cs typeface="Times New Roman" panose="02020603050405020304"/>
              </a:rPr>
              <a:t>EXISTING SOFTWARE:</a:t>
            </a:r>
            <a:endParaRPr lang="en-US" altLang="en-US" sz="1100">
              <a:latin typeface="Times New Roman" panose="02020603050405020304"/>
              <a:cs typeface="Times New Roman" panose="02020603050405020304"/>
            </a:endParaRPr>
          </a:p>
          <a:p>
            <a:pPr marL="12700" marR="5080" algn="just">
              <a:lnSpc>
                <a:spcPct val="147000"/>
              </a:lnSpc>
              <a:spcBef>
                <a:spcPts val="95"/>
              </a:spcBef>
            </a:pPr>
            <a:r>
              <a:rPr lang="en-US" altLang="en-US" sz="1100">
                <a:latin typeface="Times New Roman" panose="02020603050405020304"/>
                <a:cs typeface="Times New Roman" panose="02020603050405020304"/>
              </a:rPr>
              <a:t>Existing stroke prediction systems rely on single-model approaches with limited handling of class imbalance, where stroke cases represent less than 5% of records. Traditional tools lack dual-dataset validation, clinical rule integration, and real-time deployment interfaces. Healthcare analytics platforms are proprietary, expensive, and offer poor interpretability, restricting clinical adoption. Most systems lack personalized dietary recommendations, medication management, or doctor-ready report generation, limiting their utility in end-to-end patient care workflows.</a:t>
            </a:r>
            <a:endParaRPr lang="en-US" altLang="en-US" sz="1100">
              <a:latin typeface="Times New Roman" panose="02020603050405020304"/>
              <a:cs typeface="Times New Roman" panose="02020603050405020304"/>
            </a:endParaRPr>
          </a:p>
          <a:p>
            <a:pPr marL="12700" marR="5080" algn="just">
              <a:lnSpc>
                <a:spcPct val="147000"/>
              </a:lnSpc>
              <a:spcBef>
                <a:spcPts val="95"/>
              </a:spcBef>
            </a:pPr>
            <a:endParaRPr lang="en-US" altLang="en-US" sz="1100">
              <a:latin typeface="Times New Roman" panose="02020603050405020304"/>
              <a:cs typeface="Times New Roman" panose="02020603050405020304"/>
            </a:endParaRPr>
          </a:p>
          <a:p>
            <a:pPr marL="12700" marR="5080" algn="just">
              <a:lnSpc>
                <a:spcPct val="147000"/>
              </a:lnSpc>
              <a:spcBef>
                <a:spcPts val="95"/>
              </a:spcBef>
            </a:pPr>
            <a:r>
              <a:rPr lang="en-US" altLang="en-US" sz="1100">
                <a:latin typeface="Times New Roman" panose="02020603050405020304"/>
                <a:cs typeface="Times New Roman" panose="02020603050405020304"/>
              </a:rPr>
              <a:t>PROPOSED SOFTWARE:</a:t>
            </a:r>
            <a:endParaRPr lang="en-US" altLang="en-US" sz="1100">
              <a:latin typeface="Times New Roman" panose="02020603050405020304"/>
              <a:cs typeface="Times New Roman" panose="02020603050405020304"/>
            </a:endParaRPr>
          </a:p>
          <a:p>
            <a:pPr marL="12700" marR="5080" algn="just">
              <a:lnSpc>
                <a:spcPct val="147000"/>
              </a:lnSpc>
              <a:spcBef>
                <a:spcPts val="95"/>
              </a:spcBef>
            </a:pPr>
            <a:r>
              <a:rPr lang="en-US" altLang="en-US" sz="1100">
                <a:latin typeface="Times New Roman" panose="02020603050405020304"/>
                <a:cs typeface="Times New Roman" panose="02020603050405020304"/>
              </a:rPr>
              <a:t>The proposed system implements dual-model ensemble learning using Gradient Boosting and Random Forest trained on both original and synthetic datasets for robust stroke risk prediction. Preprocessing includes BMI imputation, label encoding, interaction feature engineering, and clinical risk scoring. Evidence-based override rules escalate predictions for high-risk combinations of smoking, hypertension, and elevated glucose. The Flask backend integrates Firebase authentication, a light/dark themed dashboard, prediction history, Indian food and doctor recommendations, medication reminder scheduling, and downloadable PDF reports. Model persistence enables seamless real-time inference, delivering a clinically meaningful and production-ready stroke prevention tool.</a:t>
            </a:r>
            <a:endParaRPr lang="en-US" altLang="en-US" sz="1100">
              <a:latin typeface="Times New Roman" panose="02020603050405020304"/>
              <a:cs typeface="Times New Roman" panose="02020603050405020304"/>
            </a:endParaRPr>
          </a:p>
          <a:p>
            <a:pPr marL="12700" marR="5080" algn="just">
              <a:lnSpc>
                <a:spcPct val="147000"/>
              </a:lnSpc>
              <a:spcBef>
                <a:spcPts val="95"/>
              </a:spcBef>
            </a:pPr>
            <a:endParaRPr lang="en-US" altLang="en-US" sz="1100">
              <a:latin typeface="Times New Roman" panose="02020603050405020304"/>
              <a:cs typeface="Times New Roman" panose="02020603050405020304"/>
            </a:endParaRPr>
          </a:p>
          <a:p>
            <a:pPr marL="12700" marR="5080" algn="just">
              <a:lnSpc>
                <a:spcPct val="147000"/>
              </a:lnSpc>
              <a:spcBef>
                <a:spcPts val="95"/>
              </a:spcBef>
            </a:pPr>
            <a:r>
              <a:rPr lang="en-US" altLang="en-US" sz="1100">
                <a:latin typeface="Times New Roman" panose="02020603050405020304"/>
                <a:cs typeface="Times New Roman" panose="02020603050405020304"/>
              </a:rPr>
              <a:t>KEYWORDS:</a:t>
            </a:r>
            <a:endParaRPr lang="en-US" altLang="en-US" sz="1100">
              <a:latin typeface="Times New Roman" panose="02020603050405020304"/>
              <a:cs typeface="Times New Roman" panose="02020603050405020304"/>
            </a:endParaRPr>
          </a:p>
          <a:p>
            <a:pPr marL="12700" marR="5080" algn="just">
              <a:lnSpc>
                <a:spcPct val="147000"/>
              </a:lnSpc>
              <a:spcBef>
                <a:spcPts val="95"/>
              </a:spcBef>
            </a:pPr>
            <a:r>
              <a:rPr lang="en-US" altLang="en-US" sz="1100">
                <a:latin typeface="Times New Roman" panose="02020603050405020304"/>
                <a:cs typeface="Times New Roman" panose="02020603050405020304"/>
              </a:rPr>
              <a:t>Stroke Risk Prediction, Ensemble Learning, Gradient Boosting, Random Forest, Dual-Dataset Training, Clinical Rule Overrides, Flask, Firebase, Feature Engineering, Healthcare Analytics, Preventive Medicine.</a:t>
            </a:r>
            <a:endParaRPr lang="en-US" altLang="en-US" sz="1100">
              <a:latin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977390" y="409575"/>
            <a:ext cx="4305935" cy="468630"/>
          </a:xfrm>
          <a:prstGeom prst="rect">
            <a:avLst/>
          </a:prstGeom>
          <a:noFill/>
        </p:spPr>
        <p:txBody>
          <a:bodyPr wrap="square" rtlCol="0" anchor="t">
            <a:noAutofit/>
          </a:bodyPr>
          <a:p>
            <a:r>
              <a:rPr sz="2400" b="1" spc="-10" dirty="0">
                <a:latin typeface="Times New Roman" panose="02020603050405020304"/>
                <a:cs typeface="Times New Roman" panose="02020603050405020304"/>
                <a:sym typeface="+mn-ea"/>
              </a:rPr>
              <a:t>Chapter</a:t>
            </a:r>
            <a:r>
              <a:rPr sz="2400" b="1" spc="-35" dirty="0">
                <a:latin typeface="Times New Roman" panose="02020603050405020304"/>
                <a:cs typeface="Times New Roman" panose="02020603050405020304"/>
                <a:sym typeface="+mn-ea"/>
              </a:rPr>
              <a:t> </a:t>
            </a:r>
            <a:r>
              <a:rPr sz="2400" b="1" dirty="0">
                <a:latin typeface="Times New Roman" panose="02020603050405020304"/>
                <a:cs typeface="Times New Roman" panose="02020603050405020304"/>
                <a:sym typeface="+mn-ea"/>
              </a:rPr>
              <a:t>1</a:t>
            </a:r>
            <a:r>
              <a:rPr sz="2400" b="1" spc="-20" dirty="0">
                <a:latin typeface="Times New Roman" panose="02020603050405020304"/>
                <a:cs typeface="Times New Roman" panose="02020603050405020304"/>
                <a:sym typeface="+mn-ea"/>
              </a:rPr>
              <a:t> </a:t>
            </a:r>
            <a:r>
              <a:rPr sz="2400" b="1" dirty="0">
                <a:latin typeface="Times New Roman" panose="02020603050405020304"/>
                <a:cs typeface="Times New Roman" panose="02020603050405020304"/>
                <a:sym typeface="+mn-ea"/>
              </a:rPr>
              <a:t>—</a:t>
            </a:r>
            <a:r>
              <a:rPr sz="2400" b="1" spc="-15" dirty="0">
                <a:latin typeface="Times New Roman" panose="02020603050405020304"/>
                <a:cs typeface="Times New Roman" panose="02020603050405020304"/>
                <a:sym typeface="+mn-ea"/>
              </a:rPr>
              <a:t> </a:t>
            </a:r>
            <a:r>
              <a:rPr sz="2400" b="1" spc="-10" dirty="0">
                <a:latin typeface="Times New Roman" panose="02020603050405020304"/>
                <a:cs typeface="Times New Roman" panose="02020603050405020304"/>
                <a:sym typeface="+mn-ea"/>
              </a:rPr>
              <a:t>Introduction</a:t>
            </a:r>
            <a:endParaRPr lang="en-US" sz="2400" b="1" spc="-10" dirty="0">
              <a:latin typeface="Times New Roman" panose="02020603050405020304"/>
              <a:cs typeface="Times New Roman" panose="02020603050405020304"/>
              <a:sym typeface="+mn-ea"/>
            </a:endParaRPr>
          </a:p>
        </p:txBody>
      </p:sp>
      <p:sp>
        <p:nvSpPr>
          <p:cNvPr id="4" name="Text Box 3"/>
          <p:cNvSpPr txBox="1"/>
          <p:nvPr/>
        </p:nvSpPr>
        <p:spPr>
          <a:xfrm>
            <a:off x="1346200" y="1241425"/>
            <a:ext cx="5080000" cy="8651875"/>
          </a:xfrm>
          <a:prstGeom prst="rect">
            <a:avLst/>
          </a:prstGeom>
        </p:spPr>
        <p:txBody>
          <a:bodyPr>
            <a:noAutofit/>
          </a:bodyPr>
          <a:p>
            <a:pPr>
              <a:spcAft>
                <a:spcPct val="60000"/>
              </a:spcAft>
            </a:pPr>
            <a:r>
              <a:rPr lang="en-US" altLang="zh-CN" sz="1600" b="1"/>
              <a:t>1.1 Background</a:t>
            </a:r>
            <a:endParaRPr lang="en-US" altLang="zh-CN" sz="1600" b="1"/>
          </a:p>
          <a:p>
            <a:pPr algn="just"/>
            <a:r>
              <a:rPr lang="en-US" altLang="zh-CN" sz="1300"/>
              <a:t>Stroke is one of the most serious health problems affecting millions of people around the world. It occurs when the blood supply to the brain is interrupted or reduced, preventing brain tissue from receiving essential oxygen and nutrients. Within a few minutes, brain cells begin to die, which can lead to permanent brain damage, disability, or even death. According to global health organizations, stroke is one of the leading causes of death and long-term disability worldwide.</a:t>
            </a:r>
            <a:endParaRPr lang="en-US" altLang="zh-CN" sz="1300"/>
          </a:p>
          <a:p>
            <a:pPr algn="just"/>
            <a:r>
              <a:rPr lang="en-US" altLang="zh-CN" sz="1300"/>
              <a:t>Early identification of individuals who are at risk of stroke is extremely important in preventive healthcare. Many strokes can be prevented if risk factors are detected early and proper medical intervention is provided. Traditional medical approaches rely on doctors analyzing patient symptoms, medical history, and clinical test results. However, the increasing volume of healthcare data has made manual analysis more complex and time-consuming.</a:t>
            </a:r>
            <a:endParaRPr lang="en-US" altLang="zh-CN" sz="1300"/>
          </a:p>
          <a:p>
            <a:pPr algn="just"/>
            <a:r>
              <a:rPr lang="en-US" altLang="zh-CN" sz="1300"/>
              <a:t>In recent years, advancements in data science and artificial intelligence have enabled the use of machine learning techniques in healthcare applications. Machine learning allows computers to analyze large datasets and identify patterns that may not be easily detected through traditional analysis. These technologies have shown great potential in predicting diseases such as diabetes, heart disease, cancer, and stroke.</a:t>
            </a:r>
            <a:endParaRPr lang="en-US" altLang="zh-CN" sz="1300"/>
          </a:p>
          <a:p>
            <a:pPr algn="just"/>
            <a:r>
              <a:rPr lang="en-US" altLang="en-US" sz="1300"/>
              <a:t>Healthcare institutions now generate a large amount of data through electronic health records, laboratory tests, wearable devices, and patient monitoring systems. This data contains valuable information that can be used to build predictive models for disease diagnosis and prevention. Machine learning algorithms can process this data efficiently and generate accurate predictions regarding disease risks.</a:t>
            </a:r>
            <a:endParaRPr lang="en-US" altLang="en-US" sz="1300"/>
          </a:p>
          <a:p>
            <a:pPr algn="just"/>
            <a:r>
              <a:rPr lang="en-US" altLang="en-US" sz="1300"/>
              <a:t>The integration of machine learning with healthcare systems has opened new possibilities for preventive medicine. Instead of diagnosing diseases only after symptoms appear, predictive models can help identify high-risk patients before severe complications occur. This allows doctors to take preventive actions and provide early treatment</a:t>
            </a:r>
            <a:r>
              <a:rPr lang="en-US" altLang="en-US" sz="1400"/>
              <a:t>.</a:t>
            </a:r>
            <a:endParaRPr lang="en-US" altLang="en-US" sz="1400"/>
          </a:p>
          <a:p>
            <a:pPr algn="just"/>
            <a:r>
              <a:rPr lang="en-US" altLang="en-US" sz="1300"/>
              <a:t>This project focuses on developing a machine learning-driven stroke risk prediction platform that analyzes patient health data and predicts stroke risk levels. The system also provides healthcare recommendations and guidance to help users maintain a healthy lifestyle.</a:t>
            </a:r>
            <a:endParaRPr lang="en-US" altLang="en-US" sz="13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624205"/>
            <a:ext cx="5080000" cy="6248400"/>
          </a:xfrm>
          <a:prstGeom prst="rect">
            <a:avLst/>
          </a:prstGeom>
        </p:spPr>
        <p:txBody>
          <a:bodyPr>
            <a:noAutofit/>
          </a:bodyPr>
          <a:p>
            <a:pPr>
              <a:spcAft>
                <a:spcPct val="60000"/>
              </a:spcAft>
            </a:pPr>
            <a:r>
              <a:rPr lang="en-US" altLang="zh-CN" sz="1600" b="1"/>
              <a:t>1.2 Importance of Stroke Prediction</a:t>
            </a:r>
            <a:endParaRPr lang="en-US" altLang="zh-CN" sz="2300" b="1"/>
          </a:p>
          <a:p>
            <a:pPr algn="just"/>
            <a:r>
              <a:rPr lang="en-US" altLang="zh-CN" sz="1400"/>
              <a:t>Stroke prediction plays a critical role in improving healthcare outcomes and reducing mortality rates. According to medical research, a significant percentage of strokes can be prevented if early warning signs and risk factors are properly identified.</a:t>
            </a:r>
            <a:endParaRPr lang="en-US" altLang="zh-CN" sz="1400"/>
          </a:p>
          <a:p>
            <a:pPr algn="just"/>
            <a:r>
              <a:rPr lang="en-US" altLang="zh-CN" sz="1400"/>
              <a:t>One of the main challenges in stroke prevention is the identification of individuals who are at risk but do not yet show severe symptoms. Many people remain unaware of their health conditions until a major medical event occurs. Predictive analytics can help bridge this gap by analyzing existing health information and identifying potential risks.</a:t>
            </a:r>
            <a:endParaRPr lang="en-US" altLang="zh-CN" sz="1400"/>
          </a:p>
          <a:p>
            <a:pPr algn="just"/>
            <a:r>
              <a:rPr lang="en-US" altLang="zh-CN" sz="1400"/>
              <a:t>Machine learning models are capable of analyzing large volumes of medical data and identifying complex relationships between different health indicators. These models can detect patterns and correlations that may not be easily recognized by human analysis.</a:t>
            </a:r>
            <a:endParaRPr lang="en-US" altLang="zh-CN" sz="1400"/>
          </a:p>
          <a:p>
            <a:pPr algn="just"/>
            <a:r>
              <a:rPr lang="en-US" altLang="zh-CN" sz="1400"/>
              <a:t>The benefits of stroke prediction systems include:</a:t>
            </a:r>
            <a:endParaRPr lang="en-US" altLang="zh-CN" sz="1400"/>
          </a:p>
          <a:p>
            <a:pPr algn="just"/>
            <a:endParaRPr lang="en-US" altLang="zh-CN" sz="1400"/>
          </a:p>
          <a:p>
            <a:pPr algn="just"/>
            <a:r>
              <a:rPr lang="en-US" altLang="zh-CN" sz="1400"/>
              <a:t>• Early detection of high-risk individuals</a:t>
            </a:r>
            <a:endParaRPr lang="en-US" altLang="zh-CN" sz="1400"/>
          </a:p>
          <a:p>
            <a:pPr algn="just"/>
            <a:r>
              <a:rPr lang="en-US" altLang="zh-CN" sz="1400"/>
              <a:t> • Improved preventive healthcare strategies</a:t>
            </a:r>
            <a:endParaRPr lang="en-US" altLang="zh-CN" sz="1400"/>
          </a:p>
          <a:p>
            <a:pPr algn="just"/>
            <a:r>
              <a:rPr lang="en-US" altLang="zh-CN" sz="1400"/>
              <a:t> • Better medical decision support for doctors</a:t>
            </a:r>
            <a:endParaRPr lang="en-US" altLang="zh-CN" sz="1400"/>
          </a:p>
          <a:p>
            <a:pPr algn="just"/>
            <a:r>
              <a:rPr lang="en-US" altLang="zh-CN" sz="1400"/>
              <a:t> • Reduced healthcare costs through early intervention</a:t>
            </a:r>
            <a:endParaRPr lang="en-US" altLang="zh-CN" sz="1400"/>
          </a:p>
          <a:p>
            <a:pPr algn="just"/>
            <a:r>
              <a:rPr lang="en-US" altLang="zh-CN" sz="1400"/>
              <a:t> • Increased awareness of lifestyle risk factors</a:t>
            </a:r>
            <a:endParaRPr lang="en-US" altLang="zh-CN" sz="1400"/>
          </a:p>
          <a:p>
            <a:pPr algn="just"/>
            <a:endParaRPr lang="en-US" altLang="zh-CN" sz="1400"/>
          </a:p>
          <a:p>
            <a:pPr algn="just"/>
            <a:r>
              <a:rPr lang="en-US" altLang="zh-CN" sz="1400"/>
              <a:t>By providing predictive insights, healthcare providers can recommend lifestyle changes, medication, and monitoring strategies to reduce stroke risk.</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325438"/>
            <a:ext cx="5080000" cy="6504305"/>
          </a:xfrm>
          <a:prstGeom prst="rect">
            <a:avLst/>
          </a:prstGeom>
        </p:spPr>
        <p:txBody>
          <a:bodyPr>
            <a:spAutoFit/>
          </a:bodyPr>
          <a:p>
            <a:pPr>
              <a:spcAft>
                <a:spcPct val="60000"/>
              </a:spcAft>
            </a:pPr>
            <a:r>
              <a:rPr lang="en-US" altLang="zh-CN" sz="1600" b="1"/>
              <a:t>1.3 Role of Machine Learning in Healthcare</a:t>
            </a:r>
            <a:endParaRPr lang="en-US" altLang="zh-CN" sz="1600" b="1"/>
          </a:p>
          <a:p>
            <a:pPr algn="just"/>
            <a:r>
              <a:rPr lang="en-US" altLang="zh-CN" sz="1300"/>
              <a:t>Machine learning has become one of the most powerful technologies in modern healthcare systems. It enables automated analysis of medical data and helps healthcare professionals make more informed decisions.</a:t>
            </a:r>
            <a:endParaRPr lang="en-US" altLang="zh-CN" sz="1300"/>
          </a:p>
          <a:p>
            <a:pPr algn="just"/>
            <a:r>
              <a:rPr lang="en-US" altLang="zh-CN" sz="1300"/>
              <a:t>Machine learning algorithms learn from historical data and identify patterns that can be used to make predictions. These algorithms improve their performance as more data becomes available.</a:t>
            </a:r>
            <a:endParaRPr lang="en-US" altLang="zh-CN" sz="1300"/>
          </a:p>
          <a:p>
            <a:pPr algn="just"/>
            <a:r>
              <a:rPr lang="en-US" altLang="zh-CN" sz="1300"/>
              <a:t>In healthcare applications, machine learning is used for:</a:t>
            </a:r>
            <a:endParaRPr lang="en-US" altLang="zh-CN" sz="1300"/>
          </a:p>
          <a:p>
            <a:pPr algn="just"/>
            <a:r>
              <a:rPr lang="en-US" altLang="zh-CN" sz="1300"/>
              <a:t>• Disease diagnosis</a:t>
            </a:r>
            <a:endParaRPr lang="en-US" altLang="zh-CN" sz="1300"/>
          </a:p>
          <a:p>
            <a:pPr algn="just"/>
            <a:r>
              <a:rPr lang="en-US" altLang="zh-CN" sz="1300"/>
              <a:t> • Medical image analysis</a:t>
            </a:r>
            <a:endParaRPr lang="en-US" altLang="zh-CN" sz="1300"/>
          </a:p>
          <a:p>
            <a:pPr algn="just"/>
            <a:r>
              <a:rPr lang="en-US" altLang="zh-CN" sz="1300"/>
              <a:t> • Drug discovery</a:t>
            </a:r>
            <a:endParaRPr lang="en-US" altLang="zh-CN" sz="1300"/>
          </a:p>
          <a:p>
            <a:pPr algn="just"/>
            <a:r>
              <a:rPr lang="en-US" altLang="zh-CN" sz="1300"/>
              <a:t> • Personalized treatment planning</a:t>
            </a:r>
            <a:endParaRPr lang="en-US" altLang="zh-CN" sz="1300"/>
          </a:p>
          <a:p>
            <a:pPr algn="just"/>
            <a:r>
              <a:rPr lang="en-US" altLang="zh-CN" sz="1300"/>
              <a:t> • Patient monitoring</a:t>
            </a:r>
            <a:endParaRPr lang="en-US" altLang="zh-CN" sz="1300"/>
          </a:p>
          <a:p>
            <a:pPr algn="just"/>
            <a:r>
              <a:rPr lang="en-US" altLang="zh-CN" sz="1300"/>
              <a:t> • Predictive analytics</a:t>
            </a:r>
            <a:endParaRPr lang="en-US" altLang="zh-CN" sz="1300"/>
          </a:p>
          <a:p>
            <a:pPr algn="just"/>
            <a:r>
              <a:rPr lang="en-US" altLang="zh-CN" sz="1300"/>
              <a:t>For stroke prediction, machine learning models analyze multiple patient attributes such as age, gender, blood pressure, glucose levels, and lifestyle habits. These attributes are used to estimate the probability of stroke occurrence.</a:t>
            </a:r>
            <a:endParaRPr lang="en-US" altLang="zh-CN" sz="1300"/>
          </a:p>
          <a:p>
            <a:pPr algn="just"/>
            <a:r>
              <a:rPr lang="en-US" altLang="zh-CN" sz="1300"/>
              <a:t>Several machine learning algorithms are commonly used in healthcare prediction systems, including:</a:t>
            </a:r>
            <a:endParaRPr lang="en-US" altLang="zh-CN" sz="1300"/>
          </a:p>
          <a:p>
            <a:pPr algn="just"/>
            <a:r>
              <a:rPr lang="en-US" altLang="zh-CN" sz="1300"/>
              <a:t>• Logistic Regression</a:t>
            </a:r>
            <a:endParaRPr lang="en-US" altLang="zh-CN" sz="1300"/>
          </a:p>
          <a:p>
            <a:pPr algn="just"/>
            <a:r>
              <a:rPr lang="en-US" altLang="zh-CN" sz="1300"/>
              <a:t> • Decision Trees</a:t>
            </a:r>
            <a:endParaRPr lang="en-US" altLang="zh-CN" sz="1300"/>
          </a:p>
          <a:p>
            <a:pPr algn="just"/>
            <a:r>
              <a:rPr lang="en-US" altLang="zh-CN" sz="1300"/>
              <a:t> • Random Forest</a:t>
            </a:r>
            <a:endParaRPr lang="en-US" altLang="zh-CN" sz="1300"/>
          </a:p>
          <a:p>
            <a:pPr algn="just"/>
            <a:r>
              <a:rPr lang="en-US" altLang="zh-CN" sz="1300"/>
              <a:t> • Support Vector Machines</a:t>
            </a:r>
            <a:endParaRPr lang="en-US" altLang="zh-CN" sz="1300"/>
          </a:p>
          <a:p>
            <a:pPr algn="just"/>
            <a:r>
              <a:rPr lang="en-US" altLang="zh-CN" sz="1300"/>
              <a:t> • Gradient Boosting</a:t>
            </a:r>
            <a:endParaRPr lang="en-US" altLang="zh-CN" sz="1300"/>
          </a:p>
          <a:p>
            <a:pPr algn="just"/>
            <a:r>
              <a:rPr lang="en-US" altLang="zh-CN" sz="1300"/>
              <a:t> • Neural Networks</a:t>
            </a:r>
            <a:endParaRPr lang="en-US" altLang="zh-CN" sz="1300"/>
          </a:p>
          <a:p>
            <a:pPr algn="just"/>
            <a:r>
              <a:rPr lang="en-US" altLang="zh-CN" sz="1300"/>
              <a:t>Among these algorithms, ensemble learning methods such as Random Forest and Gradient Boosting often provide higher accuracy because they combine multiple decision models to produce better predictions.</a:t>
            </a:r>
            <a:endParaRPr lang="en-US" altLang="zh-CN" sz="13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656590"/>
            <a:ext cx="5080000" cy="5429250"/>
          </a:xfrm>
          <a:prstGeom prst="rect">
            <a:avLst/>
          </a:prstGeom>
        </p:spPr>
        <p:txBody>
          <a:bodyPr>
            <a:noAutofit/>
          </a:bodyPr>
          <a:p>
            <a:pPr>
              <a:spcAft>
                <a:spcPct val="60000"/>
              </a:spcAft>
            </a:pPr>
            <a:r>
              <a:rPr lang="en-US" altLang="zh-CN" sz="1600" b="1"/>
              <a:t>1.4 Problem Statement</a:t>
            </a:r>
            <a:endParaRPr lang="en-US" altLang="zh-CN" sz="2300" b="1"/>
          </a:p>
          <a:p>
            <a:pPr algn="just"/>
            <a:r>
              <a:rPr lang="en-US" altLang="zh-CN" sz="1400"/>
              <a:t>Despite advancements in healthcare technology, stroke remains one of the leading causes of death and disability worldwide. Early detection of stroke risk is challenging due to the complexity of medical data and the presence of multiple contributing factors.</a:t>
            </a:r>
            <a:endParaRPr lang="en-US" altLang="zh-CN" sz="1400"/>
          </a:p>
          <a:p>
            <a:pPr algn="just"/>
            <a:r>
              <a:rPr lang="en-US" altLang="zh-CN" sz="1400"/>
              <a:t>Many existing stroke prediction systems rely on traditional statistical models or single machine learning algorithms, which may not provide sufficient accuracy when analyzing complex healthcare datasets. In addition, many datasets suffer from class imbalance, where stroke cases represent only a small percentage of the total data.</a:t>
            </a:r>
            <a:endParaRPr lang="en-US" altLang="zh-CN" sz="1400"/>
          </a:p>
          <a:p>
            <a:pPr algn="just"/>
            <a:r>
              <a:rPr lang="en-US" altLang="zh-CN" sz="1400"/>
              <a:t>Another limitation of existing systems is the lack of practical deployment. Many predictive models are developed only for research purposes and are not integrated into real-world healthcare platforms that patients or doctors can easily use.</a:t>
            </a:r>
            <a:endParaRPr lang="en-US" altLang="zh-CN" sz="1400"/>
          </a:p>
          <a:p>
            <a:pPr algn="just"/>
            <a:r>
              <a:rPr lang="en-US" altLang="zh-CN" sz="1400"/>
              <a:t>Furthermore, most existing systems focus only on prediction and do not provide additional healthcare support such as lifestyle guidance, doctor recommendations, or health reports.</a:t>
            </a:r>
            <a:endParaRPr lang="en-US" altLang="zh-CN" sz="1400"/>
          </a:p>
          <a:p>
            <a:pPr algn="just"/>
            <a:r>
              <a:rPr lang="en-US" altLang="zh-CN" sz="1400"/>
              <a:t>Therefore, there is a need to develop an intelligent healthcare</a:t>
            </a:r>
            <a:endParaRPr lang="en-US" altLang="zh-CN" sz="1400"/>
          </a:p>
          <a:p>
            <a:pPr algn="just"/>
            <a:r>
              <a:rPr lang="en-US" altLang="zh-CN" sz="1400"/>
              <a:t>system that can accurately predict stroke risk while also providing user-friendly features for patient guidance and </a:t>
            </a:r>
            <a:endParaRPr lang="en-US" altLang="zh-CN" sz="1400"/>
          </a:p>
          <a:p>
            <a:pPr algn="just"/>
            <a:r>
              <a:rPr lang="en-US" altLang="zh-CN" sz="1400"/>
              <a:t>medical decision support.</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781685"/>
            <a:ext cx="5080000" cy="6955790"/>
          </a:xfrm>
          <a:prstGeom prst="rect">
            <a:avLst/>
          </a:prstGeom>
        </p:spPr>
        <p:txBody>
          <a:bodyPr>
            <a:noAutofit/>
          </a:bodyPr>
          <a:p>
            <a:pPr>
              <a:spcAft>
                <a:spcPct val="60000"/>
              </a:spcAft>
            </a:pPr>
            <a:r>
              <a:rPr lang="en-US" altLang="zh-CN" sz="1600" b="1"/>
              <a:t>1.5 Objectives of the Project</a:t>
            </a:r>
            <a:endParaRPr lang="en-US" altLang="zh-CN" sz="1600" b="1"/>
          </a:p>
          <a:p>
            <a:pPr algn="just"/>
            <a:r>
              <a:rPr lang="en-US" altLang="zh-CN" sz="1400"/>
              <a:t>The main objective of this project is to develop a machine learning-based stroke risk prediction system that can assist healthcare professionals and patients in identifying potential stroke risks.</a:t>
            </a:r>
            <a:endParaRPr lang="en-US" altLang="zh-CN" sz="1400"/>
          </a:p>
          <a:p>
            <a:pPr algn="just"/>
            <a:endParaRPr lang="en-US" altLang="zh-CN" sz="1400"/>
          </a:p>
          <a:p>
            <a:pPr algn="just"/>
            <a:r>
              <a:rPr lang="en-US" altLang="zh-CN" sz="1400"/>
              <a:t>The specific objectives of the project include:</a:t>
            </a:r>
            <a:endParaRPr lang="en-US" altLang="zh-CN" sz="1400"/>
          </a:p>
          <a:p>
            <a:pPr algn="just"/>
            <a:endParaRPr lang="en-US" altLang="zh-CN" sz="1400"/>
          </a:p>
          <a:p>
            <a:pPr algn="just">
              <a:buAutoNum type="arabicPeriod"/>
            </a:pPr>
            <a:r>
              <a:rPr lang="en-US" altLang="zh-CN" sz="1400"/>
              <a:t>To collect and preprocess healthcare datasets for stroke prediction.</a:t>
            </a:r>
            <a:endParaRPr lang="en-US" altLang="zh-CN" sz="1400"/>
          </a:p>
          <a:p>
            <a:pPr algn="just">
              <a:buAutoNum type="arabicPeriod"/>
            </a:pPr>
            <a:endParaRPr lang="en-US" altLang="zh-CN" sz="1400"/>
          </a:p>
          <a:p>
            <a:pPr indent="0" algn="just">
              <a:buNone/>
            </a:pPr>
            <a:r>
              <a:rPr lang="en-US" altLang="zh-CN" sz="1400"/>
              <a:t>2.To analyze important risk factors such as age, hypertension, glucose levels, BMI, and lifestyle habits.</a:t>
            </a:r>
            <a:endParaRPr lang="en-US" altLang="zh-CN" sz="1400"/>
          </a:p>
          <a:p>
            <a:pPr algn="just">
              <a:buAutoNum type="arabicPeriod"/>
            </a:pPr>
            <a:endParaRPr lang="en-US" altLang="zh-CN" sz="1400"/>
          </a:p>
          <a:p>
            <a:pPr indent="0" algn="just">
              <a:buNone/>
            </a:pPr>
            <a:r>
              <a:rPr lang="en-US" altLang="zh-CN" sz="1400"/>
              <a:t>3.To implement machine learning models such as Random Forest and Gradient Boosting for stroke risk prediction.</a:t>
            </a:r>
            <a:endParaRPr lang="en-US" altLang="zh-CN" sz="1400"/>
          </a:p>
          <a:p>
            <a:pPr algn="just">
              <a:buAutoNum type="arabicPeriod"/>
            </a:pPr>
            <a:endParaRPr lang="en-US" altLang="zh-CN" sz="1400"/>
          </a:p>
          <a:p>
            <a:pPr indent="0" algn="just">
              <a:buNone/>
            </a:pPr>
            <a:r>
              <a:rPr lang="en-US" altLang="zh-CN" sz="1400"/>
              <a:t>4.To improve prediction accuracy using ensemble learning techniques.</a:t>
            </a:r>
            <a:endParaRPr lang="en-US" altLang="zh-CN" sz="1400"/>
          </a:p>
          <a:p>
            <a:pPr algn="just">
              <a:buAutoNum type="arabicPeriod"/>
            </a:pPr>
            <a:endParaRPr lang="en-US" altLang="zh-CN" sz="1400"/>
          </a:p>
          <a:p>
            <a:pPr indent="0" algn="just">
              <a:buNone/>
            </a:pPr>
            <a:r>
              <a:rPr lang="en-US" altLang="zh-CN" sz="1400"/>
              <a:t>5.To develop a web-based application using Flask for real-time stroke risk prediction.</a:t>
            </a:r>
            <a:endParaRPr lang="en-US" altLang="zh-CN" sz="1400"/>
          </a:p>
          <a:p>
            <a:pPr algn="just">
              <a:buAutoNum type="arabicPeriod"/>
            </a:pPr>
            <a:endParaRPr lang="en-US" altLang="zh-CN" sz="1400"/>
          </a:p>
          <a:p>
            <a:pPr indent="0" algn="just">
              <a:buNone/>
            </a:pPr>
            <a:r>
              <a:rPr lang="en-US" altLang="zh-CN" sz="1400"/>
              <a:t>6.To provide healthcare recommendations including diet suggestions, doctor consultation, and medication reminders.</a:t>
            </a:r>
            <a:endParaRPr lang="en-US" altLang="zh-CN" sz="1400"/>
          </a:p>
          <a:p>
            <a:pPr algn="just">
              <a:buAutoNum type="arabicPeriod"/>
            </a:pPr>
            <a:endParaRPr lang="en-US" altLang="zh-CN" sz="1400"/>
          </a:p>
          <a:p>
            <a:pPr indent="0" algn="just">
              <a:buNone/>
            </a:pPr>
            <a:r>
              <a:rPr lang="en-US" altLang="zh-CN" sz="1400"/>
              <a:t>7.To generate downloadable health reports for users.</a:t>
            </a:r>
            <a:endParaRPr lang="en-US" altLang="zh-CN" sz="1400"/>
          </a:p>
          <a:p>
            <a:pPr algn="just">
              <a:buAutoNum type="arabicPeriod"/>
            </a:pPr>
            <a:endParaRPr lang="en-US" altLang="zh-CN" sz="1400"/>
          </a:p>
          <a:p>
            <a:pPr algn="just"/>
            <a:r>
              <a:rPr lang="en-US" altLang="zh-CN" sz="1400"/>
              <a:t>By achieving these objectives, the system aims to provide a comprehensive healthcare support platform for stroke prevention.</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638810"/>
            <a:ext cx="5080000" cy="5169535"/>
          </a:xfrm>
          <a:prstGeom prst="rect">
            <a:avLst/>
          </a:prstGeom>
        </p:spPr>
        <p:txBody>
          <a:bodyPr>
            <a:noAutofit/>
          </a:bodyPr>
          <a:p>
            <a:pPr>
              <a:spcAft>
                <a:spcPct val="60000"/>
              </a:spcAft>
            </a:pPr>
            <a:r>
              <a:rPr lang="en-US" altLang="zh-CN" sz="1600" b="1"/>
              <a:t>1.6 Scope of the Project</a:t>
            </a:r>
            <a:endParaRPr lang="en-US" altLang="zh-CN" sz="2300" b="1"/>
          </a:p>
          <a:p>
            <a:pPr algn="just"/>
            <a:r>
              <a:rPr lang="en-US" altLang="zh-CN" sz="1400"/>
              <a:t>The scope of this project lies in the field of healthcare analytics and machine learning-based disease prediction systems. The proposed system focuses on predicting stroke risk using patient health data and providing guidance to reduce potential health risks.</a:t>
            </a:r>
            <a:endParaRPr lang="en-US" altLang="zh-CN" sz="1400"/>
          </a:p>
          <a:p>
            <a:pPr algn="just"/>
            <a:r>
              <a:rPr lang="en-US" altLang="zh-CN" sz="1400"/>
              <a:t>The system can be used by individuals, healthcare professionals, and medical researchers to analyze health conditions and identify possible stroke risks.</a:t>
            </a:r>
            <a:endParaRPr lang="en-US" altLang="zh-CN" sz="1400"/>
          </a:p>
          <a:p>
            <a:pPr algn="just"/>
            <a:r>
              <a:rPr lang="en-US" altLang="zh-CN" sz="1400"/>
              <a:t>The key features included within the scope of the project are:</a:t>
            </a:r>
            <a:endParaRPr lang="en-US" altLang="zh-CN" sz="1400"/>
          </a:p>
          <a:p>
            <a:pPr algn="just"/>
            <a:endParaRPr lang="en-US" altLang="zh-CN" sz="1400"/>
          </a:p>
          <a:p>
            <a:pPr algn="just"/>
            <a:r>
              <a:rPr lang="en-US" altLang="zh-CN" sz="1400"/>
              <a:t>• Stroke risk prediction using machine learning algorithms</a:t>
            </a:r>
            <a:endParaRPr lang="en-US" altLang="zh-CN" sz="1400"/>
          </a:p>
          <a:p>
            <a:pPr algn="just"/>
            <a:r>
              <a:rPr lang="en-US" altLang="zh-CN" sz="1400"/>
              <a:t> • Data preprocessing and feature engineering</a:t>
            </a:r>
            <a:endParaRPr lang="en-US" altLang="zh-CN" sz="1400"/>
          </a:p>
          <a:p>
            <a:pPr algn="just"/>
            <a:r>
              <a:rPr lang="en-US" altLang="zh-CN" sz="1400"/>
              <a:t> • Ensemble learning techniques for improved accuracy</a:t>
            </a:r>
            <a:endParaRPr lang="en-US" altLang="zh-CN" sz="1400"/>
          </a:p>
          <a:p>
            <a:pPr algn="just"/>
            <a:r>
              <a:rPr lang="en-US" altLang="zh-CN" sz="1400"/>
              <a:t> • Web-based user interface for easy interaction</a:t>
            </a:r>
            <a:endParaRPr lang="en-US" altLang="zh-CN" sz="1400"/>
          </a:p>
          <a:p>
            <a:pPr algn="just"/>
            <a:r>
              <a:rPr lang="en-US" altLang="zh-CN" sz="1400"/>
              <a:t> • Prediction history tracking</a:t>
            </a:r>
            <a:endParaRPr lang="en-US" altLang="zh-CN" sz="1400"/>
          </a:p>
          <a:p>
            <a:pPr algn="just"/>
            <a:r>
              <a:rPr lang="en-US" altLang="zh-CN" sz="1400"/>
              <a:t> • Health recommendations and lifestyle guidance</a:t>
            </a:r>
            <a:endParaRPr lang="en-US" altLang="zh-CN" sz="1400"/>
          </a:p>
          <a:p>
            <a:pPr algn="just"/>
            <a:r>
              <a:rPr lang="en-US" altLang="zh-CN" sz="1400"/>
              <a:t> • PDF report generation</a:t>
            </a:r>
            <a:endParaRPr lang="en-US" altLang="zh-CN" sz="1400"/>
          </a:p>
          <a:p>
            <a:pPr algn="just"/>
            <a:endParaRPr lang="en-US" altLang="zh-CN" sz="1400"/>
          </a:p>
          <a:p>
            <a:pPr algn="just"/>
            <a:r>
              <a:rPr lang="en-US" altLang="zh-CN" sz="1400"/>
              <a:t>The project is designed primarily for educational and research purposes but demonstrates the potential for real-world healthcare applications.</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716280"/>
            <a:ext cx="5055235" cy="5896610"/>
          </a:xfrm>
          <a:prstGeom prst="rect">
            <a:avLst/>
          </a:prstGeom>
        </p:spPr>
        <p:txBody>
          <a:bodyPr>
            <a:noAutofit/>
          </a:bodyPr>
          <a:p>
            <a:pPr>
              <a:spcAft>
                <a:spcPct val="60000"/>
              </a:spcAft>
            </a:pPr>
            <a:r>
              <a:rPr lang="en-US" altLang="zh-CN" sz="1600" b="1"/>
              <a:t>1.7 Organization of the Report</a:t>
            </a:r>
            <a:endParaRPr lang="en-US" altLang="zh-CN" sz="1600" b="1"/>
          </a:p>
          <a:p>
            <a:pPr algn="just">
              <a:spcAft>
                <a:spcPct val="60000"/>
              </a:spcAft>
            </a:pPr>
            <a:r>
              <a:rPr lang="en-US" altLang="zh-CN" sz="1400"/>
              <a:t>The project report is organized into several chapters that describe different aspects of the system.</a:t>
            </a:r>
            <a:endParaRPr lang="en-US" altLang="zh-CN" sz="1400"/>
          </a:p>
          <a:p>
            <a:pPr algn="just"/>
            <a:r>
              <a:rPr lang="en-US" altLang="zh-CN" sz="1400"/>
              <a:t>Chapter 1 provides the introduction to the project, including background information, problem statement, objectives, and scope of the study.</a:t>
            </a:r>
            <a:endParaRPr lang="en-US" altLang="zh-CN" sz="1400"/>
          </a:p>
          <a:p>
            <a:pPr algn="just"/>
            <a:endParaRPr lang="en-US" altLang="zh-CN" sz="1400"/>
          </a:p>
          <a:p>
            <a:pPr algn="just"/>
            <a:r>
              <a:rPr lang="en-US" altLang="zh-CN" sz="1400"/>
              <a:t>Chapter 2 presents the literature review, which discusses previous research work related to stroke prediction and machine learning applications in healthcare.</a:t>
            </a:r>
            <a:endParaRPr lang="en-US" altLang="zh-CN" sz="1400"/>
          </a:p>
          <a:p>
            <a:pPr algn="just"/>
            <a:endParaRPr lang="en-US" altLang="zh-CN" sz="1400"/>
          </a:p>
          <a:p>
            <a:pPr algn="just"/>
            <a:r>
              <a:rPr lang="en-US" altLang="zh-CN" sz="1400"/>
              <a:t>Chapter 3 explains the system methodology, including the design approach, architecture, algorithms used, and tools involved in the project.</a:t>
            </a:r>
            <a:endParaRPr lang="en-US" altLang="zh-CN" sz="1400"/>
          </a:p>
          <a:p>
            <a:pPr algn="just"/>
            <a:endParaRPr lang="en-US" altLang="zh-CN" sz="1400"/>
          </a:p>
          <a:p>
            <a:pPr algn="just"/>
            <a:r>
              <a:rPr lang="en-US" altLang="zh-CN" sz="1400"/>
              <a:t>Chapter 4 describes the implementation process, including system modules, code development, and application interface.</a:t>
            </a:r>
            <a:endParaRPr lang="en-US" altLang="zh-CN" sz="1400"/>
          </a:p>
          <a:p>
            <a:pPr algn="just"/>
            <a:endParaRPr lang="en-US" altLang="zh-CN" sz="1400"/>
          </a:p>
          <a:p>
            <a:pPr algn="just"/>
            <a:r>
              <a:rPr lang="en-US" altLang="zh-CN" sz="1400"/>
              <a:t>Chapter 5 presents the results and discussion, including performance evaluation, graphs, and analysis of model accuracy.</a:t>
            </a:r>
            <a:endParaRPr lang="en-US" altLang="zh-CN" sz="1400"/>
          </a:p>
          <a:p>
            <a:pPr algn="just"/>
            <a:endParaRPr lang="en-US" altLang="zh-CN" sz="1400"/>
          </a:p>
          <a:p>
            <a:pPr algn="just"/>
            <a:r>
              <a:rPr lang="en-US" altLang="zh-CN" sz="1400"/>
              <a:t>Chapter 6 provides the conclusion and future work, summarizing the achievements of the project and suggesting possible improvements for future research.</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708025"/>
            <a:ext cx="5080000" cy="6249670"/>
          </a:xfrm>
          <a:prstGeom prst="rect">
            <a:avLst/>
          </a:prstGeom>
        </p:spPr>
        <p:txBody>
          <a:bodyPr>
            <a:noAutofit/>
          </a:bodyPr>
          <a:p>
            <a:pPr>
              <a:spcAft>
                <a:spcPct val="60000"/>
              </a:spcAft>
            </a:pPr>
            <a:r>
              <a:rPr lang="en-US" altLang="zh-CN" sz="1600" b="1"/>
              <a:t>1.8 Limitations of the Study</a:t>
            </a:r>
            <a:endParaRPr lang="en-US" altLang="zh-CN" sz="1600" b="1"/>
          </a:p>
          <a:p>
            <a:pPr>
              <a:spcAft>
                <a:spcPct val="60000"/>
              </a:spcAft>
            </a:pPr>
            <a:endParaRPr lang="en-US" altLang="zh-CN" sz="2200" b="1"/>
          </a:p>
          <a:p>
            <a:pPr algn="just"/>
            <a:r>
              <a:rPr lang="en-US" altLang="zh-CN" sz="1400"/>
              <a:t>Although the proposed system provides accurate stroke risk prediction, it has certain limitations. The prediction accuracy depends heavily on the quality and size of the dataset used for training the machine learning models. The system currently uses limited health parameters and does not include advanced clinical test results such as MRI or CT scan data. Additionally, the system is designed mainly for educational and research purposes and should not replace professional medical diagnosis.</a:t>
            </a:r>
            <a:endParaRPr lang="en-US" altLang="zh-CN" sz="1400"/>
          </a:p>
          <a:p>
            <a:pPr algn="just"/>
            <a:r>
              <a:rPr lang="en-US" altLang="zh-CN" sz="1400"/>
              <a:t>Future improvements may include integration with real-time hospital databases and wearable health monitoring devices.</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843405" y="252730"/>
            <a:ext cx="4785995" cy="314960"/>
          </a:xfrm>
          <a:prstGeom prst="rect">
            <a:avLst/>
          </a:prstGeom>
        </p:spPr>
        <p:txBody>
          <a:bodyPr>
            <a:noAutofit/>
          </a:bodyPr>
          <a:p>
            <a:pPr>
              <a:spcAft>
                <a:spcPct val="60000"/>
              </a:spcAft>
            </a:pPr>
            <a:r>
              <a:rPr lang="en-US" altLang="zh-CN" sz="2000" b="1"/>
              <a:t>CHAPTER 2- </a:t>
            </a:r>
            <a:r>
              <a:rPr lang="en-US" altLang="zh-CN" sz="2000" b="1">
                <a:sym typeface="+mn-ea"/>
              </a:rPr>
              <a:t>LITERATURE REVIEW</a:t>
            </a:r>
            <a:endParaRPr lang="en-US" altLang="zh-CN" sz="1600" b="1"/>
          </a:p>
          <a:p>
            <a:pPr>
              <a:spcAft>
                <a:spcPct val="60000"/>
              </a:spcAft>
            </a:pPr>
            <a:endParaRPr lang="en-US" altLang="zh-CN" sz="1600" b="1"/>
          </a:p>
        </p:txBody>
      </p:sp>
      <p:sp>
        <p:nvSpPr>
          <p:cNvPr id="3" name="Text Box 2"/>
          <p:cNvSpPr txBox="1"/>
          <p:nvPr/>
        </p:nvSpPr>
        <p:spPr>
          <a:xfrm>
            <a:off x="1346200" y="871855"/>
            <a:ext cx="5080000" cy="6350000"/>
          </a:xfrm>
          <a:prstGeom prst="rect">
            <a:avLst/>
          </a:prstGeom>
        </p:spPr>
        <p:txBody>
          <a:bodyPr>
            <a:spAutoFit/>
          </a:bodyPr>
          <a:p>
            <a:pPr>
              <a:spcAft>
                <a:spcPct val="60000"/>
              </a:spcAft>
            </a:pPr>
            <a:r>
              <a:rPr lang="en-US" altLang="zh-CN" sz="1600" b="1"/>
              <a:t>2.1 Introduction</a:t>
            </a:r>
            <a:endParaRPr lang="en-US" altLang="zh-CN" sz="2300" b="1"/>
          </a:p>
          <a:p>
            <a:pPr algn="just"/>
            <a:r>
              <a:rPr lang="en-US" altLang="zh-CN" sz="1400"/>
              <a:t>Stroke is one of the leading causes of mortality and long-term disability worldwide. Medical researchers and healthcare organizations have conducted numerous studies to understand the risk factors associated with stroke and to develop predictive models that help identify individuals at risk. With the rapid growth of artificial intelligence and data science, machine learning techniques have been widely applied in healthcare analytics for disease prediction.</a:t>
            </a:r>
            <a:endParaRPr lang="en-US" altLang="zh-CN" sz="1400"/>
          </a:p>
          <a:p>
            <a:pPr algn="just"/>
            <a:r>
              <a:rPr lang="en-US" altLang="zh-CN" sz="1400"/>
              <a:t>Machine learning algorithms are capable of analyzing large volumes of healthcare data and identifying patterns that may not be easily recognized by traditional statistical methods. These models use historical patient data to predict future medical conditions and assist healthcare professionals in making informed decisions.</a:t>
            </a:r>
            <a:endParaRPr lang="en-US" altLang="zh-CN" sz="1400"/>
          </a:p>
          <a:p>
            <a:pPr algn="just"/>
            <a:r>
              <a:rPr lang="en-US" altLang="zh-CN" sz="1400"/>
              <a:t>Many researchers have applied machine learning techniques for predicting diseases such as diabetes, cardiovascular diseases, cancer, and stroke. Stroke prediction is particularly challenging because it involves multiple risk factors including age, hypertension, diabetes, smoking habits, obesity, and cholesterol levels. Therefore, selecting appropriate machine learning algorithms and data preprocessing techniques plays a crucial role in improving prediction accuracy.</a:t>
            </a:r>
            <a:endParaRPr lang="en-US" altLang="zh-CN" sz="1400"/>
          </a:p>
          <a:p>
            <a:pPr algn="just"/>
            <a:r>
              <a:rPr lang="en-US" altLang="zh-CN" sz="1400"/>
              <a:t>This chapter presents a detailed review of previous research work related to stroke prediction using machine learning techniques. The studies reviewed in this chapter highlight different approaches, algorithms, datasets, and results obtained by various researchers</a:t>
            </a:r>
            <a:r>
              <a:rPr lang="en-US" altLang="zh-CN" sz="1600"/>
              <a:t>.</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572135"/>
            <a:ext cx="5080000" cy="6938010"/>
          </a:xfrm>
          <a:prstGeom prst="rect">
            <a:avLst/>
          </a:prstGeom>
        </p:spPr>
        <p:txBody>
          <a:bodyPr>
            <a:noAutofit/>
          </a:bodyPr>
          <a:p>
            <a:pPr>
              <a:spcAft>
                <a:spcPct val="60000"/>
              </a:spcAft>
            </a:pPr>
            <a:r>
              <a:rPr lang="en-US" altLang="zh-CN" sz="1600" b="1"/>
              <a:t>2.2 Machine Learning in Healthcare</a:t>
            </a:r>
            <a:endParaRPr lang="en-US" altLang="zh-CN" sz="1600" b="1"/>
          </a:p>
          <a:p>
            <a:pPr algn="just"/>
            <a:r>
              <a:rPr lang="en-US" altLang="zh-CN" sz="1400"/>
              <a:t>Machine learning has significantly transformed the healthcare industry by enabling automated analysis of medical data. Healthcare institutions generate massive amounts of data through electronic health records, diagnostic tests, and patient monitoring systems. Analyzing such large datasets manually is difficult and time-consuming.</a:t>
            </a:r>
            <a:endParaRPr lang="en-US" altLang="zh-CN" sz="1400"/>
          </a:p>
          <a:p>
            <a:pPr algn="just"/>
            <a:r>
              <a:rPr lang="en-US" altLang="zh-CN" sz="1400"/>
              <a:t>Machine learning algorithms can analyze this data efficiently and identify relationships between different medical parameters. These algorithms can also improve their performance as more data becomes available, making them highly suitable for predictive healthcare systems.</a:t>
            </a:r>
            <a:endParaRPr lang="en-US" altLang="zh-CN" sz="1400"/>
          </a:p>
          <a:p>
            <a:pPr algn="just"/>
            <a:r>
              <a:rPr lang="en-US" altLang="zh-CN" sz="1400"/>
              <a:t>Applications of machine learning in healthcare include:</a:t>
            </a:r>
            <a:endParaRPr lang="en-US" altLang="zh-CN" sz="1400"/>
          </a:p>
          <a:p>
            <a:pPr algn="just"/>
            <a:r>
              <a:rPr lang="en-US" altLang="zh-CN" sz="1400"/>
              <a:t>• Disease diagnosis and prediction</a:t>
            </a:r>
            <a:endParaRPr lang="en-US" altLang="zh-CN" sz="1400"/>
          </a:p>
          <a:p>
            <a:pPr algn="just"/>
            <a:r>
              <a:rPr lang="en-US" altLang="zh-CN" sz="1400"/>
              <a:t> • Medical image analysis</a:t>
            </a:r>
            <a:endParaRPr lang="en-US" altLang="zh-CN" sz="1400"/>
          </a:p>
          <a:p>
            <a:pPr algn="just"/>
            <a:r>
              <a:rPr lang="en-US" altLang="zh-CN" sz="1400"/>
              <a:t> • Drug discovery and development</a:t>
            </a:r>
            <a:endParaRPr lang="en-US" altLang="zh-CN" sz="1400"/>
          </a:p>
          <a:p>
            <a:pPr algn="just"/>
            <a:r>
              <a:rPr lang="en-US" altLang="zh-CN" sz="1400"/>
              <a:t> • Personalized treatment planning</a:t>
            </a:r>
            <a:endParaRPr lang="en-US" altLang="zh-CN" sz="1400"/>
          </a:p>
          <a:p>
            <a:pPr algn="just"/>
            <a:r>
              <a:rPr lang="en-US" altLang="zh-CN" sz="1400"/>
              <a:t> • Patient monitoring systems</a:t>
            </a:r>
            <a:endParaRPr lang="en-US" altLang="zh-CN" sz="1400"/>
          </a:p>
          <a:p>
            <a:pPr algn="just"/>
            <a:r>
              <a:rPr lang="en-US" altLang="zh-CN" sz="1400"/>
              <a:t> • Predictive analytics for preventive medicine</a:t>
            </a:r>
            <a:endParaRPr lang="en-US" altLang="zh-CN" sz="1400"/>
          </a:p>
          <a:p>
            <a:pPr algn="just"/>
            <a:r>
              <a:rPr lang="en-US" altLang="zh-CN" sz="1400"/>
              <a:t>In stroke prediction systems, machine learning algorithms analyze multiple patient attributes such as age, blood pressure, glucose level, smoking habits, and body mass index to estimate the probability of stroke occurrence.</a:t>
            </a:r>
            <a:endParaRPr lang="en-US" altLang="zh-CN" sz="1400"/>
          </a:p>
          <a:p>
            <a:pPr algn="just"/>
            <a:r>
              <a:rPr lang="en-US" altLang="zh-CN" sz="1400"/>
              <a:t>Several machine learning algorithms have been used in healthcare prediction models, including Logistic Regression, Decision Trees, Support Vector Machines, Random Forest, Gradient Boosting, and Neural Networks. Among these algorithms, ensemble methods often provide higher prediction accuracy.</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141095" y="488950"/>
            <a:ext cx="5495925" cy="9335135"/>
          </a:xfrm>
          <a:prstGeom prst="rect">
            <a:avLst/>
          </a:prstGeom>
        </p:spPr>
        <p:txBody>
          <a:bodyPr>
            <a:noAutofit/>
          </a:bodyPr>
          <a:p>
            <a:pPr>
              <a:spcAft>
                <a:spcPct val="60000"/>
              </a:spcAft>
            </a:pPr>
            <a:r>
              <a:rPr lang="en-US" altLang="zh-CN" sz="1600" b="1"/>
              <a:t>2.3 Review of Previous Research Studies</a:t>
            </a:r>
            <a:endParaRPr lang="en-US" altLang="zh-CN" sz="1600" b="1"/>
          </a:p>
          <a:p>
            <a:pPr>
              <a:spcAft>
                <a:spcPct val="60000"/>
              </a:spcAft>
            </a:pPr>
            <a:r>
              <a:rPr lang="en-US" altLang="zh-CN" sz="1400" b="1"/>
              <a:t>2.3.1 Study by Smith et al. (2020)</a:t>
            </a:r>
            <a:endParaRPr lang="en-US" altLang="zh-CN" sz="1400" b="1"/>
          </a:p>
          <a:p>
            <a:pPr algn="just"/>
            <a:r>
              <a:rPr lang="en-US" altLang="zh-CN" sz="1400"/>
              <a:t>Smith and colleagues conducted a study on stroke prediction using logistic regression models. The researchers used a healthcare dataset containing demographic and clinical information such as age, hypertension status, heart disease history, and glucose levels.</a:t>
            </a:r>
            <a:endParaRPr lang="en-US" altLang="zh-CN" sz="1400"/>
          </a:p>
          <a:p>
            <a:pPr algn="just"/>
            <a:r>
              <a:rPr lang="en-US" altLang="zh-CN" sz="1400"/>
              <a:t>The logistic regression model was trained using historical patient records to predict stroke occurrence. The study showed that age and hypertension were among the most significant risk factors contributing to stroke. The model achieved moderate prediction accuracy but struggled to capture complex nonlinear relationships among variables.</a:t>
            </a:r>
            <a:endParaRPr lang="en-US" altLang="zh-CN" sz="1400"/>
          </a:p>
          <a:p>
            <a:pPr algn="just"/>
            <a:r>
              <a:rPr lang="en-US" altLang="zh-CN" sz="1400"/>
              <a:t>Although logistic regression is simple and interpretable, it may not perform well with complex datasets where multiple variables interact with each other. This limitation highlights the need for more advanced machine learning techniques.</a:t>
            </a:r>
            <a:endParaRPr lang="en-US" altLang="zh-CN" sz="1400"/>
          </a:p>
          <a:p>
            <a:pPr algn="just">
              <a:spcAft>
                <a:spcPct val="60000"/>
              </a:spcAft>
            </a:pPr>
            <a:r>
              <a:rPr lang="en-US" altLang="zh-CN" sz="1400" b="1"/>
              <a:t>2.3.2 Study by Kumar and Sharma (2021)</a:t>
            </a:r>
            <a:endParaRPr lang="en-US" altLang="zh-CN" sz="2200" b="1"/>
          </a:p>
          <a:p>
            <a:pPr algn="just"/>
            <a:r>
              <a:rPr lang="en-US" altLang="zh-CN" sz="1400"/>
              <a:t>Kumar and Sharma proposed a stroke prediction system using Decision Tree and Random Forest algorithms. The researchers used publicly available healthcare datasets and performed extensive preprocessing, including missing value handling and feature scaling.</a:t>
            </a:r>
            <a:endParaRPr lang="en-US" altLang="zh-CN" sz="1400"/>
          </a:p>
          <a:p>
            <a:pPr algn="just"/>
            <a:r>
              <a:rPr lang="en-US" altLang="zh-CN" sz="1400"/>
              <a:t>The results showed that Random Forest performed better than the Decision Tree model due to its ensemble nature. Random Forest combines multiple decision trees and aggregates their outputs to produce more reliable predictions.</a:t>
            </a:r>
            <a:endParaRPr lang="en-US" altLang="zh-CN" sz="1400"/>
          </a:p>
          <a:p>
            <a:pPr algn="just"/>
            <a:r>
              <a:rPr lang="en-US" altLang="zh-CN" sz="1400"/>
              <a:t>The study concluded that ensemble algorithms provide improved accuracy and robustness compared to individual models.</a:t>
            </a:r>
            <a:endParaRPr lang="en-US" altLang="zh-CN" sz="1400"/>
          </a:p>
          <a:p>
            <a:pPr algn="just">
              <a:spcAft>
                <a:spcPct val="60000"/>
              </a:spcAft>
            </a:pPr>
            <a:r>
              <a:rPr lang="en-US" altLang="zh-CN" sz="1400" b="1"/>
              <a:t>2.3.3 Study by Lee et al. (2021)</a:t>
            </a:r>
            <a:endParaRPr lang="en-US" altLang="zh-CN" sz="1400" b="1"/>
          </a:p>
          <a:p>
            <a:pPr algn="just"/>
            <a:r>
              <a:rPr lang="en-US" altLang="zh-CN" sz="1400"/>
              <a:t>Lee and colleagues conducted research on stroke prediction using Support Vector Machine (SVM) algorithms. The dataset used in the study included various clinical parameters such as BMI, glucose levels, and smoking status.</a:t>
            </a:r>
            <a:endParaRPr lang="en-US" altLang="zh-CN" sz="1400"/>
          </a:p>
          <a:p>
            <a:pPr algn="just"/>
            <a:r>
              <a:rPr lang="en-US" altLang="zh-CN" sz="1400"/>
              <a:t>The Support Vector Machine model showed promising results for classification tasks and demonstrated strong performance in handling high-dimensional datasets. However, the computational complexity of SVM models can be high, especially when working with large datasets.</a:t>
            </a:r>
            <a:endParaRPr lang="en-US" altLang="zh-CN" sz="1400"/>
          </a:p>
          <a:p>
            <a:pPr algn="just"/>
            <a:r>
              <a:rPr lang="en-US" altLang="zh-CN" sz="1400"/>
              <a:t>The study also emphasized the importance of feature selection in improving model performance.</a:t>
            </a:r>
            <a:endParaRPr lang="en-US" altLang="zh-CN" sz="1400"/>
          </a:p>
        </p:txBody>
      </p:sp>
      <p:sp>
        <p:nvSpPr>
          <p:cNvPr id="2" name="Slide Number Placeholder 1"/>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95070" y="669925"/>
            <a:ext cx="5610860" cy="8716645"/>
          </a:xfrm>
          <a:prstGeom prst="rect">
            <a:avLst/>
          </a:prstGeom>
        </p:spPr>
        <p:txBody>
          <a:bodyPr>
            <a:noAutofit/>
          </a:bodyPr>
          <a:p>
            <a:pPr>
              <a:spcAft>
                <a:spcPct val="60000"/>
              </a:spcAft>
            </a:pPr>
            <a:r>
              <a:rPr lang="en-US" altLang="zh-CN" sz="1400" b="1"/>
              <a:t>2.3.4 Study by Wang et al. (2022)</a:t>
            </a:r>
            <a:endParaRPr lang="en-US" altLang="zh-CN" sz="1400" b="1"/>
          </a:p>
          <a:p>
            <a:pPr algn="just"/>
            <a:r>
              <a:rPr lang="en-US" altLang="zh-CN" sz="1400"/>
              <a:t>Wang and colleagues developed a machine learning-based stroke prediction system using Gradient Boosting algorithms. The research focused on improving prediction accuracy through sequential model training.</a:t>
            </a:r>
            <a:endParaRPr lang="en-US" altLang="zh-CN" sz="1400"/>
          </a:p>
          <a:p>
            <a:pPr algn="just"/>
            <a:r>
              <a:rPr lang="en-US" altLang="zh-CN" sz="1400"/>
              <a:t>Gradient Boosting builds models iteratively by correcting the errors of previous models. This approach allows the algorithm to focus on difficult cases and improve overall performance.</a:t>
            </a:r>
            <a:endParaRPr lang="en-US" altLang="zh-CN" sz="1400"/>
          </a:p>
          <a:p>
            <a:pPr algn="just"/>
            <a:r>
              <a:rPr lang="en-US" altLang="zh-CN" sz="1400"/>
              <a:t>The study demonstrated that Gradient Boosting achieved higher accuracy compared to traditional machine learning algorithms.</a:t>
            </a:r>
            <a:endParaRPr lang="en-US" altLang="zh-CN" sz="1400"/>
          </a:p>
          <a:p>
            <a:pPr algn="just"/>
            <a:endParaRPr lang="en-US" altLang="zh-CN" sz="1400"/>
          </a:p>
          <a:p>
            <a:pPr algn="just">
              <a:spcAft>
                <a:spcPct val="60000"/>
              </a:spcAft>
            </a:pPr>
            <a:r>
              <a:rPr lang="en-US" altLang="zh-CN" sz="1400" b="1"/>
              <a:t>2.3.5 Study by Patel et al. (2022)</a:t>
            </a:r>
            <a:endParaRPr lang="en-US" altLang="zh-CN" sz="1400" b="1"/>
          </a:p>
          <a:p>
            <a:pPr algn="just"/>
            <a:r>
              <a:rPr lang="en-US" altLang="zh-CN" sz="1400"/>
              <a:t>Patel and colleagues proposed a hybrid stroke prediction system that combines multiple machine learning algorithms. The researchers used ensemble learning techniques to integrate the predictions from different models.</a:t>
            </a:r>
            <a:endParaRPr lang="en-US" altLang="zh-CN" sz="1400"/>
          </a:p>
          <a:p>
            <a:pPr algn="just"/>
            <a:r>
              <a:rPr lang="en-US" altLang="zh-CN" sz="1400"/>
              <a:t>The ensemble model included Logistic Regression, Random Forest, and Gradient Boosting classifiers. By combining predictions from multiple models, the system achieved improved accuracy and reduced prediction errors.</a:t>
            </a:r>
            <a:endParaRPr lang="en-US" altLang="zh-CN" sz="1400"/>
          </a:p>
          <a:p>
            <a:pPr algn="just"/>
            <a:r>
              <a:rPr lang="en-US" altLang="zh-CN" sz="1400"/>
              <a:t>The study highlighted the effectiveness of ensemble learning techniques in healthcare prediction systems.</a:t>
            </a:r>
            <a:endParaRPr lang="en-US" altLang="zh-CN" sz="1400"/>
          </a:p>
          <a:p>
            <a:pPr algn="just"/>
            <a:endParaRPr lang="en-US" altLang="zh-CN" sz="1400"/>
          </a:p>
          <a:p>
            <a:pPr algn="just"/>
            <a:endParaRPr lang="en-US" altLang="zh-CN" sz="1400"/>
          </a:p>
          <a:p>
            <a:pPr algn="just">
              <a:spcAft>
                <a:spcPct val="60000"/>
              </a:spcAft>
            </a:pPr>
            <a:r>
              <a:rPr lang="en-US" altLang="zh-CN" sz="1400" b="1"/>
              <a:t>2.3.6 Study by Chen et al. (2023)</a:t>
            </a:r>
            <a:endParaRPr lang="en-US" altLang="zh-CN" sz="1400" b="1"/>
          </a:p>
          <a:p>
            <a:pPr algn="just"/>
            <a:r>
              <a:rPr lang="en-US" altLang="zh-CN" sz="1400"/>
              <a:t>Chen and colleagues focused on addressing the problem of class imbalance in stroke datasets. In most healthcare datasets, the number of stroke cases is significantly smaller than non-stroke cases.</a:t>
            </a:r>
            <a:endParaRPr lang="en-US" altLang="zh-CN" sz="1400"/>
          </a:p>
          <a:p>
            <a:pPr algn="just"/>
            <a:r>
              <a:rPr lang="en-US" altLang="zh-CN" sz="1400"/>
              <a:t>To address this issue, the researchers used synthetic data generation techniques such as SMOTE (Synthetic Minority Oversampling Technique). The generated synthetic samples helped balance the dataset and improve model training.</a:t>
            </a:r>
            <a:endParaRPr lang="en-US" altLang="zh-CN" sz="1400"/>
          </a:p>
          <a:p>
            <a:pPr algn="just"/>
            <a:r>
              <a:rPr lang="en-US" altLang="zh-CN" sz="1400"/>
              <a:t>The results showed that balanced datasets significantly improved prediction accuracy and model reliability.</a:t>
            </a:r>
            <a:endParaRPr lang="en-US" altLang="zh-CN" sz="1400"/>
          </a:p>
          <a:p>
            <a:pPr algn="just">
              <a:spcAft>
                <a:spcPct val="60000"/>
              </a:spcAft>
            </a:pP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704850"/>
            <a:ext cx="5080000" cy="5760085"/>
          </a:xfrm>
          <a:prstGeom prst="rect">
            <a:avLst/>
          </a:prstGeom>
        </p:spPr>
        <p:txBody>
          <a:bodyPr>
            <a:noAutofit/>
          </a:bodyPr>
          <a:p>
            <a:pPr>
              <a:spcAft>
                <a:spcPct val="60000"/>
              </a:spcAft>
            </a:pPr>
            <a:r>
              <a:rPr lang="en-US" altLang="zh-CN" sz="1400" b="1">
                <a:sym typeface="+mn-ea"/>
              </a:rPr>
              <a:t>2.3.7 Study by Gupta et al. (2023)</a:t>
            </a:r>
            <a:endParaRPr lang="en-US" altLang="zh-CN" sz="1400" b="1"/>
          </a:p>
          <a:p>
            <a:pPr algn="just">
              <a:spcAft>
                <a:spcPct val="60000"/>
              </a:spcAft>
            </a:pPr>
            <a:r>
              <a:rPr lang="en-US" altLang="zh-CN" sz="1400">
                <a:sym typeface="+mn-ea"/>
              </a:rPr>
              <a:t>Gupta and colleagues proposed a deep learning approach for stroke prediction using neural networks. The model used multiple hidden layers to analyze complex relationships between medical parameters.</a:t>
            </a:r>
            <a:endParaRPr lang="en-US" altLang="zh-CN" sz="1400"/>
          </a:p>
          <a:p>
            <a:pPr algn="just">
              <a:spcAft>
                <a:spcPct val="60000"/>
              </a:spcAft>
            </a:pPr>
            <a:r>
              <a:rPr lang="en-US" altLang="zh-CN" sz="1400">
                <a:sym typeface="+mn-ea"/>
              </a:rPr>
              <a:t>Although deep learning models showed good performance, they required large datasets and high computational resources. The study concluded that deep learning models are suitable for large-scale healthcare systems but may not be practical for smaller datasets.</a:t>
            </a:r>
            <a:endParaRPr lang="en-US" altLang="zh-CN" sz="1400"/>
          </a:p>
          <a:p>
            <a:pPr algn="just">
              <a:spcAft>
                <a:spcPct val="60000"/>
              </a:spcAft>
            </a:pPr>
            <a:endParaRPr lang="en-US" altLang="zh-CN" sz="1400"/>
          </a:p>
          <a:p>
            <a:pPr algn="just">
              <a:spcAft>
                <a:spcPct val="60000"/>
              </a:spcAft>
            </a:pPr>
            <a:endParaRPr lang="en-US" altLang="zh-CN" sz="1400" b="1"/>
          </a:p>
          <a:p>
            <a:pPr algn="just">
              <a:spcAft>
                <a:spcPct val="60000"/>
              </a:spcAft>
            </a:pPr>
            <a:r>
              <a:rPr lang="en-US" altLang="zh-CN" sz="1400" b="1"/>
              <a:t>2.3.8 Study by Brown et al. (2024)</a:t>
            </a:r>
            <a:endParaRPr lang="en-US" altLang="zh-CN" sz="1400" b="1"/>
          </a:p>
          <a:p>
            <a:pPr algn="just"/>
            <a:r>
              <a:rPr lang="en-US" altLang="zh-CN" sz="1400"/>
              <a:t>Brown and colleagues developed a web-based stroke prediction platform using machine learning algorithms. The system allowed users to input their health information and receive real-time predictions.</a:t>
            </a:r>
            <a:endParaRPr lang="en-US" altLang="zh-CN" sz="1400"/>
          </a:p>
          <a:p>
            <a:pPr algn="just"/>
            <a:r>
              <a:rPr lang="en-US" altLang="zh-CN" sz="1400"/>
              <a:t>The platform integrated machine learning models with a web interface, making it accessible to both healthcare professionals and patients. The study emphasized the importance of deploying machine learning models in practical healthcare applications</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1000125"/>
            <a:ext cx="5080000" cy="3792855"/>
          </a:xfrm>
          <a:prstGeom prst="rect">
            <a:avLst/>
          </a:prstGeom>
        </p:spPr>
        <p:txBody>
          <a:bodyPr>
            <a:noAutofit/>
          </a:bodyPr>
          <a:p>
            <a:pPr>
              <a:spcAft>
                <a:spcPct val="60000"/>
              </a:spcAft>
            </a:pPr>
            <a:r>
              <a:rPr lang="en-US" altLang="zh-CN" sz="1600" b="1"/>
              <a:t>2.4 Comparative Analysis of Previous Studies</a:t>
            </a:r>
            <a:endParaRPr lang="en-US" altLang="zh-CN" sz="1600" b="1"/>
          </a:p>
          <a:p>
            <a:pPr algn="just"/>
            <a:r>
              <a:rPr lang="en-US" altLang="zh-CN" sz="1400"/>
              <a:t>The reviewed studies demonstrate that machine learning algorithms have significant potential in predicting stroke risk. However, different algorithms provide varying levels of accuracy and performance.</a:t>
            </a:r>
            <a:endParaRPr lang="en-US" altLang="zh-CN" sz="1400"/>
          </a:p>
          <a:p>
            <a:pPr algn="just"/>
            <a:r>
              <a:rPr lang="en-US" altLang="zh-CN" sz="1400"/>
              <a:t>A comparison of the reviewed studies is presented below.</a:t>
            </a:r>
            <a:endParaRPr lang="en-US" altLang="zh-CN" sz="1400"/>
          </a:p>
        </p:txBody>
      </p:sp>
      <p:graphicFrame>
        <p:nvGraphicFramePr>
          <p:cNvPr id="3" name="Table 2"/>
          <p:cNvGraphicFramePr/>
          <p:nvPr>
            <p:custDataLst>
              <p:tags r:id="rId1"/>
            </p:custDataLst>
          </p:nvPr>
        </p:nvGraphicFramePr>
        <p:xfrm>
          <a:off x="685800" y="2743200"/>
          <a:ext cx="6504940" cy="4509135"/>
        </p:xfrm>
        <a:graphic>
          <a:graphicData uri="http://schemas.openxmlformats.org/drawingml/2006/table">
            <a:tbl>
              <a:tblPr/>
              <a:tblGrid>
                <a:gridCol w="1626235"/>
                <a:gridCol w="1626235"/>
                <a:gridCol w="1626235"/>
                <a:gridCol w="1626235"/>
              </a:tblGrid>
              <a:tr h="501015">
                <a:tc>
                  <a:txBody>
                    <a:bodyPr/>
                    <a:p>
                      <a:r>
                        <a:rPr lang="en-US" altLang="zh-CN" sz="1100"/>
                        <a:t>Author</a:t>
                      </a:r>
                      <a:endParaRPr lang="en-US" altLang="zh-CN" sz="1100"/>
                    </a:p>
                  </a:txBody>
                  <a:tcPr marL="0" marR="0" marT="0" marB="0" anchor="ctr" anchorCtr="0">
                    <a:lnL>
                      <a:noFill/>
                    </a:lnL>
                    <a:lnR>
                      <a:noFill/>
                    </a:lnR>
                    <a:lnT>
                      <a:noFill/>
                    </a:lnT>
                    <a:lnB>
                      <a:noFill/>
                    </a:lnB>
                    <a:noFill/>
                  </a:tcPr>
                </a:tc>
                <a:tc>
                  <a:txBody>
                    <a:bodyPr/>
                    <a:p>
                      <a:r>
                        <a:rPr lang="en-US" altLang="zh-CN" sz="1100"/>
                        <a:t>Algorithm Used</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r>
              <a:tr h="501015">
                <a:tc>
                  <a:txBody>
                    <a:bodyPr/>
                    <a:p>
                      <a:r>
                        <a:rPr lang="en-US" altLang="zh-CN" sz="1100"/>
                        <a:t>Smith et al.</a:t>
                      </a:r>
                      <a:endParaRPr lang="en-US" altLang="zh-CN" sz="1100"/>
                    </a:p>
                  </a:txBody>
                  <a:tcPr marL="0" marR="0" marT="0" marB="0" anchor="ctr" anchorCtr="0">
                    <a:lnL>
                      <a:noFill/>
                    </a:lnL>
                    <a:lnR>
                      <a:noFill/>
                    </a:lnR>
                    <a:lnT>
                      <a:noFill/>
                    </a:lnT>
                    <a:lnB>
                      <a:noFill/>
                    </a:lnB>
                    <a:noFill/>
                  </a:tcPr>
                </a:tc>
                <a:tc>
                  <a:txBody>
                    <a:bodyPr/>
                    <a:p>
                      <a:r>
                        <a:rPr lang="en-US" altLang="zh-CN" sz="1100"/>
                        <a:t>Logistic Regression</a:t>
                      </a:r>
                      <a:endParaRPr lang="en-US" altLang="zh-CN" sz="1100"/>
                    </a:p>
                  </a:txBody>
                  <a:tcPr marL="0" marR="0" marT="0" marB="0" anchor="ctr" anchorCtr="0">
                    <a:lnL>
                      <a:noFill/>
                    </a:lnL>
                    <a:lnR>
                      <a:noFill/>
                    </a:lnR>
                    <a:lnT>
                      <a:noFill/>
                    </a:lnT>
                    <a:lnB>
                      <a:noFill/>
                    </a:lnB>
                    <a:noFill/>
                  </a:tcPr>
                </a:tc>
                <a:tc>
                  <a:txBody>
                    <a:bodyPr/>
                    <a:p>
                      <a:r>
                        <a:rPr lang="en-US" altLang="zh-CN" sz="1100"/>
                        <a:t>Simple and interpretable</a:t>
                      </a:r>
                      <a:endParaRPr lang="en-US" altLang="zh-CN" sz="1100"/>
                    </a:p>
                  </a:txBody>
                  <a:tcPr marL="0" marR="0" marT="0" marB="0" anchor="ctr" anchorCtr="0">
                    <a:lnL>
                      <a:noFill/>
                    </a:lnL>
                    <a:lnR>
                      <a:noFill/>
                    </a:lnR>
                    <a:lnT>
                      <a:noFill/>
                    </a:lnT>
                    <a:lnB>
                      <a:noFill/>
                    </a:lnB>
                    <a:noFill/>
                  </a:tcPr>
                </a:tc>
                <a:tc>
                  <a:txBody>
                    <a:bodyPr/>
                    <a:p>
                      <a:r>
                        <a:rPr lang="en-US" altLang="zh-CN" sz="1100"/>
                        <a:t>Lower accuracy</a:t>
                      </a:r>
                      <a:endParaRPr lang="en-US" altLang="zh-CN" sz="1100"/>
                    </a:p>
                  </a:txBody>
                  <a:tcPr marL="0" marR="0" marT="0" marB="0" anchor="ctr" anchorCtr="0">
                    <a:lnL>
                      <a:noFill/>
                    </a:lnL>
                    <a:lnR>
                      <a:noFill/>
                    </a:lnR>
                    <a:lnT>
                      <a:noFill/>
                    </a:lnT>
                    <a:lnB>
                      <a:noFill/>
                    </a:lnB>
                    <a:noFill/>
                  </a:tcPr>
                </a:tc>
              </a:tr>
              <a:tr h="501015">
                <a:tc>
                  <a:txBody>
                    <a:bodyPr/>
                    <a:p>
                      <a:r>
                        <a:rPr lang="en-US" altLang="zh-CN" sz="1100"/>
                        <a:t>Kumar &amp; Sharma</a:t>
                      </a:r>
                      <a:endParaRPr lang="en-US" altLang="zh-CN" sz="1100"/>
                    </a:p>
                  </a:txBody>
                  <a:tcPr marL="0" marR="0" marT="0" marB="0" anchor="ctr" anchorCtr="0">
                    <a:lnL>
                      <a:noFill/>
                    </a:lnL>
                    <a:lnR>
                      <a:noFill/>
                    </a:lnR>
                    <a:lnT>
                      <a:noFill/>
                    </a:lnT>
                    <a:lnB>
                      <a:noFill/>
                    </a:lnB>
                    <a:noFill/>
                  </a:tcPr>
                </a:tc>
                <a:tc>
                  <a:txBody>
                    <a:bodyPr/>
                    <a:p>
                      <a:r>
                        <a:rPr lang="en-US" altLang="zh-CN" sz="1100"/>
                        <a:t>Random Forest</a:t>
                      </a:r>
                      <a:endParaRPr lang="en-US" altLang="zh-CN" sz="1100"/>
                    </a:p>
                  </a:txBody>
                  <a:tcPr marL="0" marR="0" marT="0" marB="0" anchor="ctr" anchorCtr="0">
                    <a:lnL>
                      <a:noFill/>
                    </a:lnL>
                    <a:lnR>
                      <a:noFill/>
                    </a:lnR>
                    <a:lnT>
                      <a:noFill/>
                    </a:lnT>
                    <a:lnB>
                      <a:noFill/>
                    </a:lnB>
                    <a:noFill/>
                  </a:tcPr>
                </a:tc>
                <a:tc>
                  <a:txBody>
                    <a:bodyPr/>
                    <a:p>
                      <a:r>
                        <a:rPr lang="en-US" altLang="zh-CN" sz="1100"/>
                        <a:t>High accuracy</a:t>
                      </a:r>
                      <a:endParaRPr lang="en-US" altLang="zh-CN" sz="1100"/>
                    </a:p>
                  </a:txBody>
                  <a:tcPr marL="0" marR="0" marT="0" marB="0" anchor="ctr" anchorCtr="0">
                    <a:lnL>
                      <a:noFill/>
                    </a:lnL>
                    <a:lnR>
                      <a:noFill/>
                    </a:lnR>
                    <a:lnT>
                      <a:noFill/>
                    </a:lnT>
                    <a:lnB>
                      <a:noFill/>
                    </a:lnB>
                    <a:noFill/>
                  </a:tcPr>
                </a:tc>
                <a:tc>
                  <a:txBody>
                    <a:bodyPr/>
                    <a:p>
                      <a:r>
                        <a:rPr lang="en-US" altLang="zh-CN" sz="1100"/>
                        <a:t>Requires tuning</a:t>
                      </a:r>
                      <a:endParaRPr lang="en-US" altLang="zh-CN" sz="1100"/>
                    </a:p>
                  </a:txBody>
                  <a:tcPr marL="0" marR="0" marT="0" marB="0" anchor="ctr" anchorCtr="0">
                    <a:lnL>
                      <a:noFill/>
                    </a:lnL>
                    <a:lnR>
                      <a:noFill/>
                    </a:lnR>
                    <a:lnT>
                      <a:noFill/>
                    </a:lnT>
                    <a:lnB>
                      <a:noFill/>
                    </a:lnB>
                    <a:noFill/>
                  </a:tcPr>
                </a:tc>
              </a:tr>
              <a:tr h="501015">
                <a:tc>
                  <a:txBody>
                    <a:bodyPr/>
                    <a:p>
                      <a:r>
                        <a:rPr lang="en-US" altLang="zh-CN" sz="1100"/>
                        <a:t>Lee et al.</a:t>
                      </a:r>
                      <a:endParaRPr lang="en-US" altLang="zh-CN" sz="1100"/>
                    </a:p>
                  </a:txBody>
                  <a:tcPr marL="0" marR="0" marT="0" marB="0" anchor="ctr" anchorCtr="0">
                    <a:lnL>
                      <a:noFill/>
                    </a:lnL>
                    <a:lnR>
                      <a:noFill/>
                    </a:lnR>
                    <a:lnT>
                      <a:noFill/>
                    </a:lnT>
                    <a:lnB>
                      <a:noFill/>
                    </a:lnB>
                    <a:noFill/>
                  </a:tcPr>
                </a:tc>
                <a:tc>
                  <a:txBody>
                    <a:bodyPr/>
                    <a:p>
                      <a:r>
                        <a:rPr lang="en-US" altLang="zh-CN" sz="1100"/>
                        <a:t>SVM</a:t>
                      </a:r>
                      <a:endParaRPr lang="en-US" altLang="zh-CN" sz="1100"/>
                    </a:p>
                  </a:txBody>
                  <a:tcPr marL="0" marR="0" marT="0" marB="0" anchor="ctr" anchorCtr="0">
                    <a:lnL>
                      <a:noFill/>
                    </a:lnL>
                    <a:lnR>
                      <a:noFill/>
                    </a:lnR>
                    <a:lnT>
                      <a:noFill/>
                    </a:lnT>
                    <a:lnB>
                      <a:noFill/>
                    </a:lnB>
                    <a:noFill/>
                  </a:tcPr>
                </a:tc>
                <a:tc>
                  <a:txBody>
                    <a:bodyPr/>
                    <a:p>
                      <a:r>
                        <a:rPr lang="en-US" altLang="zh-CN" sz="1100"/>
                        <a:t>Handles complex data</a:t>
                      </a:r>
                      <a:endParaRPr lang="en-US" altLang="zh-CN" sz="1100"/>
                    </a:p>
                  </a:txBody>
                  <a:tcPr marL="0" marR="0" marT="0" marB="0" anchor="ctr" anchorCtr="0">
                    <a:lnL>
                      <a:noFill/>
                    </a:lnL>
                    <a:lnR>
                      <a:noFill/>
                    </a:lnR>
                    <a:lnT>
                      <a:noFill/>
                    </a:lnT>
                    <a:lnB>
                      <a:noFill/>
                    </a:lnB>
                    <a:noFill/>
                  </a:tcPr>
                </a:tc>
                <a:tc>
                  <a:txBody>
                    <a:bodyPr/>
                    <a:p>
                      <a:r>
                        <a:rPr lang="en-US" altLang="zh-CN" sz="1100"/>
                        <a:t>High computation</a:t>
                      </a:r>
                      <a:endParaRPr lang="en-US" altLang="zh-CN" sz="1100"/>
                    </a:p>
                  </a:txBody>
                  <a:tcPr marL="0" marR="0" marT="0" marB="0" anchor="ctr" anchorCtr="0">
                    <a:lnL>
                      <a:noFill/>
                    </a:lnL>
                    <a:lnR>
                      <a:noFill/>
                    </a:lnR>
                    <a:lnT>
                      <a:noFill/>
                    </a:lnT>
                    <a:lnB>
                      <a:noFill/>
                    </a:lnB>
                    <a:noFill/>
                  </a:tcPr>
                </a:tc>
              </a:tr>
              <a:tr h="501015">
                <a:tc>
                  <a:txBody>
                    <a:bodyPr/>
                    <a:p>
                      <a:r>
                        <a:rPr lang="en-US" altLang="zh-CN" sz="1100"/>
                        <a:t>Wang et al.</a:t>
                      </a:r>
                      <a:endParaRPr lang="en-US" altLang="zh-CN" sz="1100"/>
                    </a:p>
                  </a:txBody>
                  <a:tcPr marL="0" marR="0" marT="0" marB="0" anchor="ctr" anchorCtr="0">
                    <a:lnL>
                      <a:noFill/>
                    </a:lnL>
                    <a:lnR>
                      <a:noFill/>
                    </a:lnR>
                    <a:lnT>
                      <a:noFill/>
                    </a:lnT>
                    <a:lnB>
                      <a:noFill/>
                    </a:lnB>
                    <a:noFill/>
                  </a:tcPr>
                </a:tc>
                <a:tc>
                  <a:txBody>
                    <a:bodyPr/>
                    <a:p>
                      <a:r>
                        <a:rPr lang="en-US" altLang="zh-CN" sz="1100"/>
                        <a:t>Gradient Boosting</a:t>
                      </a:r>
                      <a:endParaRPr lang="en-US" altLang="zh-CN" sz="1100"/>
                    </a:p>
                  </a:txBody>
                  <a:tcPr marL="0" marR="0" marT="0" marB="0" anchor="ctr" anchorCtr="0">
                    <a:lnL>
                      <a:noFill/>
                    </a:lnL>
                    <a:lnR>
                      <a:noFill/>
                    </a:lnR>
                    <a:lnT>
                      <a:noFill/>
                    </a:lnT>
                    <a:lnB>
                      <a:noFill/>
                    </a:lnB>
                    <a:noFill/>
                  </a:tcPr>
                </a:tc>
                <a:tc>
                  <a:txBody>
                    <a:bodyPr/>
                    <a:p>
                      <a:r>
                        <a:rPr lang="en-US" altLang="zh-CN" sz="1100"/>
                        <a:t>Strong performance</a:t>
                      </a:r>
                      <a:endParaRPr lang="en-US" altLang="zh-CN" sz="1100"/>
                    </a:p>
                  </a:txBody>
                  <a:tcPr marL="0" marR="0" marT="0" marB="0" anchor="ctr" anchorCtr="0">
                    <a:lnL>
                      <a:noFill/>
                    </a:lnL>
                    <a:lnR>
                      <a:noFill/>
                    </a:lnR>
                    <a:lnT>
                      <a:noFill/>
                    </a:lnT>
                    <a:lnB>
                      <a:noFill/>
                    </a:lnB>
                    <a:noFill/>
                  </a:tcPr>
                </a:tc>
                <a:tc>
                  <a:txBody>
                    <a:bodyPr/>
                    <a:p>
                      <a:r>
                        <a:rPr lang="en-US" altLang="zh-CN" sz="1100"/>
                        <a:t>Longer training time</a:t>
                      </a:r>
                      <a:endParaRPr lang="en-US" altLang="zh-CN" sz="1100"/>
                    </a:p>
                  </a:txBody>
                  <a:tcPr marL="0" marR="0" marT="0" marB="0" anchor="ctr" anchorCtr="0">
                    <a:lnL>
                      <a:noFill/>
                    </a:lnL>
                    <a:lnR>
                      <a:noFill/>
                    </a:lnR>
                    <a:lnT>
                      <a:noFill/>
                    </a:lnT>
                    <a:lnB>
                      <a:noFill/>
                    </a:lnB>
                    <a:noFill/>
                  </a:tcPr>
                </a:tc>
              </a:tr>
              <a:tr h="501015">
                <a:tc>
                  <a:txBody>
                    <a:bodyPr/>
                    <a:p>
                      <a:r>
                        <a:rPr lang="en-US" altLang="zh-CN" sz="1100"/>
                        <a:t>Patel et al.</a:t>
                      </a:r>
                      <a:endParaRPr lang="en-US" altLang="zh-CN" sz="1100"/>
                    </a:p>
                  </a:txBody>
                  <a:tcPr marL="0" marR="0" marT="0" marB="0" anchor="ctr" anchorCtr="0">
                    <a:lnL>
                      <a:noFill/>
                    </a:lnL>
                    <a:lnR>
                      <a:noFill/>
                    </a:lnR>
                    <a:lnT>
                      <a:noFill/>
                    </a:lnT>
                    <a:lnB>
                      <a:noFill/>
                    </a:lnB>
                    <a:noFill/>
                  </a:tcPr>
                </a:tc>
                <a:tc>
                  <a:txBody>
                    <a:bodyPr/>
                    <a:p>
                      <a:r>
                        <a:rPr lang="en-US" altLang="zh-CN" sz="1100"/>
                        <a:t>Ensemble Models</a:t>
                      </a:r>
                      <a:endParaRPr lang="en-US" altLang="zh-CN" sz="1100"/>
                    </a:p>
                  </a:txBody>
                  <a:tcPr marL="0" marR="0" marT="0" marB="0" anchor="ctr" anchorCtr="0">
                    <a:lnL>
                      <a:noFill/>
                    </a:lnL>
                    <a:lnR>
                      <a:noFill/>
                    </a:lnR>
                    <a:lnT>
                      <a:noFill/>
                    </a:lnT>
                    <a:lnB>
                      <a:noFill/>
                    </a:lnB>
                    <a:noFill/>
                  </a:tcPr>
                </a:tc>
                <a:tc>
                  <a:txBody>
                    <a:bodyPr/>
                    <a:p>
                      <a:r>
                        <a:rPr lang="en-US" altLang="zh-CN" sz="1100"/>
                        <a:t>Improved accuracy</a:t>
                      </a:r>
                      <a:endParaRPr lang="en-US" altLang="zh-CN" sz="1100"/>
                    </a:p>
                  </a:txBody>
                  <a:tcPr marL="0" marR="0" marT="0" marB="0" anchor="ctr" anchorCtr="0">
                    <a:lnL>
                      <a:noFill/>
                    </a:lnL>
                    <a:lnR>
                      <a:noFill/>
                    </a:lnR>
                    <a:lnT>
                      <a:noFill/>
                    </a:lnT>
                    <a:lnB>
                      <a:noFill/>
                    </a:lnB>
                    <a:noFill/>
                  </a:tcPr>
                </a:tc>
                <a:tc>
                  <a:txBody>
                    <a:bodyPr/>
                    <a:p>
                      <a:r>
                        <a:rPr lang="en-US" altLang="zh-CN" sz="1100"/>
                        <a:t>Complex implementation</a:t>
                      </a:r>
                      <a:endParaRPr lang="en-US" altLang="zh-CN" sz="1100"/>
                    </a:p>
                  </a:txBody>
                  <a:tcPr marL="0" marR="0" marT="0" marB="0" anchor="ctr" anchorCtr="0">
                    <a:lnL>
                      <a:noFill/>
                    </a:lnL>
                    <a:lnR>
                      <a:noFill/>
                    </a:lnR>
                    <a:lnT>
                      <a:noFill/>
                    </a:lnT>
                    <a:lnB>
                      <a:noFill/>
                    </a:lnB>
                    <a:noFill/>
                  </a:tcPr>
                </a:tc>
              </a:tr>
              <a:tr h="501015">
                <a:tc>
                  <a:txBody>
                    <a:bodyPr/>
                    <a:p>
                      <a:r>
                        <a:rPr lang="en-US" altLang="zh-CN" sz="1100"/>
                        <a:t>Chen et al.</a:t>
                      </a:r>
                      <a:endParaRPr lang="en-US" altLang="zh-CN" sz="1100"/>
                    </a:p>
                  </a:txBody>
                  <a:tcPr marL="0" marR="0" marT="0" marB="0" anchor="ctr" anchorCtr="0">
                    <a:lnL>
                      <a:noFill/>
                    </a:lnL>
                    <a:lnR>
                      <a:noFill/>
                    </a:lnR>
                    <a:lnT>
                      <a:noFill/>
                    </a:lnT>
                    <a:lnB>
                      <a:noFill/>
                    </a:lnB>
                    <a:noFill/>
                  </a:tcPr>
                </a:tc>
                <a:tc>
                  <a:txBody>
                    <a:bodyPr/>
                    <a:p>
                      <a:r>
                        <a:rPr lang="en-US" altLang="zh-CN" sz="1100"/>
                        <a:t>SMOTE + ML</a:t>
                      </a:r>
                      <a:endParaRPr lang="en-US" altLang="zh-CN" sz="1100"/>
                    </a:p>
                  </a:txBody>
                  <a:tcPr marL="0" marR="0" marT="0" marB="0" anchor="ctr" anchorCtr="0">
                    <a:lnL>
                      <a:noFill/>
                    </a:lnL>
                    <a:lnR>
                      <a:noFill/>
                    </a:lnR>
                    <a:lnT>
                      <a:noFill/>
                    </a:lnT>
                    <a:lnB>
                      <a:noFill/>
                    </a:lnB>
                    <a:noFill/>
                  </a:tcPr>
                </a:tc>
                <a:tc>
                  <a:txBody>
                    <a:bodyPr/>
                    <a:p>
                      <a:r>
                        <a:rPr lang="en-US" altLang="zh-CN" sz="1100"/>
                        <a:t>Handles imbalance</a:t>
                      </a:r>
                      <a:endParaRPr lang="en-US" altLang="zh-CN" sz="1100"/>
                    </a:p>
                  </a:txBody>
                  <a:tcPr marL="0" marR="0" marT="0" marB="0" anchor="ctr" anchorCtr="0">
                    <a:lnL>
                      <a:noFill/>
                    </a:lnL>
                    <a:lnR>
                      <a:noFill/>
                    </a:lnR>
                    <a:lnT>
                      <a:noFill/>
                    </a:lnT>
                    <a:lnB>
                      <a:noFill/>
                    </a:lnB>
                    <a:noFill/>
                  </a:tcPr>
                </a:tc>
                <a:tc>
                  <a:txBody>
                    <a:bodyPr/>
                    <a:p>
                      <a:r>
                        <a:rPr lang="en-US" altLang="zh-CN" sz="1100"/>
                        <a:t>Synthetic data dependency</a:t>
                      </a:r>
                      <a:endParaRPr lang="en-US" altLang="zh-CN" sz="1100"/>
                    </a:p>
                  </a:txBody>
                  <a:tcPr marL="0" marR="0" marT="0" marB="0" anchor="ctr" anchorCtr="0">
                    <a:lnL>
                      <a:noFill/>
                    </a:lnL>
                    <a:lnR>
                      <a:noFill/>
                    </a:lnR>
                    <a:lnT>
                      <a:noFill/>
                    </a:lnT>
                    <a:lnB>
                      <a:noFill/>
                    </a:lnB>
                    <a:noFill/>
                  </a:tcPr>
                </a:tc>
              </a:tr>
              <a:tr h="501015">
                <a:tc>
                  <a:txBody>
                    <a:bodyPr/>
                    <a:p>
                      <a:r>
                        <a:rPr lang="en-US" altLang="zh-CN" sz="1100"/>
                        <a:t>Gupta et al.</a:t>
                      </a:r>
                      <a:endParaRPr lang="en-US" altLang="zh-CN" sz="1100"/>
                    </a:p>
                  </a:txBody>
                  <a:tcPr marL="0" marR="0" marT="0" marB="0" anchor="ctr" anchorCtr="0">
                    <a:lnL>
                      <a:noFill/>
                    </a:lnL>
                    <a:lnR>
                      <a:noFill/>
                    </a:lnR>
                    <a:lnT>
                      <a:noFill/>
                    </a:lnT>
                    <a:lnB>
                      <a:noFill/>
                    </a:lnB>
                    <a:noFill/>
                  </a:tcPr>
                </a:tc>
                <a:tc>
                  <a:txBody>
                    <a:bodyPr/>
                    <a:p>
                      <a:r>
                        <a:rPr lang="en-US" altLang="zh-CN" sz="1100"/>
                        <a:t>Neural Networks</a:t>
                      </a:r>
                      <a:endParaRPr lang="en-US" altLang="zh-CN" sz="1100"/>
                    </a:p>
                  </a:txBody>
                  <a:tcPr marL="0" marR="0" marT="0" marB="0" anchor="ctr" anchorCtr="0">
                    <a:lnL>
                      <a:noFill/>
                    </a:lnL>
                    <a:lnR>
                      <a:noFill/>
                    </a:lnR>
                    <a:lnT>
                      <a:noFill/>
                    </a:lnT>
                    <a:lnB>
                      <a:noFill/>
                    </a:lnB>
                    <a:noFill/>
                  </a:tcPr>
                </a:tc>
                <a:tc>
                  <a:txBody>
                    <a:bodyPr/>
                    <a:p>
                      <a:r>
                        <a:rPr lang="en-US" altLang="zh-CN" sz="1100"/>
                        <a:t>Captures complex patterns</a:t>
                      </a:r>
                      <a:endParaRPr lang="en-US" altLang="zh-CN" sz="1100"/>
                    </a:p>
                  </a:txBody>
                  <a:tcPr marL="0" marR="0" marT="0" marB="0" anchor="ctr" anchorCtr="0">
                    <a:lnL>
                      <a:noFill/>
                    </a:lnL>
                    <a:lnR>
                      <a:noFill/>
                    </a:lnR>
                    <a:lnT>
                      <a:noFill/>
                    </a:lnT>
                    <a:lnB>
                      <a:noFill/>
                    </a:lnB>
                    <a:noFill/>
                  </a:tcPr>
                </a:tc>
                <a:tc>
                  <a:txBody>
                    <a:bodyPr/>
                    <a:p>
                      <a:r>
                        <a:rPr lang="en-US" altLang="zh-CN" sz="1100"/>
                        <a:t>Requires large dataset</a:t>
                      </a:r>
                      <a:endParaRPr lang="en-US" altLang="zh-CN" sz="1100"/>
                    </a:p>
                  </a:txBody>
                  <a:tcPr marL="0" marR="0" marT="0" marB="0" anchor="ctr" anchorCtr="0">
                    <a:lnL>
                      <a:noFill/>
                    </a:lnL>
                    <a:lnR>
                      <a:noFill/>
                    </a:lnR>
                    <a:lnT>
                      <a:noFill/>
                    </a:lnT>
                    <a:lnB>
                      <a:noFill/>
                    </a:lnB>
                    <a:noFill/>
                  </a:tcPr>
                </a:tc>
              </a:tr>
              <a:tr h="501015">
                <a:tc>
                  <a:txBody>
                    <a:bodyPr/>
                    <a:p>
                      <a:r>
                        <a:rPr lang="en-US" altLang="zh-CN" sz="1100"/>
                        <a:t>Brown et al.</a:t>
                      </a:r>
                      <a:endParaRPr lang="en-US" altLang="zh-CN" sz="1100"/>
                    </a:p>
                  </a:txBody>
                  <a:tcPr marL="0" marR="0" marT="0" marB="0" anchor="ctr" anchorCtr="0">
                    <a:lnL>
                      <a:noFill/>
                    </a:lnL>
                    <a:lnR>
                      <a:noFill/>
                    </a:lnR>
                    <a:lnT>
                      <a:noFill/>
                    </a:lnT>
                    <a:lnB>
                      <a:noFill/>
                    </a:lnB>
                    <a:noFill/>
                  </a:tcPr>
                </a:tc>
                <a:tc>
                  <a:txBody>
                    <a:bodyPr/>
                    <a:p>
                      <a:r>
                        <a:rPr lang="en-US" altLang="zh-CN" sz="1100"/>
                        <a:t>Web-based ML system</a:t>
                      </a:r>
                      <a:endParaRPr lang="en-US" altLang="zh-CN" sz="1100"/>
                    </a:p>
                  </a:txBody>
                  <a:tcPr marL="0" marR="0" marT="0" marB="0" anchor="ctr" anchorCtr="0">
                    <a:lnL>
                      <a:noFill/>
                    </a:lnL>
                    <a:lnR>
                      <a:noFill/>
                    </a:lnR>
                    <a:lnT>
                      <a:noFill/>
                    </a:lnT>
                    <a:lnB>
                      <a:noFill/>
                    </a:lnB>
                    <a:noFill/>
                  </a:tcPr>
                </a:tc>
                <a:tc>
                  <a:txBody>
                    <a:bodyPr/>
                    <a:p>
                      <a:r>
                        <a:rPr lang="en-US" altLang="zh-CN" sz="1100"/>
                        <a:t>Real-time prediction</a:t>
                      </a:r>
                      <a:endParaRPr lang="en-US" altLang="zh-CN" sz="1100"/>
                    </a:p>
                  </a:txBody>
                  <a:tcPr marL="0" marR="0" marT="0" marB="0" anchor="ctr" anchorCtr="0">
                    <a:lnL>
                      <a:noFill/>
                    </a:lnL>
                    <a:lnR>
                      <a:noFill/>
                    </a:lnR>
                    <a:lnT>
                      <a:noFill/>
                    </a:lnT>
                    <a:lnB>
                      <a:noFill/>
                    </a:lnB>
                    <a:noFill/>
                  </a:tcPr>
                </a:tc>
                <a:tc>
                  <a:txBody>
                    <a:bodyPr/>
                    <a:p>
                      <a:r>
                        <a:rPr lang="en-US" altLang="zh-CN" sz="1100"/>
                        <a:t>Limited features</a:t>
                      </a:r>
                      <a:endParaRPr lang="en-US" altLang="zh-CN" sz="1100"/>
                    </a:p>
                  </a:txBody>
                  <a:tcPr marL="0" marR="0" marT="0" marB="0" anchor="ctr" anchorCtr="0">
                    <a:lnL>
                      <a:noFill/>
                    </a:lnL>
                    <a:lnR>
                      <a:noFill/>
                    </a:lnR>
                    <a:lnT>
                      <a:noFill/>
                    </a:lnT>
                    <a:lnB>
                      <a:noFill/>
                    </a:lnB>
                    <a:noFill/>
                  </a:tcPr>
                </a:tc>
              </a:tr>
            </a:tbl>
          </a:graphicData>
        </a:graphic>
      </p:graphicFrame>
      <p:sp>
        <p:nvSpPr>
          <p:cNvPr id="4" name="Text Box 3"/>
          <p:cNvSpPr txBox="1"/>
          <p:nvPr/>
        </p:nvSpPr>
        <p:spPr>
          <a:xfrm>
            <a:off x="1252220" y="7073900"/>
            <a:ext cx="5173980" cy="2348865"/>
          </a:xfrm>
          <a:prstGeom prst="rect">
            <a:avLst/>
          </a:prstGeom>
        </p:spPr>
        <p:txBody>
          <a:bodyPr>
            <a:noAutofit/>
          </a:bodyPr>
          <a:p>
            <a:endParaRPr lang="en-US" altLang="zh-CN" sz="2600"/>
          </a:p>
          <a:p>
            <a:pPr algn="just"/>
            <a:r>
              <a:rPr lang="en-US" altLang="zh-CN" sz="1400"/>
              <a:t>From the comparison, it can be observed that ensemble learning methods such as Random Forest and Gradient Boosting provide better prediction performance for stroke prediction tasks.</a:t>
            </a:r>
            <a:endParaRPr lang="en-US" altLang="zh-CN" sz="14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928370"/>
            <a:ext cx="5080000" cy="6903720"/>
          </a:xfrm>
          <a:prstGeom prst="rect">
            <a:avLst/>
          </a:prstGeom>
        </p:spPr>
        <p:txBody>
          <a:bodyPr>
            <a:noAutofit/>
          </a:bodyPr>
          <a:p>
            <a:pPr>
              <a:spcAft>
                <a:spcPct val="60000"/>
              </a:spcAft>
            </a:pPr>
            <a:r>
              <a:rPr lang="en-US" altLang="zh-CN" sz="1600" b="1"/>
              <a:t>2.5 Research Gap</a:t>
            </a:r>
            <a:endParaRPr lang="en-US" altLang="zh-CN" sz="1600" b="1"/>
          </a:p>
          <a:p>
            <a:pPr>
              <a:spcAft>
                <a:spcPct val="60000"/>
              </a:spcAft>
            </a:pPr>
            <a:endParaRPr lang="en-US" altLang="zh-CN" sz="1600" b="1"/>
          </a:p>
          <a:p>
            <a:pPr algn="just"/>
            <a:r>
              <a:rPr lang="en-US" altLang="zh-CN" sz="1600"/>
              <a:t>Although many studies have explored machine learning techniques for stroke prediction, several challenges still remain.</a:t>
            </a:r>
            <a:endParaRPr lang="en-US" altLang="zh-CN" sz="1600"/>
          </a:p>
          <a:p>
            <a:pPr algn="just"/>
            <a:r>
              <a:rPr lang="en-US" altLang="zh-CN" sz="1600"/>
              <a:t>First, many existing studies rely on a single machine learning algorithm, which may not provide optimal accuracy when dealing with complex healthcare datasets.</a:t>
            </a:r>
            <a:endParaRPr lang="en-US" altLang="zh-CN" sz="1600"/>
          </a:p>
          <a:p>
            <a:pPr algn="just"/>
            <a:r>
              <a:rPr lang="en-US" altLang="zh-CN" sz="1600"/>
              <a:t>Second, many datasets suffer from class imbalance, which can lead to biased prediction models.</a:t>
            </a:r>
            <a:endParaRPr lang="en-US" altLang="zh-CN" sz="1600"/>
          </a:p>
          <a:p>
            <a:pPr algn="just"/>
            <a:r>
              <a:rPr lang="en-US" altLang="zh-CN" sz="1600"/>
              <a:t>Third, several research works focus only on prediction accuracy and do not provide practical deployment systems that users can interact with.</a:t>
            </a:r>
            <a:endParaRPr lang="en-US" altLang="zh-CN" sz="1600"/>
          </a:p>
          <a:p>
            <a:pPr algn="just"/>
            <a:r>
              <a:rPr lang="en-US" altLang="zh-CN" sz="1600"/>
              <a:t>Finally, most existing systems do not include healthcare guidance features such as lifestyle recommendations, diet suggestions, or doctor consultation support.</a:t>
            </a:r>
            <a:endParaRPr lang="en-US" altLang="zh-CN" sz="1600"/>
          </a:p>
          <a:p>
            <a:pPr algn="just"/>
            <a:r>
              <a:rPr lang="en-US" altLang="zh-CN" sz="1600"/>
              <a:t>These gaps highlight the need for a comprehensive stroke prediction system that combines accurate machine learning models with practical healthcare applications.</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876300"/>
            <a:ext cx="5080000" cy="8533765"/>
          </a:xfrm>
          <a:prstGeom prst="rect">
            <a:avLst/>
          </a:prstGeom>
        </p:spPr>
        <p:txBody>
          <a:bodyPr>
            <a:noAutofit/>
          </a:bodyPr>
          <a:p>
            <a:pPr>
              <a:spcAft>
                <a:spcPct val="60000"/>
              </a:spcAft>
            </a:pPr>
            <a:r>
              <a:rPr lang="en-US" altLang="en-US" sz="1600" b="1"/>
              <a:t>2.6 Machine Learning in Healthcare</a:t>
            </a:r>
            <a:endParaRPr lang="en-US" altLang="en-US" sz="1400"/>
          </a:p>
          <a:p>
            <a:pPr algn="just">
              <a:spcAft>
                <a:spcPct val="60000"/>
              </a:spcAft>
            </a:pPr>
            <a:r>
              <a:rPr lang="en-US" altLang="en-US" sz="1400"/>
              <a:t>Machine learning has become an important tool in the healthcare sector for analyzing large amounts of medical data and providing intelligent predictions. In recent years, hospitals and medical research institutions have started using machine learning algorithms to predict diseases, analyze patient data, and assist doctors in decision-making.</a:t>
            </a:r>
            <a:endParaRPr lang="en-US" altLang="en-US" sz="1400"/>
          </a:p>
          <a:p>
            <a:pPr algn="just">
              <a:spcAft>
                <a:spcPct val="60000"/>
              </a:spcAft>
            </a:pPr>
            <a:endParaRPr lang="en-US" altLang="en-US" sz="1400"/>
          </a:p>
          <a:p>
            <a:pPr algn="just">
              <a:spcAft>
                <a:spcPct val="60000"/>
              </a:spcAft>
            </a:pPr>
            <a:r>
              <a:rPr lang="en-US" altLang="en-US" sz="1400"/>
              <a:t>Machine learning systems can analyze medical records, laboratory results, imaging data, and patient history to detect patterns that may not be easily identified by humans. These systems help in early diagnosis and prevention of serious diseases such as heart disease, diabetes, cancer, and stroke.</a:t>
            </a:r>
            <a:endParaRPr lang="en-US" altLang="en-US" sz="1400"/>
          </a:p>
          <a:p>
            <a:pPr algn="just">
              <a:spcAft>
                <a:spcPct val="60000"/>
              </a:spcAft>
            </a:pPr>
            <a:endParaRPr lang="en-US" altLang="en-US" sz="1400"/>
          </a:p>
          <a:p>
            <a:pPr algn="just">
              <a:spcAft>
                <a:spcPct val="60000"/>
              </a:spcAft>
            </a:pPr>
            <a:r>
              <a:rPr lang="en-US" altLang="en-US" sz="1400"/>
              <a:t>In the case of stroke prediction, machine learning models analyze several risk factors such as age, blood pressure, heart disease, body mass index (BMI), smoking status, glucose level, and lifestyle habits. By examining these features, the models can estimate the probability of a person experiencing a stroke.</a:t>
            </a:r>
            <a:endParaRPr lang="en-US" altLang="en-US" sz="1400"/>
          </a:p>
          <a:p>
            <a:pPr algn="just">
              <a:spcAft>
                <a:spcPct val="60000"/>
              </a:spcAft>
            </a:pPr>
            <a:endParaRPr lang="en-US" altLang="en-US" sz="1400"/>
          </a:p>
          <a:p>
            <a:pPr algn="just">
              <a:spcAft>
                <a:spcPct val="60000"/>
              </a:spcAft>
            </a:pPr>
            <a:r>
              <a:rPr lang="en-US" altLang="en-US" sz="1400"/>
              <a:t>Healthcare data is usually complex and contains many variables. Machine learning algorithms are capable of processing such data and identifying hidden relationships between variables. This ability helps researchers and doctors understand the factors that contribute to stroke risk.</a:t>
            </a:r>
            <a:endParaRPr lang="en-US" altLang="en-US" sz="1400"/>
          </a:p>
          <a:p>
            <a:pPr algn="just">
              <a:spcAft>
                <a:spcPct val="60000"/>
              </a:spcAft>
            </a:pPr>
            <a:endParaRPr lang="en-US" altLang="en-US" sz="1400"/>
          </a:p>
          <a:p>
            <a:pPr algn="just">
              <a:spcAft>
                <a:spcPct val="60000"/>
              </a:spcAft>
            </a:pPr>
            <a:r>
              <a:rPr lang="en-US" altLang="en-US" sz="1400"/>
              <a:t>Another advantage of machine learning in healthcare is its ability to improve continuously. As more patient data becomes available, the models can be retrained and updated to increase prediction accuracy. This makes machine learning an effective tool for building intelligent healthcare systems.</a:t>
            </a:r>
            <a:endParaRPr lang="en-US" altLang="en-US"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981075"/>
            <a:ext cx="5080000" cy="8013065"/>
          </a:xfrm>
          <a:prstGeom prst="rect">
            <a:avLst/>
          </a:prstGeom>
        </p:spPr>
        <p:txBody>
          <a:bodyPr>
            <a:noAutofit/>
          </a:bodyPr>
          <a:p>
            <a:pPr>
              <a:spcAft>
                <a:spcPct val="60000"/>
              </a:spcAft>
            </a:pPr>
            <a:r>
              <a:rPr lang="en-US" altLang="zh-CN" sz="1600" b="1"/>
              <a:t>2.7 Stroke Risk Prediction Using Data Analysis</a:t>
            </a:r>
            <a:endParaRPr lang="en-US" altLang="zh-CN" sz="1600" b="1"/>
          </a:p>
          <a:p>
            <a:r>
              <a:rPr lang="en-US" altLang="zh-CN" sz="1400"/>
              <a:t>Stroke is one of the leading causes of death and disability worldwide. Early detection of stroke risk can help in preventing severe complications and saving lives. Researchers have conducted many studies to develop predictive models that can identify individuals who are at high risk of stroke.</a:t>
            </a:r>
            <a:endParaRPr lang="en-US" altLang="zh-CN" sz="1400"/>
          </a:p>
          <a:p>
            <a:endParaRPr lang="en-US" altLang="zh-CN" sz="1400"/>
          </a:p>
          <a:p>
            <a:r>
              <a:rPr lang="en-US" altLang="zh-CN" sz="1400"/>
              <a:t>Traditional medical methods for stroke prediction rely mainly on clinical judgment and manual analysis of patient records. However, these methods may not always be accurate because they depend heavily on human expertise and limited data analysis.</a:t>
            </a:r>
            <a:endParaRPr lang="en-US" altLang="zh-CN" sz="1400"/>
          </a:p>
          <a:p>
            <a:endParaRPr lang="en-US" altLang="zh-CN" sz="1400"/>
          </a:p>
          <a:p>
            <a:r>
              <a:rPr lang="en-US" altLang="zh-CN" sz="1400"/>
              <a:t>With the advancement of data analytics, researchers have started using large healthcare datasets to study the relationship between various medical factors and stroke occurrence. Data analysis techniques help in identifying important risk factors and patterns that influence stroke development.</a:t>
            </a:r>
            <a:endParaRPr lang="en-US" altLang="zh-CN" sz="1400"/>
          </a:p>
          <a:p>
            <a:endParaRPr lang="en-US" altLang="zh-CN" sz="1400"/>
          </a:p>
          <a:p>
            <a:r>
              <a:rPr lang="en-US" altLang="zh-CN" sz="1400"/>
              <a:t>For example, studies have shown that factors such as hypertension, high cholesterol, diabetes, smoking, obesity, and physical inactivity significantly increase the risk of stroke. By analyzing these factors using machine learning algorithms, researchers can build predictive models that estimate stroke risk with higher accuracy.</a:t>
            </a:r>
            <a:endParaRPr lang="en-US" altLang="zh-CN" sz="1400"/>
          </a:p>
          <a:p>
            <a:endParaRPr lang="en-US" altLang="zh-CN" sz="1400"/>
          </a:p>
          <a:p>
            <a:r>
              <a:rPr lang="en-US" altLang="zh-CN" sz="1400"/>
              <a:t>These predictive models help healthcare professionals identify high-risk patients and recommend preventive measures such as lifestyle changes, medication, and regular medical monitoring.</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918845"/>
            <a:ext cx="5080000" cy="8075295"/>
          </a:xfrm>
          <a:prstGeom prst="rect">
            <a:avLst/>
          </a:prstGeom>
        </p:spPr>
        <p:txBody>
          <a:bodyPr>
            <a:noAutofit/>
          </a:bodyPr>
          <a:p>
            <a:pPr>
              <a:spcAft>
                <a:spcPct val="60000"/>
              </a:spcAft>
            </a:pPr>
            <a:r>
              <a:rPr lang="en-US" altLang="zh-CN" sz="1600" b="1"/>
              <a:t>2.8 Decision Tree Algorithm in Medical Prediction</a:t>
            </a:r>
            <a:endParaRPr lang="en-US" altLang="zh-CN" sz="1600" b="1"/>
          </a:p>
          <a:p>
            <a:pPr>
              <a:spcAft>
                <a:spcPct val="60000"/>
              </a:spcAft>
            </a:pPr>
            <a:endParaRPr lang="en-US" altLang="zh-CN" sz="1600" b="1"/>
          </a:p>
          <a:p>
            <a:pPr algn="just"/>
            <a:r>
              <a:rPr lang="en-US" altLang="zh-CN" sz="1400"/>
              <a:t>The Decision Tree algorithm is one of the most commonly used machine learning techniques for classification and prediction tasks. It is particularly useful in medical applications because it provides a clear and interpretable structure for decision-making.</a:t>
            </a:r>
            <a:endParaRPr lang="en-US" altLang="zh-CN" sz="1400"/>
          </a:p>
          <a:p>
            <a:pPr algn="just"/>
            <a:endParaRPr lang="en-US" altLang="zh-CN" sz="1400"/>
          </a:p>
          <a:p>
            <a:pPr algn="just"/>
            <a:r>
              <a:rPr lang="en-US" altLang="zh-CN" sz="1400"/>
              <a:t>A decision tree works by dividing the dataset into smaller subsets based on different conditions or rules. Each internal node of the tree represents a decision based on a specific feature, while each branch represents the outcome of that decision. The final nodes, called leaf nodes, represent the predicted class or outcome.</a:t>
            </a:r>
            <a:endParaRPr lang="en-US" altLang="zh-CN" sz="1400"/>
          </a:p>
          <a:p>
            <a:pPr algn="just"/>
            <a:endParaRPr lang="en-US" altLang="zh-CN" sz="1400"/>
          </a:p>
          <a:p>
            <a:pPr algn="just"/>
            <a:r>
              <a:rPr lang="en-US" altLang="zh-CN" sz="1400"/>
              <a:t>In stroke prediction systems, the decision tree algorithm analyzes various patient attributes such as age, blood pressure, glucose level, BMI, and smoking status. Based on these features, the model determines whether a patient has a high or low risk of stroke.</a:t>
            </a:r>
            <a:endParaRPr lang="en-US" altLang="zh-CN" sz="1400"/>
          </a:p>
          <a:p>
            <a:pPr algn="just"/>
            <a:endParaRPr lang="en-US" altLang="zh-CN" sz="1400"/>
          </a:p>
          <a:p>
            <a:pPr algn="just"/>
            <a:r>
              <a:rPr lang="en-US" altLang="zh-CN" sz="1400"/>
              <a:t>One of the major advantages of decision trees is their simplicity and interpretability. Doctors and medical professionals can easily understand how the model arrives at a particular prediction. This transparency is very important in healthcare applications where decisions must be explainable.</a:t>
            </a:r>
            <a:endParaRPr lang="en-US" altLang="zh-CN" sz="1400"/>
          </a:p>
          <a:p>
            <a:pPr algn="just"/>
            <a:r>
              <a:rPr lang="en-US" altLang="zh-CN" sz="1400"/>
              <a:t>However, decision trees may sometimes suffer from overfitting if the tree becomes too complex. To overcome this problem, ensemble techniques such as Random Forest and Gradient Boosting are often used.</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923290"/>
            <a:ext cx="5080000" cy="7401560"/>
          </a:xfrm>
          <a:prstGeom prst="rect">
            <a:avLst/>
          </a:prstGeom>
        </p:spPr>
        <p:txBody>
          <a:bodyPr>
            <a:noAutofit/>
          </a:bodyPr>
          <a:p>
            <a:pPr>
              <a:spcAft>
                <a:spcPct val="60000"/>
              </a:spcAft>
            </a:pPr>
            <a:r>
              <a:rPr lang="en-US" altLang="zh-CN" sz="1600" b="1"/>
              <a:t>2.9 Random Forest Algorithm</a:t>
            </a:r>
            <a:endParaRPr lang="en-US" altLang="zh-CN" sz="1600" b="1"/>
          </a:p>
          <a:p>
            <a:pPr algn="just">
              <a:spcAft>
                <a:spcPct val="60000"/>
              </a:spcAft>
            </a:pPr>
            <a:r>
              <a:rPr lang="en-US" altLang="zh-CN" sz="1400"/>
              <a:t>Random Forest is an ensemble machine learning algorithm that improves prediction accuracy by combining multiple decision trees. Instead of relying on a single decision tree, Random Forest builds many trees and combines their predictions to produce a final result.</a:t>
            </a:r>
            <a:endParaRPr lang="en-US" altLang="zh-CN" sz="1400"/>
          </a:p>
          <a:p>
            <a:pPr algn="just"/>
            <a:endParaRPr lang="en-US" altLang="zh-CN" sz="1400"/>
          </a:p>
          <a:p>
            <a:pPr algn="just"/>
            <a:r>
              <a:rPr lang="en-US" altLang="zh-CN" sz="1400"/>
              <a:t>Each tree in the Random Forest is trained using a random subset of the dataset and features. This randomness helps reduce overfitting and improves the robustness of the model.</a:t>
            </a:r>
            <a:endParaRPr lang="en-US" altLang="zh-CN" sz="1400"/>
          </a:p>
          <a:p>
            <a:pPr algn="just"/>
            <a:r>
              <a:rPr lang="en-US" altLang="zh-CN" sz="1400"/>
              <a:t>In stroke prediction systems, Random Forest analyzes patient health data and identifies patterns associated with stroke risk. Since multiple trees are used, the model can capture complex relationships between different medical factors.</a:t>
            </a:r>
            <a:endParaRPr lang="en-US" altLang="zh-CN" sz="1400"/>
          </a:p>
          <a:p>
            <a:pPr algn="just"/>
            <a:endParaRPr lang="en-US" altLang="zh-CN" sz="1400"/>
          </a:p>
          <a:p>
            <a:pPr algn="just"/>
            <a:r>
              <a:rPr lang="en-US" altLang="zh-CN" sz="1400"/>
              <a:t>Another advantage of Random Forest is its ability to measure feature importance. This helps researchers understand which factors contribute the most to stroke risk. For example, features such as hypertension, glucose level, and age may have higher importance scores.</a:t>
            </a:r>
            <a:endParaRPr lang="en-US" altLang="zh-CN" sz="1400"/>
          </a:p>
          <a:p>
            <a:pPr algn="just"/>
            <a:endParaRPr lang="en-US" altLang="zh-CN" sz="1400"/>
          </a:p>
          <a:p>
            <a:pPr algn="just"/>
            <a:r>
              <a:rPr lang="en-US" altLang="zh-CN" sz="1400"/>
              <a:t>Random Forest has been widely used in healthcare prediction models because of its high accuracy, stability, and ability to handle large datasets.</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891540"/>
            <a:ext cx="5080000" cy="7486650"/>
          </a:xfrm>
          <a:prstGeom prst="rect">
            <a:avLst/>
          </a:prstGeom>
        </p:spPr>
        <p:txBody>
          <a:bodyPr>
            <a:noAutofit/>
          </a:bodyPr>
          <a:p>
            <a:pPr>
              <a:spcAft>
                <a:spcPct val="60000"/>
              </a:spcAft>
            </a:pPr>
            <a:r>
              <a:rPr lang="en-US" altLang="zh-CN" sz="1600" b="1"/>
              <a:t>2.10 Logistic Regression for Disease Prediction</a:t>
            </a:r>
            <a:endParaRPr lang="en-US" altLang="zh-CN" sz="1600" b="1"/>
          </a:p>
          <a:p>
            <a:pPr>
              <a:spcAft>
                <a:spcPct val="60000"/>
              </a:spcAft>
            </a:pPr>
            <a:endParaRPr lang="en-US" altLang="zh-CN" sz="1600" b="1"/>
          </a:p>
          <a:p>
            <a:pPr algn="just"/>
            <a:r>
              <a:rPr lang="en-US" altLang="zh-CN" sz="1400"/>
              <a:t>Logistic Regression is a statistical machine learning algorithm used for binary classification problems. In stroke prediction systems, logistic regression can be used to classify patients into two categories: stroke risk and no stroke risk.</a:t>
            </a:r>
            <a:endParaRPr lang="en-US" altLang="zh-CN" sz="1400"/>
          </a:p>
          <a:p>
            <a:pPr algn="just"/>
            <a:r>
              <a:rPr lang="en-US" altLang="zh-CN" sz="1400"/>
              <a:t>The algorithm calculates the probability of a particular outcome based on the input features. If the probability exceeds a certain threshold, the patient is classified as having a high risk of stroke.</a:t>
            </a:r>
            <a:endParaRPr lang="en-US" altLang="zh-CN" sz="1400"/>
          </a:p>
          <a:p>
            <a:pPr algn="just"/>
            <a:endParaRPr lang="en-US" altLang="zh-CN" sz="1400"/>
          </a:p>
          <a:p>
            <a:pPr algn="just"/>
            <a:r>
              <a:rPr lang="en-US" altLang="zh-CN" sz="1400"/>
              <a:t>Logistic regression is widely used in medical research because it is simple, efficient, and easy to interpret. It helps researchers understand how different variables influence the probability of disease occurrence.</a:t>
            </a:r>
            <a:endParaRPr lang="en-US" altLang="zh-CN" sz="1400"/>
          </a:p>
          <a:p>
            <a:pPr algn="just"/>
            <a:endParaRPr lang="en-US" altLang="zh-CN" sz="1400"/>
          </a:p>
          <a:p>
            <a:pPr algn="just"/>
            <a:r>
              <a:rPr lang="en-US" altLang="zh-CN" sz="1400"/>
              <a:t>For example, logistic regression can show how factors such as smoking, high blood pressure, or diabetes increase the likelihood of stroke. These insights are valuable for doctors when recommending preventive measures to patients.</a:t>
            </a:r>
            <a:endParaRPr lang="en-US" altLang="zh-CN" sz="1400"/>
          </a:p>
          <a:p>
            <a:pPr algn="just"/>
            <a:endParaRPr lang="en-US" altLang="zh-CN" sz="1400"/>
          </a:p>
          <a:p>
            <a:pPr algn="just"/>
            <a:r>
              <a:rPr lang="en-US" altLang="zh-CN" sz="1400"/>
              <a:t>Although logistic regression works well for many prediction tasks, it may not capture highly complex relationships in the data. Therefore, it is often combined with other machine learning algorithms to improve performance.</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785495"/>
            <a:ext cx="5080000" cy="7962265"/>
          </a:xfrm>
          <a:prstGeom prst="rect">
            <a:avLst/>
          </a:prstGeom>
        </p:spPr>
        <p:txBody>
          <a:bodyPr>
            <a:noAutofit/>
          </a:bodyPr>
          <a:p>
            <a:pPr>
              <a:spcAft>
                <a:spcPct val="60000"/>
              </a:spcAft>
            </a:pPr>
            <a:r>
              <a:rPr lang="en-US" altLang="zh-CN" sz="1600" b="1"/>
              <a:t>2.11 Challenges in Stroke Prediction Systems</a:t>
            </a:r>
            <a:endParaRPr lang="en-US" altLang="zh-CN" sz="1600" b="1"/>
          </a:p>
          <a:p>
            <a:pPr>
              <a:spcAft>
                <a:spcPct val="60000"/>
              </a:spcAft>
            </a:pPr>
            <a:endParaRPr lang="en-US" altLang="zh-CN" sz="1600" b="1"/>
          </a:p>
          <a:p>
            <a:pPr algn="just"/>
            <a:r>
              <a:rPr lang="en-US" altLang="zh-CN" sz="1400"/>
              <a:t>Despite significant advancements in machine learning, several challenges still exist in developing accurate stroke prediction systems.</a:t>
            </a:r>
            <a:endParaRPr lang="en-US" altLang="zh-CN" sz="1400"/>
          </a:p>
          <a:p>
            <a:pPr algn="just"/>
            <a:endParaRPr lang="en-US" altLang="zh-CN" sz="1400"/>
          </a:p>
          <a:p>
            <a:pPr algn="just"/>
            <a:r>
              <a:rPr lang="en-US" altLang="zh-CN" sz="1400"/>
              <a:t>One of the major challenges is the availability of high-quality medical data. Healthcare datasets may contain missing values, incomplete records, or inconsistent measurements. Data preprocessing techniques must be applied to clean and prepare the data before training machine learning models.</a:t>
            </a:r>
            <a:endParaRPr lang="en-US" altLang="zh-CN" sz="1400"/>
          </a:p>
          <a:p>
            <a:pPr algn="just"/>
            <a:r>
              <a:rPr lang="en-US" altLang="zh-CN" sz="1400"/>
              <a:t>Another challenge is the imbalance in medical datasets. In many stroke datasets, the number of patients who experienced a stroke is much smaller compared to those who did not. This imbalance can affect the performance of machine learning algorithms and lead to biased predictions.</a:t>
            </a:r>
            <a:endParaRPr lang="en-US" altLang="zh-CN" sz="1400"/>
          </a:p>
          <a:p>
            <a:pPr algn="just"/>
            <a:r>
              <a:rPr lang="en-US" altLang="zh-CN" sz="1400"/>
              <a:t>Privacy and security of medical data is another important concern. Patient information must be handled carefully to protect confidentiality and comply with healthcare regulations.</a:t>
            </a:r>
            <a:endParaRPr lang="en-US" altLang="zh-CN" sz="1400"/>
          </a:p>
          <a:p>
            <a:pPr algn="just"/>
            <a:r>
              <a:rPr lang="en-US" altLang="zh-CN" sz="1400"/>
              <a:t>Furthermore, machine learning models must be validated using reliable evaluation techniques to ensure their accuracy and reliability in real-world applications.</a:t>
            </a:r>
            <a:endParaRPr lang="en-US" altLang="zh-CN" sz="1400"/>
          </a:p>
          <a:p>
            <a:pPr algn="just"/>
            <a:endParaRPr lang="en-US" altLang="zh-CN" sz="1400"/>
          </a:p>
          <a:p>
            <a:pPr algn="just"/>
            <a:r>
              <a:rPr lang="en-US" altLang="zh-CN" sz="1400"/>
              <a:t>Addressing these challenges is essential for developing effective and trustworthy stroke prediction systems.</a:t>
            </a:r>
            <a:endParaRPr lang="en-US" altLang="zh-CN" sz="14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1151255"/>
            <a:ext cx="5080000" cy="6065520"/>
          </a:xfrm>
          <a:prstGeom prst="rect">
            <a:avLst/>
          </a:prstGeom>
        </p:spPr>
        <p:txBody>
          <a:bodyPr>
            <a:noAutofit/>
          </a:bodyPr>
          <a:p>
            <a:pPr>
              <a:spcAft>
                <a:spcPct val="60000"/>
              </a:spcAft>
            </a:pPr>
            <a:r>
              <a:rPr lang="en-US" altLang="zh-CN" sz="1600" b="1"/>
              <a:t>2.12 Summary</a:t>
            </a:r>
            <a:endParaRPr lang="en-US" altLang="zh-CN" sz="1600" b="1"/>
          </a:p>
          <a:p>
            <a:pPr>
              <a:spcAft>
                <a:spcPct val="60000"/>
              </a:spcAft>
            </a:pPr>
            <a:endParaRPr lang="en-US" altLang="zh-CN" sz="1600" b="1"/>
          </a:p>
          <a:p>
            <a:pPr algn="just"/>
            <a:r>
              <a:rPr lang="en-US" altLang="zh-CN" sz="1600"/>
              <a:t>This chapter reviewed the existing research and methodologies related to stroke prediction using machine learning techniques. Various algorithms such as Decision Tree, Random Forest, and Logistic Regression have been widely used for analyzing medical datasets and predicting stroke risk.</a:t>
            </a:r>
            <a:endParaRPr lang="en-US" altLang="zh-CN" sz="1600"/>
          </a:p>
          <a:p>
            <a:pPr algn="just"/>
            <a:endParaRPr lang="en-US" altLang="zh-CN" sz="1600"/>
          </a:p>
          <a:p>
            <a:pPr algn="just"/>
            <a:r>
              <a:rPr lang="en-US" altLang="zh-CN" sz="1600"/>
              <a:t>The literature review highlights the importance of machine learning in healthcare applications. These technologies enable early detection of diseases and support medical professionals in making informed decisions.</a:t>
            </a:r>
            <a:endParaRPr lang="en-US" altLang="zh-CN" sz="1600"/>
          </a:p>
          <a:p>
            <a:pPr algn="just"/>
            <a:endParaRPr lang="en-US" altLang="zh-CN" sz="1600"/>
          </a:p>
          <a:p>
            <a:pPr algn="just"/>
            <a:r>
              <a:rPr lang="en-US" altLang="zh-CN" sz="1600"/>
              <a:t>By analyzing patient health data and identifying key risk factors, machine learning models can provide accurate predictions of stroke risk. This helps in taking preventive measures and improving patient outcomes.</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404495"/>
            <a:ext cx="5382260" cy="323850"/>
          </a:xfrm>
          <a:prstGeom prst="rect">
            <a:avLst/>
          </a:prstGeom>
        </p:spPr>
        <p:txBody>
          <a:bodyPr>
            <a:noAutofit/>
          </a:bodyPr>
          <a:p>
            <a:pPr>
              <a:spcAft>
                <a:spcPct val="60000"/>
              </a:spcAft>
            </a:pPr>
            <a:r>
              <a:rPr lang="en-US" altLang="zh-CN" sz="2200" b="1"/>
              <a:t>CHAPTER 3- SYSTEM METHODOLOGY</a:t>
            </a:r>
            <a:endParaRPr lang="en-US" altLang="zh-CN" sz="2200" b="1"/>
          </a:p>
        </p:txBody>
      </p:sp>
      <p:sp>
        <p:nvSpPr>
          <p:cNvPr id="3" name="Text Box 2"/>
          <p:cNvSpPr txBox="1"/>
          <p:nvPr/>
        </p:nvSpPr>
        <p:spPr>
          <a:xfrm>
            <a:off x="1346200" y="1518285"/>
            <a:ext cx="5080000" cy="7432675"/>
          </a:xfrm>
          <a:prstGeom prst="rect">
            <a:avLst/>
          </a:prstGeom>
        </p:spPr>
        <p:txBody>
          <a:bodyPr>
            <a:noAutofit/>
          </a:bodyPr>
          <a:p>
            <a:pPr>
              <a:spcAft>
                <a:spcPct val="60000"/>
              </a:spcAft>
            </a:pPr>
            <a:r>
              <a:rPr lang="en-US" altLang="zh-CN" sz="1800" b="1"/>
              <a:t>3.1 Introduction</a:t>
            </a:r>
            <a:endParaRPr lang="en-US" altLang="zh-CN" sz="1800" b="1"/>
          </a:p>
          <a:p>
            <a:pPr algn="just"/>
            <a:r>
              <a:rPr lang="en-US" altLang="zh-CN" sz="1600"/>
              <a:t>The methodology of the proposed system describes the overall approach used to develop the Heart Stroke Risk Prediction system. This system is designed to analyze patient health data and predict the possibility of stroke using machine learning techniques.</a:t>
            </a:r>
            <a:endParaRPr lang="en-US" altLang="zh-CN" sz="1600"/>
          </a:p>
          <a:p>
            <a:pPr algn="just"/>
            <a:endParaRPr lang="en-US" altLang="zh-CN" sz="1600"/>
          </a:p>
          <a:p>
            <a:pPr algn="just"/>
            <a:r>
              <a:rPr lang="en-US" altLang="zh-CN" sz="1600"/>
              <a:t>Stroke is one of the leading causes of death and disability worldwide. Early prediction of stroke risk can help doctors and patients take preventive measures before the condition becomes severe. The proposed system uses machine learning algorithms to analyze medical data and identify patterns associated with stroke risk.</a:t>
            </a:r>
            <a:endParaRPr lang="en-US" altLang="zh-CN" sz="1600"/>
          </a:p>
          <a:p>
            <a:pPr algn="just"/>
            <a:endParaRPr lang="en-US" altLang="zh-CN" sz="1600"/>
          </a:p>
          <a:p>
            <a:pPr algn="just"/>
            <a:r>
              <a:rPr lang="en-US" altLang="zh-CN" sz="1600"/>
              <a:t>The system collects various health parameters such as age, hypertension, heart disease, average glucose level, body mass index (BMI), smoking status, and other medical factors. These parameters are processed using machine learning models to determine whether a person has a high or low risk of stroke.</a:t>
            </a:r>
            <a:endParaRPr lang="en-US" altLang="zh-CN" sz="1600"/>
          </a:p>
          <a:p>
            <a:pPr algn="just"/>
            <a:endParaRPr lang="en-US" altLang="zh-CN" sz="1600"/>
          </a:p>
          <a:p>
            <a:pPr algn="just"/>
            <a:r>
              <a:rPr lang="en-US" altLang="zh-CN" sz="1600"/>
              <a:t>The methodology includes several stages such as data collection, data preprocessing, model training, model evaluation, and prediction. Each stage plays an important role in building an accurate and reliable prediction system.</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1092835"/>
            <a:ext cx="5080000" cy="6804025"/>
          </a:xfrm>
          <a:prstGeom prst="rect">
            <a:avLst/>
          </a:prstGeom>
        </p:spPr>
        <p:txBody>
          <a:bodyPr>
            <a:noAutofit/>
          </a:bodyPr>
          <a:p>
            <a:pPr>
              <a:spcAft>
                <a:spcPct val="60000"/>
              </a:spcAft>
            </a:pPr>
            <a:r>
              <a:rPr lang="en-US" altLang="zh-CN" sz="1600" b="1"/>
              <a:t>3.2 System Overview</a:t>
            </a:r>
            <a:endParaRPr lang="en-US" altLang="zh-CN" sz="2800" b="1"/>
          </a:p>
          <a:p>
            <a:pPr algn="just"/>
            <a:r>
              <a:rPr lang="en-US" altLang="zh-CN" sz="1600"/>
              <a:t>The proposed Heart Stroke Risk Prediction system is designed to assist healthcare professionals in identifying patients who may be at risk of stroke. The system uses machine learning algorithms to analyze patient data and generate predictions.</a:t>
            </a:r>
            <a:endParaRPr lang="en-US" altLang="zh-CN" sz="1600"/>
          </a:p>
          <a:p>
            <a:pPr algn="just"/>
            <a:endParaRPr lang="en-US" altLang="zh-CN" sz="1600"/>
          </a:p>
          <a:p>
            <a:pPr algn="just"/>
            <a:r>
              <a:rPr lang="en-US" altLang="zh-CN" sz="1600"/>
              <a:t>The system consists of the following main components:</a:t>
            </a:r>
            <a:endParaRPr lang="en-US" altLang="zh-CN" sz="1600"/>
          </a:p>
          <a:p>
            <a:pPr algn="just"/>
            <a:endParaRPr lang="en-US" altLang="zh-CN" sz="1600"/>
          </a:p>
          <a:p>
            <a:pPr algn="just"/>
            <a:r>
              <a:rPr lang="en-US" altLang="zh-CN" sz="1600"/>
              <a:t>• Data Collection</a:t>
            </a:r>
            <a:endParaRPr lang="en-US" altLang="zh-CN" sz="1600"/>
          </a:p>
          <a:p>
            <a:pPr algn="just"/>
            <a:r>
              <a:rPr lang="en-US" altLang="zh-CN" sz="1600"/>
              <a:t> • Data Preprocessing</a:t>
            </a:r>
            <a:endParaRPr lang="en-US" altLang="zh-CN" sz="1600"/>
          </a:p>
          <a:p>
            <a:pPr algn="just"/>
            <a:r>
              <a:rPr lang="en-US" altLang="zh-CN" sz="1600"/>
              <a:t> • Feature Selection</a:t>
            </a:r>
            <a:endParaRPr lang="en-US" altLang="zh-CN" sz="1600"/>
          </a:p>
          <a:p>
            <a:pPr algn="just"/>
            <a:r>
              <a:rPr lang="en-US" altLang="zh-CN" sz="1600"/>
              <a:t> • Model Training</a:t>
            </a:r>
            <a:endParaRPr lang="en-US" altLang="zh-CN" sz="1600"/>
          </a:p>
          <a:p>
            <a:pPr algn="just"/>
            <a:r>
              <a:rPr lang="en-US" altLang="zh-CN" sz="1600"/>
              <a:t> • Prediction System</a:t>
            </a:r>
            <a:endParaRPr lang="en-US" altLang="zh-CN" sz="1600"/>
          </a:p>
          <a:p>
            <a:pPr algn="just"/>
            <a:r>
              <a:rPr lang="en-US" altLang="zh-CN" sz="1600"/>
              <a:t> • Result Visualization</a:t>
            </a:r>
            <a:endParaRPr lang="en-US" altLang="zh-CN" sz="1600"/>
          </a:p>
          <a:p>
            <a:pPr algn="just"/>
            <a:endParaRPr lang="en-US" altLang="zh-CN" sz="1600"/>
          </a:p>
          <a:p>
            <a:pPr algn="just"/>
            <a:r>
              <a:rPr lang="en-US" altLang="zh-CN" sz="1600"/>
              <a:t>Each component performs a specific function in the overall prediction process. The system first collects patient data, processes it, and then applies machine learning algorithms to predict stroke risk.</a:t>
            </a:r>
            <a:endParaRPr lang="en-US" altLang="zh-CN" sz="1600"/>
          </a:p>
          <a:p>
            <a:pPr algn="just"/>
            <a:endParaRPr lang="en-US" altLang="zh-CN" sz="1600"/>
          </a:p>
          <a:p>
            <a:pPr algn="just"/>
            <a:r>
              <a:rPr lang="en-US" altLang="zh-CN" sz="1600"/>
              <a:t>The final output of the system is a prediction indicating whether the patient has a high or low probability of experiencing a stroke.</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739140"/>
            <a:ext cx="5080000" cy="8685530"/>
          </a:xfrm>
          <a:prstGeom prst="rect">
            <a:avLst/>
          </a:prstGeom>
        </p:spPr>
        <p:txBody>
          <a:bodyPr>
            <a:noAutofit/>
          </a:bodyPr>
          <a:p>
            <a:pPr>
              <a:spcAft>
                <a:spcPct val="60000"/>
              </a:spcAft>
            </a:pPr>
            <a:r>
              <a:rPr lang="en-US" altLang="zh-CN" sz="1800" b="1"/>
              <a:t>3.3 Design Approach</a:t>
            </a:r>
            <a:endParaRPr lang="en-US" altLang="zh-CN" sz="1600" b="1"/>
          </a:p>
          <a:p>
            <a:pPr algn="just"/>
            <a:r>
              <a:rPr lang="en-US" altLang="zh-CN" sz="1600"/>
              <a:t>The design approach of the proposed system follows a structured machine learning workflow. The main objective is to build an intelligent system capable of predicting stroke risk based on patient health parameters.</a:t>
            </a:r>
            <a:endParaRPr lang="en-US" altLang="zh-CN" sz="1600"/>
          </a:p>
          <a:p>
            <a:pPr algn="just"/>
            <a:endParaRPr lang="en-US" altLang="zh-CN" sz="1600"/>
          </a:p>
          <a:p>
            <a:pPr algn="just"/>
            <a:r>
              <a:rPr lang="en-US" altLang="zh-CN" sz="1600"/>
              <a:t>The design approach consists of the following steps:</a:t>
            </a:r>
            <a:endParaRPr lang="en-US" altLang="zh-CN" sz="1600"/>
          </a:p>
          <a:p>
            <a:pPr algn="just"/>
            <a:endParaRPr lang="en-US" altLang="zh-CN" sz="1600"/>
          </a:p>
          <a:p>
            <a:pPr algn="just">
              <a:spcAft>
                <a:spcPct val="60000"/>
              </a:spcAft>
            </a:pPr>
            <a:r>
              <a:rPr lang="en-US" altLang="zh-CN" sz="1600" b="1"/>
              <a:t>Step 1: Data Collection</a:t>
            </a:r>
            <a:endParaRPr lang="en-US" altLang="zh-CN" sz="1600" b="1"/>
          </a:p>
          <a:p>
            <a:pPr algn="just"/>
            <a:r>
              <a:rPr lang="en-US" altLang="zh-CN" sz="1600"/>
              <a:t>The first step in the system design is collecting healthcare data related to stroke. The dataset includes patient information such as:</a:t>
            </a:r>
            <a:endParaRPr lang="en-US" altLang="zh-CN" sz="1600"/>
          </a:p>
          <a:p>
            <a:pPr algn="just"/>
            <a:endParaRPr lang="en-US" altLang="zh-CN" sz="1600"/>
          </a:p>
          <a:p>
            <a:pPr algn="just"/>
            <a:r>
              <a:rPr lang="en-US" altLang="zh-CN" sz="1600"/>
              <a:t>• Gender</a:t>
            </a:r>
            <a:endParaRPr lang="en-US" altLang="zh-CN" sz="1600"/>
          </a:p>
          <a:p>
            <a:pPr algn="just"/>
            <a:r>
              <a:rPr lang="en-US" altLang="zh-CN" sz="1600"/>
              <a:t> • Age</a:t>
            </a:r>
            <a:endParaRPr lang="en-US" altLang="zh-CN" sz="1600"/>
          </a:p>
          <a:p>
            <a:pPr algn="just"/>
            <a:r>
              <a:rPr lang="en-US" altLang="zh-CN" sz="1600"/>
              <a:t> • Hypertension</a:t>
            </a:r>
            <a:endParaRPr lang="en-US" altLang="zh-CN" sz="1600"/>
          </a:p>
          <a:p>
            <a:pPr algn="just"/>
            <a:r>
              <a:rPr lang="en-US" altLang="zh-CN" sz="1600"/>
              <a:t> • Heart Disease</a:t>
            </a:r>
            <a:endParaRPr lang="en-US" altLang="zh-CN" sz="1600"/>
          </a:p>
          <a:p>
            <a:pPr algn="just"/>
            <a:r>
              <a:rPr lang="en-US" altLang="zh-CN" sz="1600"/>
              <a:t> • Average Glucose Level</a:t>
            </a:r>
            <a:endParaRPr lang="en-US" altLang="zh-CN" sz="1600"/>
          </a:p>
          <a:p>
            <a:pPr algn="just"/>
            <a:r>
              <a:rPr lang="en-US" altLang="zh-CN" sz="1600"/>
              <a:t> • Body Mass Index (BMI)</a:t>
            </a:r>
            <a:endParaRPr lang="en-US" altLang="zh-CN" sz="1600"/>
          </a:p>
          <a:p>
            <a:pPr algn="just"/>
            <a:r>
              <a:rPr lang="en-US" altLang="zh-CN" sz="1600"/>
              <a:t> • Smoking Status</a:t>
            </a:r>
            <a:endParaRPr lang="en-US" altLang="zh-CN" sz="1600"/>
          </a:p>
          <a:p>
            <a:pPr algn="just"/>
            <a:r>
              <a:rPr lang="en-US" altLang="zh-CN" sz="1600"/>
              <a:t> • Work Type</a:t>
            </a:r>
            <a:endParaRPr lang="en-US" altLang="zh-CN" sz="1600"/>
          </a:p>
          <a:p>
            <a:pPr algn="just"/>
            <a:r>
              <a:rPr lang="en-US" altLang="zh-CN" sz="1600"/>
              <a:t> • Residence Type</a:t>
            </a:r>
            <a:endParaRPr lang="en-US" altLang="zh-CN" sz="1600"/>
          </a:p>
          <a:p>
            <a:pPr algn="just"/>
            <a:r>
              <a:rPr lang="en-US" altLang="zh-CN" sz="1600"/>
              <a:t> • Marital Status</a:t>
            </a:r>
            <a:endParaRPr lang="en-US" altLang="zh-CN" sz="1600"/>
          </a:p>
          <a:p>
            <a:pPr algn="just"/>
            <a:endParaRPr lang="en-US" altLang="zh-CN" sz="1600"/>
          </a:p>
          <a:p>
            <a:pPr algn="just"/>
            <a:r>
              <a:rPr lang="en-US" altLang="zh-CN" sz="1600"/>
              <a:t>This dataset is used as input for training machine learning models.</a:t>
            </a:r>
            <a:endParaRPr lang="en-US" altLang="zh-CN" sz="1600"/>
          </a:p>
          <a:p>
            <a:pPr algn="just"/>
            <a:endParaRPr lang="en-US" altLang="zh-CN" sz="1600"/>
          </a:p>
          <a:p>
            <a:pPr algn="just">
              <a:spcAft>
                <a:spcPct val="60000"/>
              </a:spcAft>
            </a:pPr>
            <a:r>
              <a:rPr lang="en-US" altLang="zh-CN" sz="1600" b="1"/>
              <a:t>Step 2: Data Preprocessing</a:t>
            </a:r>
            <a:endParaRPr lang="en-US" altLang="zh-CN" sz="1600" b="1"/>
          </a:p>
          <a:p>
            <a:pPr algn="just"/>
            <a:r>
              <a:rPr lang="en-US" altLang="zh-CN" sz="1600"/>
              <a:t>Raw medical data often contains missing values, duplicate entries, and inconsistent data formats. Therefore, preprocessing is necessary to clean the dataset before training the model.</a:t>
            </a:r>
            <a:endParaRPr lang="en-US" altLang="zh-CN" sz="1600"/>
          </a:p>
          <a:p>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53490" y="756920"/>
            <a:ext cx="5222875" cy="5548630"/>
          </a:xfrm>
          <a:prstGeom prst="rect">
            <a:avLst/>
          </a:prstGeom>
          <a:noFill/>
        </p:spPr>
        <p:txBody>
          <a:bodyPr wrap="square" rtlCol="0" anchor="t">
            <a:noAutofit/>
          </a:bodyPr>
          <a:p>
            <a:pPr algn="just"/>
            <a:r>
              <a:rPr lang="en-US" altLang="zh-CN" sz="1600">
                <a:sym typeface="+mn-ea"/>
              </a:rPr>
              <a:t>Data preprocessing includes:</a:t>
            </a:r>
            <a:endParaRPr lang="en-US" altLang="zh-CN" sz="1600"/>
          </a:p>
          <a:p>
            <a:pPr algn="just"/>
            <a:r>
              <a:rPr lang="en-US" altLang="zh-CN" sz="1600">
                <a:sym typeface="+mn-ea"/>
              </a:rPr>
              <a:t>• Handling missing values</a:t>
            </a:r>
            <a:endParaRPr lang="en-US" altLang="zh-CN" sz="1600"/>
          </a:p>
          <a:p>
            <a:pPr algn="just"/>
            <a:r>
              <a:rPr lang="en-US" altLang="zh-CN" sz="1600">
                <a:sym typeface="+mn-ea"/>
              </a:rPr>
              <a:t> • Removing duplicate records</a:t>
            </a:r>
            <a:endParaRPr lang="en-US" altLang="zh-CN" sz="1600"/>
          </a:p>
          <a:p>
            <a:pPr algn="just"/>
            <a:r>
              <a:rPr lang="en-US" altLang="zh-CN" sz="1600">
                <a:sym typeface="+mn-ea"/>
              </a:rPr>
              <a:t> • Converting categorical data into numerical form</a:t>
            </a:r>
            <a:endParaRPr lang="en-US" altLang="zh-CN" sz="1600"/>
          </a:p>
          <a:p>
            <a:pPr algn="just"/>
            <a:r>
              <a:rPr lang="en-US" altLang="zh-CN" sz="1600">
                <a:sym typeface="+mn-ea"/>
              </a:rPr>
              <a:t> • Normalizing numerical values</a:t>
            </a:r>
            <a:endParaRPr lang="en-US" altLang="zh-CN" sz="1600"/>
          </a:p>
          <a:p>
            <a:pPr algn="just"/>
            <a:r>
              <a:rPr lang="en-US" altLang="zh-CN" sz="1600">
                <a:sym typeface="+mn-ea"/>
              </a:rPr>
              <a:t> • Data cleaning and formatting</a:t>
            </a:r>
            <a:endParaRPr lang="en-US" altLang="zh-CN" sz="1600"/>
          </a:p>
          <a:p>
            <a:pPr algn="just"/>
            <a:r>
              <a:rPr lang="en-US" altLang="zh-CN" sz="1600">
                <a:sym typeface="+mn-ea"/>
              </a:rPr>
              <a:t>This step ensures that the dataset is accurate and suitable for machine learning algorithms.</a:t>
            </a:r>
            <a:endParaRPr lang="en-US" altLang="zh-CN" sz="1600">
              <a:sym typeface="+mn-ea"/>
            </a:endParaRPr>
          </a:p>
        </p:txBody>
      </p:sp>
      <p:sp>
        <p:nvSpPr>
          <p:cNvPr id="3" name="Text Box 2"/>
          <p:cNvSpPr txBox="1"/>
          <p:nvPr/>
        </p:nvSpPr>
        <p:spPr>
          <a:xfrm>
            <a:off x="1254125" y="3025775"/>
            <a:ext cx="5182870" cy="5423535"/>
          </a:xfrm>
          <a:prstGeom prst="rect">
            <a:avLst/>
          </a:prstGeom>
        </p:spPr>
        <p:txBody>
          <a:bodyPr>
            <a:noAutofit/>
          </a:bodyPr>
          <a:p>
            <a:pPr>
              <a:spcAft>
                <a:spcPct val="60000"/>
              </a:spcAft>
            </a:pPr>
            <a:r>
              <a:rPr lang="en-US" altLang="zh-CN" sz="1600" b="1"/>
              <a:t>Step 3: Feature Selection</a:t>
            </a:r>
            <a:endParaRPr lang="en-US" altLang="zh-CN" sz="2200" b="1"/>
          </a:p>
          <a:p>
            <a:pPr algn="just"/>
            <a:r>
              <a:rPr lang="en-US" altLang="zh-CN" sz="1600"/>
              <a:t>Feature selection is the process of identifying the most important variables that influence stroke prediction.</a:t>
            </a:r>
            <a:endParaRPr lang="en-US" altLang="zh-CN" sz="1600"/>
          </a:p>
          <a:p>
            <a:pPr algn="just"/>
            <a:r>
              <a:rPr lang="en-US" altLang="zh-CN" sz="1600"/>
              <a:t>Not all features in the dataset contribute equally to the prediction process. Selecting relevant features improves model accuracy and reduces computational complexity.</a:t>
            </a:r>
            <a:endParaRPr lang="en-US" altLang="zh-CN" sz="1600"/>
          </a:p>
          <a:p>
            <a:pPr algn="just"/>
            <a:endParaRPr lang="en-US" altLang="zh-CN" sz="1600"/>
          </a:p>
          <a:p>
            <a:pPr algn="just"/>
            <a:r>
              <a:rPr lang="en-US" altLang="zh-CN" sz="1600"/>
              <a:t>Some important features used in stroke prediction include:</a:t>
            </a:r>
            <a:endParaRPr lang="en-US" altLang="zh-CN" sz="1600"/>
          </a:p>
          <a:p>
            <a:pPr algn="just"/>
            <a:endParaRPr lang="en-US" altLang="zh-CN" sz="1600"/>
          </a:p>
          <a:p>
            <a:pPr algn="just"/>
            <a:r>
              <a:rPr lang="en-US" altLang="zh-CN" sz="1600"/>
              <a:t>• Age</a:t>
            </a:r>
            <a:endParaRPr lang="en-US" altLang="zh-CN" sz="1600"/>
          </a:p>
          <a:p>
            <a:pPr algn="just"/>
            <a:r>
              <a:rPr lang="en-US" altLang="zh-CN" sz="1600"/>
              <a:t> • Hypertension</a:t>
            </a:r>
            <a:endParaRPr lang="en-US" altLang="zh-CN" sz="1600"/>
          </a:p>
          <a:p>
            <a:pPr algn="just"/>
            <a:r>
              <a:rPr lang="en-US" altLang="zh-CN" sz="1600"/>
              <a:t> • Heart Disease</a:t>
            </a:r>
            <a:endParaRPr lang="en-US" altLang="zh-CN" sz="1600"/>
          </a:p>
          <a:p>
            <a:pPr algn="just"/>
            <a:r>
              <a:rPr lang="en-US" altLang="zh-CN" sz="1600"/>
              <a:t> • Average Glucose Level</a:t>
            </a:r>
            <a:endParaRPr lang="en-US" altLang="zh-CN" sz="1600"/>
          </a:p>
          <a:p>
            <a:pPr algn="just"/>
            <a:r>
              <a:rPr lang="en-US" altLang="zh-CN" sz="1600"/>
              <a:t> • BMI</a:t>
            </a:r>
            <a:endParaRPr lang="en-US" altLang="zh-CN" sz="1600"/>
          </a:p>
          <a:p>
            <a:pPr algn="just"/>
            <a:r>
              <a:rPr lang="en-US" altLang="zh-CN" sz="1600"/>
              <a:t> • Smoking Status</a:t>
            </a:r>
            <a:endParaRPr lang="en-US" altLang="zh-CN" sz="1600"/>
          </a:p>
          <a:p>
            <a:pPr algn="just"/>
            <a:endParaRPr lang="en-US" altLang="zh-CN" sz="1600"/>
          </a:p>
          <a:p>
            <a:pPr algn="just"/>
            <a:r>
              <a:rPr lang="en-US" altLang="zh-CN" sz="1600"/>
              <a:t>These features are used as input variables for training machine learning models.</a:t>
            </a:r>
            <a:endParaRPr lang="en-US" altLang="zh-CN" sz="1600"/>
          </a:p>
        </p:txBody>
      </p:sp>
      <p:sp>
        <p:nvSpPr>
          <p:cNvPr id="4" name="Text Box 3"/>
          <p:cNvSpPr txBox="1"/>
          <p:nvPr/>
        </p:nvSpPr>
        <p:spPr>
          <a:xfrm rot="10800000" flipV="1">
            <a:off x="1254760" y="8264525"/>
            <a:ext cx="5221605" cy="1447165"/>
          </a:xfrm>
          <a:prstGeom prst="rect">
            <a:avLst/>
          </a:prstGeom>
        </p:spPr>
        <p:txBody>
          <a:bodyPr>
            <a:noAutofit/>
          </a:bodyPr>
          <a:p>
            <a:pPr>
              <a:spcAft>
                <a:spcPct val="60000"/>
              </a:spcAft>
            </a:pPr>
            <a:r>
              <a:rPr lang="en-US" altLang="zh-CN" sz="1600" b="1"/>
              <a:t>Step 4: Model Training</a:t>
            </a:r>
            <a:endParaRPr lang="en-US" altLang="zh-CN" sz="2200" b="1"/>
          </a:p>
          <a:p>
            <a:pPr algn="just"/>
            <a:r>
              <a:rPr lang="en-US" altLang="zh-CN" sz="1600"/>
              <a:t>In this stage, machine learning algorithms are trained using the preprocessed dataset. The dataset is usually divided into two parts:</a:t>
            </a:r>
            <a:endParaRPr lang="en-US" altLang="zh-CN" sz="1600"/>
          </a:p>
          <a:p>
            <a:pPr algn="just"/>
            <a:endParaRPr lang="en-US" altLang="zh-CN" sz="1600"/>
          </a:p>
          <a:p>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53490" y="582295"/>
            <a:ext cx="5228590" cy="5354320"/>
          </a:xfrm>
          <a:prstGeom prst="rect">
            <a:avLst/>
          </a:prstGeom>
          <a:noFill/>
        </p:spPr>
        <p:txBody>
          <a:bodyPr wrap="square" rtlCol="0" anchor="t">
            <a:noAutofit/>
          </a:bodyPr>
          <a:p>
            <a:pPr algn="just"/>
            <a:r>
              <a:rPr lang="en-US" altLang="zh-CN" sz="1600">
                <a:sym typeface="+mn-ea"/>
              </a:rPr>
              <a:t>• Training Data (used to train the model)</a:t>
            </a:r>
            <a:endParaRPr lang="en-US" altLang="zh-CN" sz="1600"/>
          </a:p>
          <a:p>
            <a:pPr algn="just"/>
            <a:r>
              <a:rPr lang="en-US" altLang="zh-CN" sz="1600">
                <a:sym typeface="+mn-ea"/>
              </a:rPr>
              <a:t> • Testing Data (used to evaluate the model)</a:t>
            </a:r>
            <a:endParaRPr lang="en-US" altLang="zh-CN" sz="1600"/>
          </a:p>
          <a:p>
            <a:pPr algn="just"/>
            <a:r>
              <a:rPr lang="en-US" altLang="zh-CN" sz="1600">
                <a:sym typeface="+mn-ea"/>
              </a:rPr>
              <a:t>The training process allows the algorithm to learn patterns and relationships between input features and stroke outcomes.</a:t>
            </a:r>
            <a:endParaRPr lang="en-US" altLang="zh-CN" sz="1600">
              <a:sym typeface="+mn-ea"/>
            </a:endParaRPr>
          </a:p>
        </p:txBody>
      </p:sp>
      <p:sp>
        <p:nvSpPr>
          <p:cNvPr id="3" name="Text Box 2"/>
          <p:cNvSpPr txBox="1"/>
          <p:nvPr/>
        </p:nvSpPr>
        <p:spPr>
          <a:xfrm>
            <a:off x="1254125" y="2006600"/>
            <a:ext cx="5227955" cy="7141845"/>
          </a:xfrm>
          <a:prstGeom prst="rect">
            <a:avLst/>
          </a:prstGeom>
        </p:spPr>
        <p:txBody>
          <a:bodyPr>
            <a:noAutofit/>
          </a:bodyPr>
          <a:p>
            <a:pPr>
              <a:spcAft>
                <a:spcPct val="60000"/>
              </a:spcAft>
            </a:pPr>
            <a:r>
              <a:rPr lang="en-US" altLang="zh-CN" sz="1600" b="1"/>
              <a:t>Step 5: Model Evaluation</a:t>
            </a:r>
            <a:endParaRPr lang="en-US" altLang="zh-CN" sz="2200" b="1"/>
          </a:p>
          <a:p>
            <a:pPr algn="just"/>
            <a:r>
              <a:rPr lang="en-US" altLang="zh-CN" sz="1600"/>
              <a:t>After training the model, it is evaluated using testing data to measure its performance.</a:t>
            </a:r>
            <a:endParaRPr lang="en-US" altLang="zh-CN" sz="1600"/>
          </a:p>
          <a:p>
            <a:pPr algn="just"/>
            <a:r>
              <a:rPr lang="en-US" altLang="zh-CN" sz="1600"/>
              <a:t>Common evaluation metrics include:</a:t>
            </a:r>
            <a:endParaRPr lang="en-US" altLang="zh-CN" sz="1600"/>
          </a:p>
          <a:p>
            <a:pPr algn="just"/>
            <a:endParaRPr lang="en-US" altLang="zh-CN" sz="1600"/>
          </a:p>
          <a:p>
            <a:pPr algn="just"/>
            <a:r>
              <a:rPr lang="en-US" altLang="zh-CN" sz="1600"/>
              <a:t>• Accuracy</a:t>
            </a:r>
            <a:endParaRPr lang="en-US" altLang="zh-CN" sz="1600"/>
          </a:p>
          <a:p>
            <a:pPr algn="just"/>
            <a:r>
              <a:rPr lang="en-US" altLang="zh-CN" sz="1600"/>
              <a:t> • Precision</a:t>
            </a:r>
            <a:endParaRPr lang="en-US" altLang="zh-CN" sz="1600"/>
          </a:p>
          <a:p>
            <a:pPr algn="just"/>
            <a:r>
              <a:rPr lang="en-US" altLang="zh-CN" sz="1600"/>
              <a:t> • Recall</a:t>
            </a:r>
            <a:endParaRPr lang="en-US" altLang="zh-CN" sz="1600"/>
          </a:p>
          <a:p>
            <a:pPr algn="just"/>
            <a:r>
              <a:rPr lang="en-US" altLang="zh-CN" sz="1600"/>
              <a:t> • F1 Score</a:t>
            </a:r>
            <a:endParaRPr lang="en-US" altLang="zh-CN" sz="1600"/>
          </a:p>
          <a:p>
            <a:pPr algn="just"/>
            <a:r>
              <a:rPr lang="en-US" altLang="zh-CN" sz="1600"/>
              <a:t> • Confusion Matrix</a:t>
            </a:r>
            <a:endParaRPr lang="en-US" altLang="zh-CN" sz="1600"/>
          </a:p>
          <a:p>
            <a:pPr algn="just"/>
            <a:r>
              <a:rPr lang="en-US" altLang="zh-CN" sz="1600"/>
              <a:t>These metrics help determine how well the model predicts stroke risk.</a:t>
            </a:r>
            <a:endParaRPr lang="en-US" altLang="zh-CN" sz="1600"/>
          </a:p>
          <a:p>
            <a:pPr algn="just"/>
            <a:endParaRPr lang="en-US" altLang="zh-CN" sz="1600"/>
          </a:p>
          <a:p>
            <a:pPr algn="just">
              <a:spcAft>
                <a:spcPct val="60000"/>
              </a:spcAft>
            </a:pPr>
            <a:r>
              <a:rPr lang="en-US" altLang="zh-CN" sz="1600" b="1"/>
              <a:t>Step 6: Prediction System</a:t>
            </a:r>
            <a:endParaRPr lang="en-US" altLang="zh-CN" sz="1600" b="1"/>
          </a:p>
          <a:p>
            <a:pPr algn="just"/>
            <a:r>
              <a:rPr lang="en-US" altLang="zh-CN" sz="1600"/>
              <a:t>Once the model is trained and evaluated, it can be used to predict stroke risk for new patient data.</a:t>
            </a:r>
            <a:endParaRPr lang="en-US" altLang="zh-CN" sz="1600"/>
          </a:p>
          <a:p>
            <a:pPr algn="just"/>
            <a:r>
              <a:rPr lang="en-US" altLang="zh-CN" sz="1600"/>
              <a:t>The user enters patient details into the system, and the model analyzes the input parameters to generate a prediction.</a:t>
            </a:r>
            <a:endParaRPr lang="en-US" altLang="zh-CN" sz="1600"/>
          </a:p>
          <a:p>
            <a:pPr algn="just"/>
            <a:endParaRPr lang="en-US" altLang="zh-CN" sz="1600"/>
          </a:p>
          <a:p>
            <a:pPr algn="just"/>
            <a:r>
              <a:rPr lang="en-US" altLang="zh-CN" sz="1600"/>
              <a:t>The output indicates whether the patient has:</a:t>
            </a:r>
            <a:endParaRPr lang="en-US" altLang="zh-CN" sz="1600"/>
          </a:p>
          <a:p>
            <a:pPr algn="just"/>
            <a:r>
              <a:rPr lang="en-US" altLang="zh-CN" sz="1600"/>
              <a:t>• High Risk of Stroke</a:t>
            </a:r>
            <a:endParaRPr lang="en-US" altLang="zh-CN" sz="1600"/>
          </a:p>
          <a:p>
            <a:pPr algn="just"/>
            <a:r>
              <a:rPr lang="en-US" altLang="zh-CN" sz="1600"/>
              <a:t> • Low Risk of Stroke</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08075" y="620395"/>
            <a:ext cx="5501005" cy="9181465"/>
          </a:xfrm>
          <a:prstGeom prst="rect">
            <a:avLst/>
          </a:prstGeom>
        </p:spPr>
        <p:txBody>
          <a:bodyPr>
            <a:noAutofit/>
          </a:bodyPr>
          <a:p>
            <a:pPr>
              <a:spcAft>
                <a:spcPct val="60000"/>
              </a:spcAft>
            </a:pPr>
            <a:r>
              <a:rPr lang="en-US" altLang="zh-CN" sz="1800" b="1"/>
              <a:t>3.4 System Architecture</a:t>
            </a:r>
            <a:endParaRPr lang="en-US" altLang="zh-CN" sz="2800" b="1"/>
          </a:p>
          <a:p>
            <a:pPr algn="just"/>
            <a:r>
              <a:rPr lang="en-US" altLang="zh-CN" sz="1600"/>
              <a:t>The architecture of the proposed system represents the overall structure and interaction between different components of the system.</a:t>
            </a:r>
            <a:endParaRPr lang="en-US" altLang="zh-CN" sz="1600"/>
          </a:p>
          <a:p>
            <a:pPr algn="just"/>
            <a:r>
              <a:rPr lang="en-US" altLang="zh-CN" sz="1600"/>
              <a:t>The architecture consists of the following layers:</a:t>
            </a:r>
            <a:endParaRPr lang="en-US" altLang="zh-CN" sz="1600"/>
          </a:p>
          <a:p>
            <a:pPr algn="just"/>
            <a:endParaRPr lang="en-US" altLang="zh-CN" sz="1600"/>
          </a:p>
          <a:p>
            <a:pPr algn="just">
              <a:buAutoNum type="arabicPeriod"/>
            </a:pPr>
            <a:r>
              <a:rPr lang="en-US" altLang="zh-CN" sz="1600"/>
              <a:t>Data Layer</a:t>
            </a:r>
            <a:endParaRPr lang="en-US" altLang="zh-CN" sz="1600"/>
          </a:p>
          <a:p>
            <a:pPr algn="just">
              <a:buAutoNum type="arabicPeriod"/>
            </a:pPr>
            <a:endParaRPr lang="en-US" altLang="zh-CN" sz="1600"/>
          </a:p>
          <a:p>
            <a:pPr indent="0" algn="just">
              <a:buNone/>
            </a:pPr>
            <a:r>
              <a:rPr lang="en-US" altLang="zh-CN" sz="1600"/>
              <a:t>2.Processing Layer</a:t>
            </a:r>
            <a:endParaRPr lang="en-US" altLang="zh-CN" sz="1600"/>
          </a:p>
          <a:p>
            <a:pPr algn="just">
              <a:buAutoNum type="arabicPeriod"/>
            </a:pPr>
            <a:endParaRPr lang="en-US" altLang="zh-CN" sz="1600"/>
          </a:p>
          <a:p>
            <a:pPr indent="0" algn="just">
              <a:buNone/>
            </a:pPr>
            <a:r>
              <a:rPr lang="en-US" altLang="zh-CN" sz="1600"/>
              <a:t>3.Machine Learning Layer</a:t>
            </a:r>
            <a:endParaRPr lang="en-US" altLang="zh-CN" sz="1600"/>
          </a:p>
          <a:p>
            <a:pPr algn="just">
              <a:buAutoNum type="arabicPeriod"/>
            </a:pPr>
            <a:endParaRPr lang="en-US" altLang="zh-CN" sz="1600"/>
          </a:p>
          <a:p>
            <a:pPr indent="0" algn="just">
              <a:buNone/>
            </a:pPr>
            <a:r>
              <a:rPr lang="en-US" altLang="zh-CN" sz="1600"/>
              <a:t>4.Prediction Layer</a:t>
            </a:r>
            <a:endParaRPr lang="en-US" altLang="zh-CN" sz="1600"/>
          </a:p>
          <a:p>
            <a:pPr algn="just">
              <a:buAutoNum type="arabicPeriod"/>
            </a:pPr>
            <a:endParaRPr lang="en-US" altLang="zh-CN" sz="1600"/>
          </a:p>
          <a:p>
            <a:pPr indent="0" algn="just">
              <a:buNone/>
            </a:pPr>
            <a:r>
              <a:rPr lang="en-US" altLang="zh-CN" sz="1600"/>
              <a:t>5.User Interface Layer</a:t>
            </a:r>
            <a:endParaRPr lang="en-US" altLang="zh-CN" sz="1600"/>
          </a:p>
          <a:p>
            <a:pPr indent="0" algn="just">
              <a:buNone/>
            </a:pPr>
            <a:endParaRPr lang="en-US" altLang="zh-CN" sz="1600"/>
          </a:p>
          <a:p>
            <a:pPr algn="just">
              <a:spcAft>
                <a:spcPct val="60000"/>
              </a:spcAft>
            </a:pPr>
            <a:r>
              <a:rPr lang="en-US" altLang="zh-CN" sz="1600" b="1"/>
              <a:t>Data Layer</a:t>
            </a:r>
            <a:endParaRPr lang="en-US" altLang="zh-CN" sz="1600" b="1"/>
          </a:p>
          <a:p>
            <a:pPr algn="just"/>
            <a:r>
              <a:rPr lang="en-US" altLang="zh-CN" sz="1600"/>
              <a:t>This layer stores the healthcare dataset used for training the machine learning models.</a:t>
            </a:r>
            <a:endParaRPr lang="en-US" altLang="zh-CN" sz="1600"/>
          </a:p>
          <a:p>
            <a:pPr algn="just">
              <a:spcAft>
                <a:spcPct val="60000"/>
              </a:spcAft>
            </a:pPr>
            <a:r>
              <a:rPr lang="en-US" altLang="zh-CN" sz="1600" b="1"/>
              <a:t>Processing Layer</a:t>
            </a:r>
            <a:endParaRPr lang="en-US" altLang="zh-CN" sz="1600" b="1"/>
          </a:p>
          <a:p>
            <a:pPr algn="just"/>
            <a:r>
              <a:rPr lang="en-US" altLang="zh-CN" sz="1600"/>
              <a:t>This layer performs data preprocessing tasks such as cleaning, transformation, and normalization.</a:t>
            </a:r>
            <a:endParaRPr lang="en-US" altLang="zh-CN" sz="1600"/>
          </a:p>
          <a:p>
            <a:pPr algn="just">
              <a:spcAft>
                <a:spcPct val="60000"/>
              </a:spcAft>
            </a:pPr>
            <a:r>
              <a:rPr lang="en-US" altLang="zh-CN" sz="1600" b="1"/>
              <a:t>Machine Learning Layer</a:t>
            </a:r>
            <a:endParaRPr lang="en-US" altLang="zh-CN" sz="2200" b="1"/>
          </a:p>
          <a:p>
            <a:pPr algn="just"/>
            <a:r>
              <a:rPr lang="en-US" altLang="zh-CN" sz="1600"/>
              <a:t>This layer applies machine learning algorithms to train the prediction model.</a:t>
            </a:r>
            <a:endParaRPr lang="en-US" altLang="zh-CN" sz="1600"/>
          </a:p>
          <a:p>
            <a:pPr algn="just">
              <a:spcAft>
                <a:spcPct val="60000"/>
              </a:spcAft>
            </a:pPr>
            <a:r>
              <a:rPr lang="en-US" altLang="zh-CN" sz="1600" b="1"/>
              <a:t>Prediction Layer</a:t>
            </a:r>
            <a:endParaRPr lang="en-US" altLang="zh-CN" sz="1600" b="1"/>
          </a:p>
          <a:p>
            <a:pPr algn="just"/>
            <a:r>
              <a:rPr lang="en-US" altLang="zh-CN" sz="1600"/>
              <a:t>This layer generates stroke risk predictions based on patient input.</a:t>
            </a:r>
            <a:endParaRPr lang="en-US" altLang="zh-CN" sz="1600"/>
          </a:p>
          <a:p>
            <a:pPr algn="just"/>
            <a:endParaRPr lang="en-US" altLang="zh-CN" sz="1600"/>
          </a:p>
          <a:p>
            <a:pPr algn="just">
              <a:spcAft>
                <a:spcPct val="60000"/>
              </a:spcAft>
            </a:pPr>
            <a:r>
              <a:rPr lang="en-US" altLang="zh-CN" sz="1600" b="1"/>
              <a:t>User Interface Layer</a:t>
            </a:r>
            <a:endParaRPr lang="en-US" altLang="zh-CN" sz="1600" b="1"/>
          </a:p>
          <a:p>
            <a:pPr algn="just"/>
            <a:r>
              <a:rPr lang="en-US" altLang="zh-CN" sz="1600"/>
              <a:t>This layer allows users to interact with the system and view the prediction results.</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36015" y="850265"/>
            <a:ext cx="5487035" cy="7734300"/>
          </a:xfrm>
          <a:prstGeom prst="rect">
            <a:avLst/>
          </a:prstGeom>
        </p:spPr>
        <p:txBody>
          <a:bodyPr>
            <a:noAutofit/>
          </a:bodyPr>
          <a:p>
            <a:pPr>
              <a:spcAft>
                <a:spcPct val="60000"/>
              </a:spcAft>
            </a:pPr>
            <a:r>
              <a:rPr lang="en-US" altLang="zh-CN" sz="1800" b="1"/>
              <a:t>3.5 System Flow Diagram</a:t>
            </a:r>
            <a:endParaRPr lang="en-US" altLang="zh-CN" sz="2800" b="1"/>
          </a:p>
          <a:p>
            <a:r>
              <a:rPr lang="en-US" altLang="zh-CN" sz="1600"/>
              <a:t>The system flow diagram explains how data moves through different stages of the system.</a:t>
            </a:r>
            <a:endParaRPr lang="en-US" altLang="zh-CN" sz="1600"/>
          </a:p>
          <a:p>
            <a:endParaRPr lang="en-US" altLang="zh-CN" sz="1600"/>
          </a:p>
          <a:p>
            <a:pPr>
              <a:spcAft>
                <a:spcPct val="60000"/>
              </a:spcAft>
            </a:pPr>
            <a:r>
              <a:rPr lang="en-US" altLang="zh-CN" sz="1600" b="1"/>
              <a:t>System Flow Steps</a:t>
            </a:r>
            <a:endParaRPr lang="en-US" altLang="zh-CN" sz="1600" b="1"/>
          </a:p>
          <a:p>
            <a:pPr>
              <a:spcAft>
                <a:spcPct val="60000"/>
              </a:spcAft>
            </a:pPr>
            <a:endParaRPr lang="en-US" altLang="zh-CN" sz="2200" b="1"/>
          </a:p>
          <a:p>
            <a:pPr>
              <a:buAutoNum type="arabicPeriod"/>
            </a:pPr>
            <a:r>
              <a:rPr lang="en-US" altLang="zh-CN" sz="1600"/>
              <a:t>Start</a:t>
            </a:r>
            <a:endParaRPr lang="en-US" altLang="zh-CN" sz="1600"/>
          </a:p>
          <a:p>
            <a:pPr>
              <a:buAutoNum type="arabicPeriod"/>
            </a:pPr>
            <a:endParaRPr lang="en-US" altLang="zh-CN" sz="1600"/>
          </a:p>
          <a:p>
            <a:pPr indent="0">
              <a:buNone/>
            </a:pPr>
            <a:r>
              <a:rPr lang="en-US" altLang="zh-CN" sz="1600"/>
              <a:t>2.Load Stroke Dataset</a:t>
            </a:r>
            <a:endParaRPr lang="en-US" altLang="zh-CN" sz="1600"/>
          </a:p>
          <a:p>
            <a:pPr>
              <a:buAutoNum type="arabicPeriod"/>
            </a:pPr>
            <a:endParaRPr lang="en-US" altLang="zh-CN" sz="1600"/>
          </a:p>
          <a:p>
            <a:pPr indent="0">
              <a:buNone/>
            </a:pPr>
            <a:r>
              <a:rPr lang="en-US" altLang="zh-CN" sz="1600"/>
              <a:t>3.Data Preprocessing</a:t>
            </a:r>
            <a:endParaRPr lang="en-US" altLang="zh-CN" sz="1600"/>
          </a:p>
          <a:p>
            <a:pPr>
              <a:buAutoNum type="arabicPeriod"/>
            </a:pPr>
            <a:endParaRPr lang="en-US" altLang="zh-CN" sz="1600"/>
          </a:p>
          <a:p>
            <a:pPr indent="0">
              <a:buNone/>
            </a:pPr>
            <a:r>
              <a:rPr lang="en-US" altLang="zh-CN" sz="1600"/>
              <a:t>4.Feature Selection</a:t>
            </a:r>
            <a:endParaRPr lang="en-US" altLang="zh-CN" sz="1600"/>
          </a:p>
          <a:p>
            <a:pPr>
              <a:buAutoNum type="arabicPeriod"/>
            </a:pPr>
            <a:endParaRPr lang="en-US" altLang="zh-CN" sz="1600"/>
          </a:p>
          <a:p>
            <a:pPr indent="0">
              <a:buNone/>
            </a:pPr>
            <a:r>
              <a:rPr lang="en-US" altLang="zh-CN" sz="1600"/>
              <a:t>5.Train Machine Learning Model</a:t>
            </a:r>
            <a:endParaRPr lang="en-US" altLang="zh-CN" sz="1600"/>
          </a:p>
          <a:p>
            <a:pPr>
              <a:buAutoNum type="arabicPeriod"/>
            </a:pPr>
            <a:endParaRPr lang="en-US" altLang="zh-CN" sz="1600"/>
          </a:p>
          <a:p>
            <a:pPr indent="0">
              <a:buNone/>
            </a:pPr>
            <a:r>
              <a:rPr lang="en-US" altLang="zh-CN" sz="1600"/>
              <a:t>6.Evaluate Model Performance</a:t>
            </a:r>
            <a:endParaRPr lang="en-US" altLang="zh-CN" sz="1600"/>
          </a:p>
          <a:p>
            <a:pPr>
              <a:buAutoNum type="arabicPeriod"/>
            </a:pPr>
            <a:endParaRPr lang="en-US" altLang="zh-CN" sz="1600"/>
          </a:p>
          <a:p>
            <a:pPr indent="0">
              <a:buNone/>
            </a:pPr>
            <a:r>
              <a:rPr lang="en-US" altLang="zh-CN" sz="1600"/>
              <a:t>7.Input Patient Data</a:t>
            </a:r>
            <a:endParaRPr lang="en-US" altLang="zh-CN" sz="1600"/>
          </a:p>
          <a:p>
            <a:pPr>
              <a:buAutoNum type="arabicPeriod"/>
            </a:pPr>
            <a:endParaRPr lang="en-US" altLang="zh-CN" sz="1600"/>
          </a:p>
          <a:p>
            <a:pPr indent="0">
              <a:buNone/>
            </a:pPr>
            <a:r>
              <a:rPr lang="en-US" altLang="zh-CN" sz="1600"/>
              <a:t>8.Predict Stroke Risk</a:t>
            </a:r>
            <a:endParaRPr lang="en-US" altLang="zh-CN" sz="1600"/>
          </a:p>
          <a:p>
            <a:pPr>
              <a:buAutoNum type="arabicPeriod"/>
            </a:pPr>
            <a:endParaRPr lang="en-US" altLang="zh-CN" sz="1600"/>
          </a:p>
          <a:p>
            <a:pPr indent="0">
              <a:buNone/>
            </a:pPr>
            <a:r>
              <a:rPr lang="en-US" altLang="zh-CN" sz="1600"/>
              <a:t>9.Display Result</a:t>
            </a:r>
            <a:endParaRPr lang="en-US" altLang="zh-CN" sz="1600"/>
          </a:p>
          <a:p>
            <a:pPr>
              <a:buAutoNum type="arabicPeriod"/>
            </a:pPr>
            <a:endParaRPr lang="en-US" altLang="zh-CN" sz="1600"/>
          </a:p>
          <a:p>
            <a:pPr indent="0">
              <a:buNone/>
            </a:pPr>
            <a:r>
              <a:rPr lang="en-US" altLang="zh-CN" sz="1600"/>
              <a:t>10.End</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05075" y="404495"/>
            <a:ext cx="3064510" cy="558800"/>
          </a:xfrm>
          <a:prstGeom prst="rect">
            <a:avLst/>
          </a:prstGeom>
        </p:spPr>
        <p:txBody>
          <a:bodyPr>
            <a:noAutofit/>
          </a:bodyPr>
          <a:p>
            <a:r>
              <a:rPr lang="en-US" altLang="zh-CN" sz="2000" b="1"/>
              <a:t>System Architecture</a:t>
            </a:r>
            <a:endParaRPr lang="en-US" altLang="zh-CN" sz="2000" b="1"/>
          </a:p>
        </p:txBody>
      </p:sp>
      <p:pic>
        <p:nvPicPr>
          <p:cNvPr id="3" name="Picture 2" descr="system"/>
          <p:cNvPicPr>
            <a:picLocks noChangeAspect="1"/>
          </p:cNvPicPr>
          <p:nvPr/>
        </p:nvPicPr>
        <p:blipFill>
          <a:blip r:embed="rId1"/>
          <a:stretch>
            <a:fillRect/>
          </a:stretch>
        </p:blipFill>
        <p:spPr>
          <a:xfrm>
            <a:off x="656590" y="1219200"/>
            <a:ext cx="6504940" cy="8170545"/>
          </a:xfrm>
          <a:prstGeom prst="rect">
            <a:avLst/>
          </a:prstGeom>
        </p:spPr>
      </p:pic>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79195" y="553085"/>
            <a:ext cx="5396865" cy="9060180"/>
          </a:xfrm>
          <a:prstGeom prst="rect">
            <a:avLst/>
          </a:prstGeom>
        </p:spPr>
        <p:txBody>
          <a:bodyPr>
            <a:noAutofit/>
          </a:bodyPr>
          <a:p>
            <a:pPr>
              <a:spcAft>
                <a:spcPct val="60000"/>
              </a:spcAft>
            </a:pPr>
            <a:r>
              <a:rPr lang="en-US" altLang="zh-CN" sz="1800" b="1"/>
              <a:t>3.6 Machine Learning Algorithms Used</a:t>
            </a:r>
            <a:endParaRPr lang="en-US" altLang="zh-CN" sz="2800" b="1"/>
          </a:p>
          <a:p>
            <a:pPr algn="just"/>
            <a:r>
              <a:rPr lang="en-US" altLang="zh-CN" sz="1600"/>
              <a:t>The proposed system uses several machine learning algorithms to predict stroke risk.</a:t>
            </a:r>
            <a:endParaRPr lang="en-US" altLang="zh-CN" sz="1600"/>
          </a:p>
          <a:p>
            <a:pPr algn="just"/>
            <a:endParaRPr lang="en-US" altLang="zh-CN" sz="1600"/>
          </a:p>
          <a:p>
            <a:pPr algn="just">
              <a:spcAft>
                <a:spcPct val="60000"/>
              </a:spcAft>
            </a:pPr>
            <a:r>
              <a:rPr lang="en-US" altLang="zh-CN" sz="1600" b="1"/>
              <a:t>3.6.1 Logistic Regression</a:t>
            </a:r>
            <a:endParaRPr lang="en-US" altLang="zh-CN" sz="2300" b="1"/>
          </a:p>
          <a:p>
            <a:pPr algn="just"/>
            <a:r>
              <a:rPr lang="en-US" altLang="zh-CN" sz="1600"/>
              <a:t>Logistic Regression is a supervised machine learning algorithm used for binary classification problems. It predicts the probability that a patient belongs to a particular class (stroke or no stroke).</a:t>
            </a:r>
            <a:endParaRPr lang="en-US" altLang="zh-CN" sz="1600"/>
          </a:p>
          <a:p>
            <a:pPr algn="just"/>
            <a:r>
              <a:rPr lang="en-US" altLang="zh-CN" sz="1600"/>
              <a:t>Advantages:</a:t>
            </a:r>
            <a:endParaRPr lang="en-US" altLang="zh-CN" sz="1600"/>
          </a:p>
          <a:p>
            <a:pPr algn="just"/>
            <a:r>
              <a:rPr lang="en-US" altLang="zh-CN" sz="1600"/>
              <a:t>• Simple and efficient</a:t>
            </a:r>
            <a:endParaRPr lang="en-US" altLang="zh-CN" sz="1600"/>
          </a:p>
          <a:p>
            <a:pPr algn="just"/>
            <a:r>
              <a:rPr lang="en-US" altLang="zh-CN" sz="1600"/>
              <a:t> • Easy to interpret</a:t>
            </a:r>
            <a:endParaRPr lang="en-US" altLang="zh-CN" sz="1600"/>
          </a:p>
          <a:p>
            <a:pPr algn="just"/>
            <a:r>
              <a:rPr lang="en-US" altLang="zh-CN" sz="1600"/>
              <a:t> • Works well for binary classification problems</a:t>
            </a:r>
            <a:endParaRPr lang="en-US" altLang="zh-CN" sz="1600"/>
          </a:p>
          <a:p>
            <a:pPr algn="just"/>
            <a:endParaRPr lang="en-US" altLang="zh-CN" sz="1600"/>
          </a:p>
          <a:p>
            <a:pPr algn="just">
              <a:spcAft>
                <a:spcPct val="60000"/>
              </a:spcAft>
            </a:pPr>
            <a:r>
              <a:rPr lang="en-US" altLang="zh-CN" sz="1600" b="1"/>
              <a:t>3.6.2 Decision Tree</a:t>
            </a:r>
            <a:endParaRPr lang="en-US" altLang="zh-CN" sz="1600" b="1"/>
          </a:p>
          <a:p>
            <a:pPr algn="just"/>
            <a:r>
              <a:rPr lang="en-US" altLang="zh-CN" sz="1600"/>
              <a:t>Decision Tree is a tree-based algorithm used for classification and prediction tasks.</a:t>
            </a:r>
            <a:endParaRPr lang="en-US" altLang="zh-CN" sz="1600"/>
          </a:p>
          <a:p>
            <a:pPr algn="just"/>
            <a:r>
              <a:rPr lang="en-US" altLang="zh-CN" sz="1600"/>
              <a:t>It splits the dataset into smaller subsets based on feature values and builds a tree-like structure.</a:t>
            </a:r>
            <a:endParaRPr lang="en-US" altLang="zh-CN" sz="1600"/>
          </a:p>
          <a:p>
            <a:pPr algn="just"/>
            <a:r>
              <a:rPr lang="en-US" altLang="zh-CN" sz="1600"/>
              <a:t>Advantages:</a:t>
            </a:r>
            <a:endParaRPr lang="en-US" altLang="zh-CN" sz="1600"/>
          </a:p>
          <a:p>
            <a:pPr algn="just"/>
            <a:r>
              <a:rPr lang="en-US" altLang="zh-CN" sz="1600"/>
              <a:t>• Easy to understand</a:t>
            </a:r>
            <a:endParaRPr lang="en-US" altLang="zh-CN" sz="1600"/>
          </a:p>
          <a:p>
            <a:pPr algn="just"/>
            <a:r>
              <a:rPr lang="en-US" altLang="zh-CN" sz="1600"/>
              <a:t> • Visual representation of decisions</a:t>
            </a:r>
            <a:endParaRPr lang="en-US" altLang="zh-CN" sz="1600"/>
          </a:p>
          <a:p>
            <a:pPr algn="just"/>
            <a:r>
              <a:rPr lang="en-US" altLang="zh-CN" sz="1600"/>
              <a:t> • Handles both numerical and categorical data</a:t>
            </a:r>
            <a:endParaRPr lang="en-US" altLang="zh-CN" sz="1600"/>
          </a:p>
          <a:p>
            <a:pPr algn="just"/>
            <a:endParaRPr lang="en-US" altLang="zh-CN" sz="1600"/>
          </a:p>
          <a:p>
            <a:pPr algn="just">
              <a:spcAft>
                <a:spcPct val="60000"/>
              </a:spcAft>
            </a:pPr>
            <a:r>
              <a:rPr lang="en-US" altLang="zh-CN" sz="1600" b="1"/>
              <a:t>3.6.3 Random Forest</a:t>
            </a:r>
            <a:endParaRPr lang="en-US" altLang="zh-CN" sz="1600" b="1"/>
          </a:p>
          <a:p>
            <a:pPr algn="just"/>
            <a:r>
              <a:rPr lang="en-US" altLang="zh-CN" sz="1600"/>
              <a:t>Random Forest is an ensemble learning algorithm that combines multiple decision trees to improve prediction accuracy.</a:t>
            </a:r>
            <a:endParaRPr lang="en-US" altLang="zh-CN" sz="1600"/>
          </a:p>
          <a:p>
            <a:pPr algn="just"/>
            <a:r>
              <a:rPr lang="en-US" altLang="zh-CN" sz="1600"/>
              <a:t>Advantages:</a:t>
            </a:r>
            <a:endParaRPr lang="en-US" altLang="zh-CN" sz="1600"/>
          </a:p>
          <a:p>
            <a:pPr algn="just"/>
            <a:r>
              <a:rPr lang="en-US" altLang="zh-CN" sz="1600"/>
              <a:t>• High accuracy</a:t>
            </a:r>
            <a:endParaRPr lang="en-US" altLang="zh-CN" sz="1600"/>
          </a:p>
          <a:p>
            <a:pPr algn="just"/>
            <a:r>
              <a:rPr lang="en-US" altLang="zh-CN" sz="1600"/>
              <a:t> • Reduces overfitting</a:t>
            </a:r>
            <a:endParaRPr lang="en-US" altLang="zh-CN" sz="1600"/>
          </a:p>
          <a:p>
            <a:pPr algn="just"/>
            <a:r>
              <a:rPr lang="en-US" altLang="zh-CN" sz="1600"/>
              <a:t> • Handles large datasets effectively</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846455"/>
            <a:ext cx="5080000" cy="7620635"/>
          </a:xfrm>
          <a:prstGeom prst="rect">
            <a:avLst/>
          </a:prstGeom>
        </p:spPr>
        <p:txBody>
          <a:bodyPr>
            <a:noAutofit/>
          </a:bodyPr>
          <a:p>
            <a:pPr>
              <a:spcAft>
                <a:spcPct val="60000"/>
              </a:spcAft>
            </a:pPr>
            <a:r>
              <a:rPr lang="en-US" altLang="zh-CN" sz="1800" b="1"/>
              <a:t>3.7 Tools and Technologies Used</a:t>
            </a:r>
            <a:endParaRPr lang="en-US" altLang="zh-CN" sz="1800" b="1"/>
          </a:p>
          <a:p>
            <a:pPr algn="just"/>
            <a:r>
              <a:rPr lang="en-US" altLang="zh-CN" sz="1600"/>
              <a:t>The development of the Heart Stroke Risk Prediction system involves several tools and technologies.</a:t>
            </a:r>
            <a:endParaRPr lang="en-US" altLang="zh-CN" sz="1600"/>
          </a:p>
          <a:p>
            <a:pPr algn="just"/>
            <a:endParaRPr lang="en-US" altLang="zh-CN" sz="1600"/>
          </a:p>
          <a:p>
            <a:pPr algn="just">
              <a:spcAft>
                <a:spcPct val="60000"/>
              </a:spcAft>
            </a:pPr>
            <a:r>
              <a:rPr lang="en-US" altLang="zh-CN" sz="1600" b="1"/>
              <a:t>Programming Language</a:t>
            </a:r>
            <a:endParaRPr lang="en-US" altLang="zh-CN" sz="1600" b="1"/>
          </a:p>
          <a:p>
            <a:pPr algn="just"/>
            <a:r>
              <a:rPr lang="en-US" altLang="zh-CN" sz="1600"/>
              <a:t>Python is used as the main programming language because of its powerful libraries for machine learning and data analysis.</a:t>
            </a:r>
            <a:endParaRPr lang="en-US" altLang="zh-CN" sz="1600"/>
          </a:p>
          <a:p>
            <a:pPr algn="just"/>
            <a:endParaRPr lang="en-US" altLang="zh-CN" sz="1600"/>
          </a:p>
          <a:p>
            <a:pPr algn="just">
              <a:spcAft>
                <a:spcPct val="60000"/>
              </a:spcAft>
            </a:pPr>
            <a:r>
              <a:rPr lang="en-US" altLang="zh-CN" sz="1600" b="1"/>
              <a:t>Libraries Used</a:t>
            </a:r>
            <a:endParaRPr lang="en-US" altLang="zh-CN" sz="1600" b="1"/>
          </a:p>
          <a:p>
            <a:pPr algn="just"/>
            <a:r>
              <a:rPr lang="en-US" altLang="zh-CN" sz="1600"/>
              <a:t>• Pandas – Data manipulation and analysis</a:t>
            </a:r>
            <a:endParaRPr lang="en-US" altLang="zh-CN" sz="1600"/>
          </a:p>
          <a:p>
            <a:pPr algn="just"/>
            <a:r>
              <a:rPr lang="en-US" altLang="zh-CN" sz="1600"/>
              <a:t> • NumPy – Numerical computations</a:t>
            </a:r>
            <a:endParaRPr lang="en-US" altLang="zh-CN" sz="1600"/>
          </a:p>
          <a:p>
            <a:pPr algn="just"/>
            <a:r>
              <a:rPr lang="en-US" altLang="zh-CN" sz="1600"/>
              <a:t> • Matplotlib – Data visualization</a:t>
            </a:r>
            <a:endParaRPr lang="en-US" altLang="zh-CN" sz="1600"/>
          </a:p>
          <a:p>
            <a:pPr algn="just"/>
            <a:r>
              <a:rPr lang="en-US" altLang="zh-CN" sz="1600"/>
              <a:t> • Seaborn – Statistical data visualization</a:t>
            </a:r>
            <a:endParaRPr lang="en-US" altLang="zh-CN" sz="1600"/>
          </a:p>
          <a:p>
            <a:pPr algn="just"/>
            <a:r>
              <a:rPr lang="en-US" altLang="zh-CN" sz="1600"/>
              <a:t> • Scikit-learn – Machine learning algorithms</a:t>
            </a:r>
            <a:endParaRPr lang="en-US" altLang="zh-CN" sz="1600"/>
          </a:p>
          <a:p>
            <a:pPr algn="just"/>
            <a:r>
              <a:rPr lang="en-US" altLang="zh-CN" sz="1600"/>
              <a:t> • Streamlit / Flask – Web application interface</a:t>
            </a:r>
            <a:endParaRPr lang="en-US" altLang="zh-CN" sz="1600"/>
          </a:p>
          <a:p>
            <a:pPr algn="just"/>
            <a:endParaRPr lang="en-US" altLang="zh-CN" sz="1600"/>
          </a:p>
          <a:p>
            <a:pPr algn="just">
              <a:spcAft>
                <a:spcPct val="60000"/>
              </a:spcAft>
            </a:pPr>
            <a:r>
              <a:rPr lang="en-US" altLang="zh-CN" sz="1600" b="1"/>
              <a:t>Development Environment</a:t>
            </a:r>
            <a:endParaRPr lang="en-US" altLang="zh-CN" sz="2200" b="1"/>
          </a:p>
          <a:p>
            <a:pPr algn="just"/>
            <a:r>
              <a:rPr lang="en-US" altLang="zh-CN" sz="1600"/>
              <a:t>The project is developed using:</a:t>
            </a:r>
            <a:endParaRPr lang="en-US" altLang="zh-CN" sz="1600"/>
          </a:p>
          <a:p>
            <a:pPr algn="just"/>
            <a:r>
              <a:rPr lang="en-US" altLang="zh-CN" sz="1600"/>
              <a:t>• Jupyter Notebook</a:t>
            </a:r>
            <a:endParaRPr lang="en-US" altLang="zh-CN" sz="1600"/>
          </a:p>
          <a:p>
            <a:pPr algn="just"/>
            <a:r>
              <a:rPr lang="en-US" altLang="zh-CN" sz="1600"/>
              <a:t> • VS Code / PyCharm</a:t>
            </a:r>
            <a:endParaRPr lang="en-US" altLang="zh-CN" sz="1600"/>
          </a:p>
          <a:p>
            <a:pPr algn="just"/>
            <a:endParaRPr lang="en-US" altLang="zh-CN" sz="1600"/>
          </a:p>
          <a:p>
            <a:pPr algn="just"/>
            <a:r>
              <a:rPr lang="en-US" altLang="zh-CN" sz="1600"/>
              <a:t>These environments provide tools for coding, debugging, and testing machine learning models.</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942340"/>
            <a:ext cx="5080000" cy="8126730"/>
          </a:xfrm>
          <a:prstGeom prst="rect">
            <a:avLst/>
          </a:prstGeom>
        </p:spPr>
        <p:txBody>
          <a:bodyPr>
            <a:noAutofit/>
          </a:bodyPr>
          <a:p>
            <a:pPr>
              <a:spcAft>
                <a:spcPct val="60000"/>
              </a:spcAft>
            </a:pPr>
            <a:r>
              <a:rPr lang="en-US" altLang="zh-CN" sz="1800" b="1"/>
              <a:t>3.8 Implementation Workflow</a:t>
            </a:r>
            <a:endParaRPr lang="en-US" altLang="zh-CN" sz="1800" b="1"/>
          </a:p>
          <a:p>
            <a:pPr>
              <a:spcAft>
                <a:spcPct val="60000"/>
              </a:spcAft>
            </a:pPr>
            <a:endParaRPr lang="en-US" altLang="zh-CN" sz="2800" b="1"/>
          </a:p>
          <a:p>
            <a:r>
              <a:rPr lang="en-US" altLang="zh-CN" sz="1600"/>
              <a:t>The implementation workflow describes the practical steps involved in developing the system.</a:t>
            </a:r>
            <a:endParaRPr lang="en-US" altLang="zh-CN" sz="1600"/>
          </a:p>
          <a:p>
            <a:endParaRPr lang="en-US" altLang="zh-CN" sz="1600"/>
          </a:p>
          <a:p>
            <a:r>
              <a:rPr lang="en-US" altLang="zh-CN" sz="1600"/>
              <a:t>Step 1: Import necessary libraries</a:t>
            </a:r>
            <a:endParaRPr lang="en-US" altLang="zh-CN" sz="1600"/>
          </a:p>
          <a:p>
            <a:endParaRPr lang="en-US" altLang="zh-CN" sz="1600"/>
          </a:p>
          <a:p>
            <a:r>
              <a:rPr lang="en-US" altLang="zh-CN" sz="1600"/>
              <a:t> Step 2: Load the stroke dataset</a:t>
            </a:r>
            <a:endParaRPr lang="en-US" altLang="zh-CN" sz="1600"/>
          </a:p>
          <a:p>
            <a:endParaRPr lang="en-US" altLang="zh-CN" sz="1600"/>
          </a:p>
          <a:p>
            <a:r>
              <a:rPr lang="en-US" altLang="zh-CN" sz="1600"/>
              <a:t> Step 3: Perform data preprocessing</a:t>
            </a:r>
            <a:endParaRPr lang="en-US" altLang="zh-CN" sz="1600"/>
          </a:p>
          <a:p>
            <a:endParaRPr lang="en-US" altLang="zh-CN" sz="1600"/>
          </a:p>
          <a:p>
            <a:r>
              <a:rPr lang="en-US" altLang="zh-CN" sz="1600"/>
              <a:t> Step 4: Split dataset into training and testing sets</a:t>
            </a:r>
            <a:endParaRPr lang="en-US" altLang="zh-CN" sz="1600"/>
          </a:p>
          <a:p>
            <a:endParaRPr lang="en-US" altLang="zh-CN" sz="1600"/>
          </a:p>
          <a:p>
            <a:r>
              <a:rPr lang="en-US" altLang="zh-CN" sz="1600"/>
              <a:t> Step 5: Train machine learning models</a:t>
            </a:r>
            <a:endParaRPr lang="en-US" altLang="zh-CN" sz="1600"/>
          </a:p>
          <a:p>
            <a:endParaRPr lang="en-US" altLang="zh-CN" sz="1600"/>
          </a:p>
          <a:p>
            <a:r>
              <a:rPr lang="en-US" altLang="zh-CN" sz="1600"/>
              <a:t> Step 6: Evaluate model performance</a:t>
            </a:r>
            <a:endParaRPr lang="en-US" altLang="zh-CN" sz="1600"/>
          </a:p>
          <a:p>
            <a:endParaRPr lang="en-US" altLang="zh-CN" sz="1600"/>
          </a:p>
          <a:p>
            <a:r>
              <a:rPr lang="en-US" altLang="zh-CN" sz="1600"/>
              <a:t> Step 7: Select the best performing model</a:t>
            </a:r>
            <a:endParaRPr lang="en-US" altLang="zh-CN" sz="1600"/>
          </a:p>
          <a:p>
            <a:endParaRPr lang="en-US" altLang="zh-CN" sz="1600"/>
          </a:p>
          <a:p>
            <a:r>
              <a:rPr lang="en-US" altLang="zh-CN" sz="1600"/>
              <a:t> Step 8: Build prediction interface</a:t>
            </a:r>
            <a:endParaRPr lang="en-US" altLang="zh-CN" sz="1600"/>
          </a:p>
          <a:p>
            <a:endParaRPr lang="en-US" altLang="zh-CN" sz="1600"/>
          </a:p>
          <a:p>
            <a:r>
              <a:rPr lang="en-US" altLang="zh-CN" sz="1600"/>
              <a:t> Step 9: Deploy the application</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22680" y="615950"/>
            <a:ext cx="5624830" cy="2898775"/>
          </a:xfrm>
          <a:prstGeom prst="rect">
            <a:avLst/>
          </a:prstGeom>
        </p:spPr>
        <p:txBody>
          <a:bodyPr>
            <a:noAutofit/>
          </a:bodyPr>
          <a:p>
            <a:pPr>
              <a:spcAft>
                <a:spcPct val="60000"/>
              </a:spcAft>
            </a:pPr>
            <a:r>
              <a:rPr lang="en-US" altLang="zh-CN" sz="1800" b="1"/>
              <a:t>3.9 Advantages of Proposed System</a:t>
            </a:r>
            <a:endParaRPr lang="en-US" altLang="zh-CN" sz="1800" b="1"/>
          </a:p>
          <a:p>
            <a:pPr algn="just"/>
            <a:r>
              <a:rPr lang="en-US" altLang="zh-CN" sz="1600"/>
              <a:t>The proposed system provides several benefits:</a:t>
            </a:r>
            <a:endParaRPr lang="en-US" altLang="zh-CN" sz="1600"/>
          </a:p>
          <a:p>
            <a:pPr algn="just"/>
            <a:endParaRPr lang="en-US" altLang="zh-CN" sz="1600"/>
          </a:p>
          <a:p>
            <a:pPr algn="just"/>
            <a:r>
              <a:rPr lang="en-US" altLang="zh-CN" sz="1600"/>
              <a:t>• Early detection of stroke risk</a:t>
            </a:r>
            <a:endParaRPr lang="en-US" altLang="zh-CN" sz="1600"/>
          </a:p>
          <a:p>
            <a:pPr algn="just"/>
            <a:r>
              <a:rPr lang="en-US" altLang="zh-CN" sz="1600"/>
              <a:t> • Supports medical decision-making</a:t>
            </a:r>
            <a:endParaRPr lang="en-US" altLang="zh-CN" sz="1600"/>
          </a:p>
          <a:p>
            <a:pPr algn="just"/>
            <a:r>
              <a:rPr lang="en-US" altLang="zh-CN" sz="1600"/>
              <a:t> • Reduces human error in diagnosis</a:t>
            </a:r>
            <a:endParaRPr lang="en-US" altLang="zh-CN" sz="1600"/>
          </a:p>
          <a:p>
            <a:pPr algn="just"/>
            <a:r>
              <a:rPr lang="en-US" altLang="zh-CN" sz="1600"/>
              <a:t> • Improves healthcare efficiency</a:t>
            </a:r>
            <a:endParaRPr lang="en-US" altLang="zh-CN" sz="1600"/>
          </a:p>
          <a:p>
            <a:pPr algn="just"/>
            <a:r>
              <a:rPr lang="en-US" altLang="zh-CN" sz="1600"/>
              <a:t> • Provides fast and accurate predictions</a:t>
            </a:r>
            <a:endParaRPr lang="en-US" altLang="zh-CN" sz="1600"/>
          </a:p>
        </p:txBody>
      </p:sp>
      <p:sp>
        <p:nvSpPr>
          <p:cNvPr id="3" name="Text Box 2"/>
          <p:cNvSpPr txBox="1"/>
          <p:nvPr/>
        </p:nvSpPr>
        <p:spPr>
          <a:xfrm>
            <a:off x="1226820" y="3080385"/>
            <a:ext cx="5362575" cy="3338830"/>
          </a:xfrm>
          <a:prstGeom prst="rect">
            <a:avLst/>
          </a:prstGeom>
        </p:spPr>
        <p:txBody>
          <a:bodyPr>
            <a:noAutofit/>
          </a:bodyPr>
          <a:p>
            <a:pPr>
              <a:spcAft>
                <a:spcPct val="60000"/>
              </a:spcAft>
            </a:pPr>
            <a:r>
              <a:rPr lang="en-US" altLang="zh-CN" sz="1800" b="1"/>
              <a:t>3.10 Summary</a:t>
            </a:r>
            <a:endParaRPr lang="en-US" altLang="zh-CN" sz="1800" b="1"/>
          </a:p>
          <a:p>
            <a:pPr algn="just"/>
            <a:r>
              <a:rPr lang="en-US" altLang="zh-CN" sz="1600"/>
              <a:t>This chapter described the methodology used to develop the Heart Stroke Risk Prediction system. The system follows a machine learning workflow that includes data collection, preprocessing, feature selection, model training, and prediction.</a:t>
            </a:r>
            <a:endParaRPr lang="en-US" altLang="zh-CN" sz="1600"/>
          </a:p>
          <a:p>
            <a:pPr algn="just"/>
            <a:endParaRPr lang="en-US" altLang="zh-CN" sz="1600"/>
          </a:p>
          <a:p>
            <a:pPr algn="just"/>
            <a:r>
              <a:rPr lang="en-US" altLang="zh-CN" sz="1600"/>
              <a:t>Different machine learning algorithms such as Logistic Regression, Decision Tree, and Random Forest are used to analyze patient data and predict stroke risk.</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46200" y="368300"/>
            <a:ext cx="5806440" cy="419735"/>
          </a:xfrm>
          <a:prstGeom prst="rect">
            <a:avLst/>
          </a:prstGeom>
        </p:spPr>
        <p:txBody>
          <a:bodyPr>
            <a:noAutofit/>
          </a:bodyPr>
          <a:p>
            <a:pPr>
              <a:spcAft>
                <a:spcPct val="60000"/>
              </a:spcAft>
            </a:pPr>
            <a:r>
              <a:rPr lang="en-US" altLang="zh-CN" sz="2200" b="1"/>
              <a:t>CHAPTER 4- SYSTEM IMPLEMENTATION</a:t>
            </a:r>
            <a:endParaRPr lang="en-US" altLang="zh-CN" sz="2200" b="1"/>
          </a:p>
        </p:txBody>
      </p:sp>
      <p:sp>
        <p:nvSpPr>
          <p:cNvPr id="3" name="Text Box 2"/>
          <p:cNvSpPr txBox="1"/>
          <p:nvPr/>
        </p:nvSpPr>
        <p:spPr>
          <a:xfrm>
            <a:off x="1143000" y="1524000"/>
            <a:ext cx="5713730" cy="5994400"/>
          </a:xfrm>
          <a:prstGeom prst="rect">
            <a:avLst/>
          </a:prstGeom>
        </p:spPr>
        <p:txBody>
          <a:bodyPr>
            <a:noAutofit/>
          </a:bodyPr>
          <a:p>
            <a:pPr>
              <a:spcAft>
                <a:spcPct val="60000"/>
              </a:spcAft>
            </a:pPr>
            <a:r>
              <a:rPr lang="en-US" altLang="zh-CN" sz="1800" b="1"/>
              <a:t>4.1 Introduction</a:t>
            </a:r>
            <a:endParaRPr lang="en-US" altLang="zh-CN" sz="1800" b="1"/>
          </a:p>
          <a:p>
            <a:pPr algn="just"/>
            <a:r>
              <a:rPr lang="en-US" altLang="zh-CN" sz="1600"/>
              <a:t>This chapter explains the practical implementation of the proposed Heart Stroke Risk Prediction system. The system is implemented using machine learning techniques to analyze patient health data and predict the possibility of stroke.</a:t>
            </a:r>
            <a:endParaRPr lang="en-US" altLang="zh-CN" sz="1600"/>
          </a:p>
          <a:p>
            <a:pPr algn="just"/>
            <a:r>
              <a:rPr lang="en-US" altLang="zh-CN" sz="1600"/>
              <a:t>The implementation process includes several stages such as dataset loading, data preprocessing, feature selection, model training, and prediction generation. Python programming language is used for developing the machine learning model because of its powerful data analysis and machine learning libraries.</a:t>
            </a:r>
            <a:endParaRPr lang="en-US" altLang="zh-CN" sz="1600"/>
          </a:p>
          <a:p>
            <a:pPr algn="just"/>
            <a:endParaRPr lang="en-US" altLang="zh-CN" sz="1600"/>
          </a:p>
          <a:p>
            <a:pPr algn="just"/>
            <a:r>
              <a:rPr lang="en-US" altLang="zh-CN" sz="1600"/>
              <a:t>The system also includes a user interface where users can enter patient health parameters and receive predictions about stroke risk. The implementation focuses on building an accurate and efficient system that can assist healthcare professionals in early detection of stroke risk.</a:t>
            </a:r>
            <a:endParaRPr lang="en-US" altLang="zh-CN" sz="1600"/>
          </a:p>
        </p:txBody>
      </p:sp>
      <p:sp>
        <p:nvSpPr>
          <p:cNvPr id="4" name="Text Box 3"/>
          <p:cNvSpPr txBox="1"/>
          <p:nvPr/>
        </p:nvSpPr>
        <p:spPr>
          <a:xfrm>
            <a:off x="1145540" y="6035675"/>
            <a:ext cx="5788025" cy="3436620"/>
          </a:xfrm>
          <a:prstGeom prst="rect">
            <a:avLst/>
          </a:prstGeom>
        </p:spPr>
        <p:txBody>
          <a:bodyPr>
            <a:noAutofit/>
          </a:bodyPr>
          <a:p>
            <a:pPr>
              <a:spcAft>
                <a:spcPct val="60000"/>
              </a:spcAft>
            </a:pPr>
            <a:r>
              <a:rPr lang="en-US" altLang="zh-CN" sz="1800" b="1"/>
              <a:t>4.2 Development Environment</a:t>
            </a:r>
            <a:endParaRPr lang="en-US" altLang="zh-CN" sz="1800" b="1"/>
          </a:p>
          <a:p>
            <a:r>
              <a:rPr lang="en-US" altLang="zh-CN" sz="1600"/>
              <a:t>The system is developed using the following tools and technologies:</a:t>
            </a:r>
            <a:endParaRPr lang="en-US" altLang="zh-CN" sz="1600"/>
          </a:p>
          <a:p>
            <a:endParaRPr lang="en-US" altLang="zh-CN" sz="1600"/>
          </a:p>
          <a:p>
            <a:pPr>
              <a:spcAft>
                <a:spcPct val="60000"/>
              </a:spcAft>
            </a:pPr>
            <a:r>
              <a:rPr lang="en-US" altLang="zh-CN" sz="1600" b="1"/>
              <a:t>Programming Language</a:t>
            </a:r>
            <a:endParaRPr lang="en-US" altLang="zh-CN" sz="1600" b="1"/>
          </a:p>
          <a:p>
            <a:pPr algn="just"/>
            <a:r>
              <a:rPr lang="en-US" altLang="zh-CN" sz="1600"/>
              <a:t>Python is used as the primary programming language because it provides extensive libraries for machine learning and data analysis.</a:t>
            </a:r>
            <a:endParaRPr lang="en-US" altLang="zh-CN" sz="1600"/>
          </a:p>
          <a:p>
            <a:pPr algn="just"/>
            <a:endParaRPr lang="en-US" altLang="zh-CN" sz="1600"/>
          </a:p>
          <a:p>
            <a:pPr algn="just">
              <a:spcAft>
                <a:spcPct val="60000"/>
              </a:spcAft>
            </a:pPr>
            <a:r>
              <a:rPr lang="en-US" altLang="zh-CN" sz="1600" b="1"/>
              <a:t>Software Tools</a:t>
            </a:r>
            <a:endParaRPr lang="en-US" altLang="zh-CN" sz="1600" b="1"/>
          </a:p>
          <a:p>
            <a:pPr algn="just">
              <a:spcAft>
                <a:spcPct val="60000"/>
              </a:spcAft>
            </a:pPr>
            <a:r>
              <a:rPr lang="en-US" altLang="zh-CN" sz="1600"/>
              <a:t>• Python 3.x</a:t>
            </a:r>
            <a:endParaRPr lang="en-US" altLang="zh-CN" sz="1600"/>
          </a:p>
          <a:p>
            <a:pPr algn="just">
              <a:spcAft>
                <a:spcPct val="60000"/>
              </a:spcAft>
            </a:pP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3175" y="609600"/>
            <a:ext cx="5290185" cy="6438900"/>
          </a:xfrm>
          <a:prstGeom prst="rect">
            <a:avLst/>
          </a:prstGeom>
          <a:noFill/>
        </p:spPr>
        <p:txBody>
          <a:bodyPr wrap="square" rtlCol="0" anchor="t">
            <a:noAutofit/>
          </a:bodyPr>
          <a:p>
            <a:pPr>
              <a:spcAft>
                <a:spcPct val="60000"/>
              </a:spcAft>
            </a:pPr>
            <a:r>
              <a:rPr lang="en-US" altLang="zh-CN" sz="1600">
                <a:sym typeface="+mn-ea"/>
              </a:rPr>
              <a:t>• Jupyter Notebook / VS Code</a:t>
            </a:r>
            <a:endParaRPr lang="en-US" altLang="zh-CN" sz="1600"/>
          </a:p>
          <a:p>
            <a:r>
              <a:rPr lang="en-US" altLang="zh-CN" sz="1600">
                <a:sym typeface="+mn-ea"/>
              </a:rPr>
              <a:t> • Flask for web interface</a:t>
            </a:r>
            <a:endParaRPr lang="en-US" altLang="zh-CN" sz="1600">
              <a:sym typeface="+mn-ea"/>
            </a:endParaRPr>
          </a:p>
          <a:p>
            <a:endParaRPr lang="en-US" altLang="zh-CN" sz="1600"/>
          </a:p>
          <a:p>
            <a:pPr>
              <a:spcAft>
                <a:spcPct val="60000"/>
              </a:spcAft>
            </a:pPr>
            <a:r>
              <a:rPr lang="en-US" altLang="zh-CN" sz="1600" b="1">
                <a:sym typeface="+mn-ea"/>
              </a:rPr>
              <a:t>Libraries Used</a:t>
            </a:r>
            <a:endParaRPr lang="en-US" altLang="zh-CN" sz="1600" b="1"/>
          </a:p>
          <a:p>
            <a:r>
              <a:rPr lang="en-US" altLang="zh-CN" sz="1600">
                <a:sym typeface="+mn-ea"/>
              </a:rPr>
              <a:t>• Pandas – Data analysis and dataset manipulation</a:t>
            </a:r>
            <a:endParaRPr lang="en-US" altLang="zh-CN" sz="1600">
              <a:sym typeface="+mn-ea"/>
            </a:endParaRPr>
          </a:p>
          <a:p>
            <a:endParaRPr lang="en-US" altLang="zh-CN" sz="1600"/>
          </a:p>
          <a:p>
            <a:r>
              <a:rPr lang="en-US" altLang="zh-CN" sz="1600">
                <a:sym typeface="+mn-ea"/>
              </a:rPr>
              <a:t> • NumPy – Mathematical and numerical computations</a:t>
            </a:r>
            <a:endParaRPr lang="en-US" altLang="zh-CN" sz="1600">
              <a:sym typeface="+mn-ea"/>
            </a:endParaRPr>
          </a:p>
          <a:p>
            <a:endParaRPr lang="en-US" altLang="zh-CN" sz="1600"/>
          </a:p>
          <a:p>
            <a:r>
              <a:rPr lang="en-US" altLang="zh-CN" sz="1600">
                <a:sym typeface="+mn-ea"/>
              </a:rPr>
              <a:t> • Matplotlib – Data visualization</a:t>
            </a:r>
            <a:endParaRPr lang="en-US" altLang="zh-CN" sz="1600">
              <a:sym typeface="+mn-ea"/>
            </a:endParaRPr>
          </a:p>
          <a:p>
            <a:endParaRPr lang="en-US" altLang="zh-CN" sz="1600"/>
          </a:p>
          <a:p>
            <a:r>
              <a:rPr lang="en-US" altLang="zh-CN" sz="1600">
                <a:sym typeface="+mn-ea"/>
              </a:rPr>
              <a:t> • Seaborn – Statistical graphs and plots</a:t>
            </a:r>
            <a:endParaRPr lang="en-US" altLang="zh-CN" sz="1600">
              <a:sym typeface="+mn-ea"/>
            </a:endParaRPr>
          </a:p>
          <a:p>
            <a:endParaRPr lang="en-US" altLang="zh-CN" sz="1600"/>
          </a:p>
          <a:p>
            <a:r>
              <a:rPr lang="en-US" altLang="zh-CN" sz="1600">
                <a:sym typeface="+mn-ea"/>
              </a:rPr>
              <a:t> • Scikit-learn – Machine learning algorithms</a:t>
            </a:r>
            <a:endParaRPr lang="en-US" altLang="zh-CN" sz="1600">
              <a:sym typeface="+mn-ea"/>
            </a:endParaRPr>
          </a:p>
          <a:p>
            <a:endParaRPr lang="en-US" altLang="zh-CN" sz="1600"/>
          </a:p>
          <a:p>
            <a:r>
              <a:rPr lang="en-US" altLang="zh-CN" sz="1600">
                <a:sym typeface="+mn-ea"/>
              </a:rPr>
              <a:t> • Joblib / Pickle – Saving trained models</a:t>
            </a:r>
            <a:endParaRPr lang="en-US" altLang="zh-CN" sz="1600">
              <a:sym typeface="+mn-ea"/>
            </a:endParaRPr>
          </a:p>
          <a:p>
            <a:endParaRPr lang="en-US" altLang="zh-CN" sz="1600"/>
          </a:p>
          <a:p>
            <a:r>
              <a:rPr lang="en-US" altLang="zh-CN" sz="1600">
                <a:sym typeface="+mn-ea"/>
              </a:rPr>
              <a:t>These tools help in developing, testing, and deploying the prediction system.</a:t>
            </a:r>
            <a:endParaRPr lang="en-US" altLang="zh-CN" sz="1600">
              <a:sym typeface="+mn-ea"/>
            </a:endParaRPr>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1131570" y="792480"/>
            <a:ext cx="5634355" cy="2144395"/>
          </a:xfrm>
          <a:prstGeom prst="rect">
            <a:avLst/>
          </a:prstGeom>
        </p:spPr>
        <p:txBody>
          <a:bodyPr>
            <a:noAutofit/>
          </a:bodyPr>
          <a:p>
            <a:pPr>
              <a:spcAft>
                <a:spcPct val="60000"/>
              </a:spcAft>
            </a:pPr>
            <a:r>
              <a:rPr lang="en-US" altLang="zh-CN" sz="1800" b="1"/>
              <a:t>4.3 Dataset Description</a:t>
            </a:r>
            <a:endParaRPr lang="en-US" altLang="zh-CN" sz="2800" b="1"/>
          </a:p>
          <a:p>
            <a:pPr algn="just"/>
            <a:r>
              <a:rPr lang="en-US" altLang="zh-CN" sz="1600"/>
              <a:t>The dataset used in this project contains medical information related to stroke patients. It includes several features that influence the risk of stroke.</a:t>
            </a:r>
            <a:endParaRPr lang="en-US" altLang="zh-CN" sz="1600"/>
          </a:p>
          <a:p>
            <a:pPr algn="just"/>
            <a:endParaRPr lang="en-US" altLang="zh-CN" sz="1600"/>
          </a:p>
          <a:p>
            <a:pPr>
              <a:spcAft>
                <a:spcPct val="60000"/>
              </a:spcAft>
            </a:pPr>
            <a:r>
              <a:rPr lang="en-US" altLang="zh-CN" sz="2200" b="1"/>
              <a:t>Dataset Attributes</a:t>
            </a:r>
            <a:endParaRPr lang="en-US" altLang="zh-CN" sz="2200" b="1"/>
          </a:p>
        </p:txBody>
      </p:sp>
      <p:graphicFrame>
        <p:nvGraphicFramePr>
          <p:cNvPr id="6" name="Table 5"/>
          <p:cNvGraphicFramePr/>
          <p:nvPr>
            <p:custDataLst>
              <p:tags r:id="rId1"/>
            </p:custDataLst>
          </p:nvPr>
        </p:nvGraphicFramePr>
        <p:xfrm>
          <a:off x="1131570" y="2773680"/>
          <a:ext cx="5634990" cy="3813810"/>
        </p:xfrm>
        <a:graphic>
          <a:graphicData uri="http://schemas.openxmlformats.org/drawingml/2006/table">
            <a:tbl>
              <a:tblPr/>
              <a:tblGrid>
                <a:gridCol w="2817495"/>
                <a:gridCol w="2817495"/>
              </a:tblGrid>
              <a:tr h="293370">
                <a:tc>
                  <a:txBody>
                    <a:bodyPr/>
                    <a:p>
                      <a:r>
                        <a:rPr lang="en-US" altLang="zh-CN" sz="1100"/>
                        <a:t>Attribute</a:t>
                      </a:r>
                      <a:endParaRPr lang="en-US" altLang="zh-CN" sz="1100"/>
                    </a:p>
                  </a:txBody>
                  <a:tcPr marL="0" marR="0" marT="0" marB="0" anchor="ctr" anchorCtr="0">
                    <a:lnL>
                      <a:noFill/>
                    </a:lnL>
                    <a:lnR>
                      <a:noFill/>
                    </a:lnR>
                    <a:lnT>
                      <a:noFill/>
                    </a:lnT>
                    <a:lnB>
                      <a:noFill/>
                    </a:lnB>
                    <a:noFill/>
                  </a:tcPr>
                </a:tc>
                <a:tc>
                  <a:txBody>
                    <a:bodyPr/>
                    <a:p>
                      <a:r>
                        <a:rPr lang="en-US" altLang="zh-CN" sz="1100"/>
                        <a:t>Description</a:t>
                      </a:r>
                      <a:endParaRPr lang="en-US" altLang="zh-CN" sz="1100"/>
                    </a:p>
                  </a:txBody>
                  <a:tcPr marL="0" marR="0" marT="0" marB="0" anchor="ctr" anchorCtr="0">
                    <a:lnL>
                      <a:noFill/>
                    </a:lnL>
                    <a:lnR>
                      <a:noFill/>
                    </a:lnR>
                    <a:lnT>
                      <a:noFill/>
                    </a:lnT>
                    <a:lnB>
                      <a:noFill/>
                    </a:lnB>
                    <a:noFill/>
                  </a:tcPr>
                </a:tc>
              </a:tr>
              <a:tr h="293370">
                <a:tc>
                  <a:txBody>
                    <a:bodyPr/>
                    <a:p>
                      <a:r>
                        <a:rPr lang="en-US" altLang="zh-CN" sz="1100"/>
                        <a:t>id</a:t>
                      </a:r>
                      <a:endParaRPr lang="en-US" altLang="zh-CN" sz="1100"/>
                    </a:p>
                  </a:txBody>
                  <a:tcPr marL="0" marR="0" marT="0" marB="0" anchor="ctr" anchorCtr="0">
                    <a:lnL>
                      <a:noFill/>
                    </a:lnL>
                    <a:lnR>
                      <a:noFill/>
                    </a:lnR>
                    <a:lnT>
                      <a:noFill/>
                    </a:lnT>
                    <a:lnB>
                      <a:noFill/>
                    </a:lnB>
                    <a:noFill/>
                  </a:tcPr>
                </a:tc>
                <a:tc>
                  <a:txBody>
                    <a:bodyPr/>
                    <a:p>
                      <a:r>
                        <a:rPr lang="en-US" altLang="zh-CN" sz="1100"/>
                        <a:t>Unique identifier of patient</a:t>
                      </a:r>
                      <a:endParaRPr lang="en-US" altLang="zh-CN" sz="1100"/>
                    </a:p>
                  </a:txBody>
                  <a:tcPr marL="0" marR="0" marT="0" marB="0" anchor="ctr" anchorCtr="0">
                    <a:lnL>
                      <a:noFill/>
                    </a:lnL>
                    <a:lnR>
                      <a:noFill/>
                    </a:lnR>
                    <a:lnT>
                      <a:noFill/>
                    </a:lnT>
                    <a:lnB>
                      <a:noFill/>
                    </a:lnB>
                    <a:noFill/>
                  </a:tcPr>
                </a:tc>
              </a:tr>
              <a:tr h="293370">
                <a:tc>
                  <a:txBody>
                    <a:bodyPr/>
                    <a:p>
                      <a:r>
                        <a:rPr lang="en-US" altLang="zh-CN" sz="1100"/>
                        <a:t>gender</a:t>
                      </a:r>
                      <a:endParaRPr lang="en-US" altLang="zh-CN" sz="1100"/>
                    </a:p>
                  </a:txBody>
                  <a:tcPr marL="0" marR="0" marT="0" marB="0" anchor="ctr" anchorCtr="0">
                    <a:lnL>
                      <a:noFill/>
                    </a:lnL>
                    <a:lnR>
                      <a:noFill/>
                    </a:lnR>
                    <a:lnT>
                      <a:noFill/>
                    </a:lnT>
                    <a:lnB>
                      <a:noFill/>
                    </a:lnB>
                    <a:noFill/>
                  </a:tcPr>
                </a:tc>
                <a:tc>
                  <a:txBody>
                    <a:bodyPr/>
                    <a:p>
                      <a:r>
                        <a:rPr lang="en-US" altLang="zh-CN" sz="1100"/>
                        <a:t>Male / Female</a:t>
                      </a:r>
                      <a:endParaRPr lang="en-US" altLang="zh-CN" sz="1100"/>
                    </a:p>
                  </a:txBody>
                  <a:tcPr marL="0" marR="0" marT="0" marB="0" anchor="ctr" anchorCtr="0">
                    <a:lnL>
                      <a:noFill/>
                    </a:lnL>
                    <a:lnR>
                      <a:noFill/>
                    </a:lnR>
                    <a:lnT>
                      <a:noFill/>
                    </a:lnT>
                    <a:lnB>
                      <a:noFill/>
                    </a:lnB>
                    <a:noFill/>
                  </a:tcPr>
                </a:tc>
              </a:tr>
              <a:tr h="293370">
                <a:tc>
                  <a:txBody>
                    <a:bodyPr/>
                    <a:p>
                      <a:r>
                        <a:rPr lang="en-US" altLang="zh-CN" sz="1100"/>
                        <a:t>age</a:t>
                      </a:r>
                      <a:endParaRPr lang="en-US" altLang="zh-CN" sz="1100"/>
                    </a:p>
                  </a:txBody>
                  <a:tcPr marL="0" marR="0" marT="0" marB="0" anchor="ctr" anchorCtr="0">
                    <a:lnL>
                      <a:noFill/>
                    </a:lnL>
                    <a:lnR>
                      <a:noFill/>
                    </a:lnR>
                    <a:lnT>
                      <a:noFill/>
                    </a:lnT>
                    <a:lnB>
                      <a:noFill/>
                    </a:lnB>
                    <a:noFill/>
                  </a:tcPr>
                </a:tc>
                <a:tc>
                  <a:txBody>
                    <a:bodyPr/>
                    <a:p>
                      <a:r>
                        <a:rPr lang="en-US" altLang="zh-CN" sz="1100"/>
                        <a:t>Age of patient</a:t>
                      </a:r>
                      <a:endParaRPr lang="en-US" altLang="zh-CN" sz="1100"/>
                    </a:p>
                  </a:txBody>
                  <a:tcPr marL="0" marR="0" marT="0" marB="0" anchor="ctr" anchorCtr="0">
                    <a:lnL>
                      <a:noFill/>
                    </a:lnL>
                    <a:lnR>
                      <a:noFill/>
                    </a:lnR>
                    <a:lnT>
                      <a:noFill/>
                    </a:lnT>
                    <a:lnB>
                      <a:noFill/>
                    </a:lnB>
                    <a:noFill/>
                  </a:tcPr>
                </a:tc>
              </a:tr>
              <a:tr h="293370">
                <a:tc>
                  <a:txBody>
                    <a:bodyPr/>
                    <a:p>
                      <a:r>
                        <a:rPr lang="en-US" altLang="zh-CN" sz="1100"/>
                        <a:t>hypertension</a:t>
                      </a:r>
                      <a:endParaRPr lang="en-US" altLang="zh-CN" sz="1100"/>
                    </a:p>
                  </a:txBody>
                  <a:tcPr marL="0" marR="0" marT="0" marB="0" anchor="ctr" anchorCtr="0">
                    <a:lnL>
                      <a:noFill/>
                    </a:lnL>
                    <a:lnR>
                      <a:noFill/>
                    </a:lnR>
                    <a:lnT>
                      <a:noFill/>
                    </a:lnT>
                    <a:lnB>
                      <a:noFill/>
                    </a:lnB>
                    <a:noFill/>
                  </a:tcPr>
                </a:tc>
                <a:tc>
                  <a:txBody>
                    <a:bodyPr/>
                    <a:p>
                      <a:r>
                        <a:rPr lang="en-US" altLang="zh-CN" sz="1100"/>
                        <a:t>Whether patient has hypertension</a:t>
                      </a:r>
                      <a:endParaRPr lang="en-US" altLang="zh-CN" sz="1100"/>
                    </a:p>
                  </a:txBody>
                  <a:tcPr marL="0" marR="0" marT="0" marB="0" anchor="ctr" anchorCtr="0">
                    <a:lnL>
                      <a:noFill/>
                    </a:lnL>
                    <a:lnR>
                      <a:noFill/>
                    </a:lnR>
                    <a:lnT>
                      <a:noFill/>
                    </a:lnT>
                    <a:lnB>
                      <a:noFill/>
                    </a:lnB>
                    <a:noFill/>
                  </a:tcPr>
                </a:tc>
              </a:tr>
              <a:tr h="293370">
                <a:tc>
                  <a:txBody>
                    <a:bodyPr/>
                    <a:p>
                      <a:r>
                        <a:rPr lang="en-US" altLang="zh-CN" sz="1100"/>
                        <a:t>heart_disease</a:t>
                      </a:r>
                      <a:endParaRPr lang="en-US" altLang="zh-CN" sz="1100"/>
                    </a:p>
                  </a:txBody>
                  <a:tcPr marL="0" marR="0" marT="0" marB="0" anchor="ctr" anchorCtr="0">
                    <a:lnL>
                      <a:noFill/>
                    </a:lnL>
                    <a:lnR>
                      <a:noFill/>
                    </a:lnR>
                    <a:lnT>
                      <a:noFill/>
                    </a:lnT>
                    <a:lnB>
                      <a:noFill/>
                    </a:lnB>
                    <a:noFill/>
                  </a:tcPr>
                </a:tc>
                <a:tc>
                  <a:txBody>
                    <a:bodyPr/>
                    <a:p>
                      <a:r>
                        <a:rPr lang="en-US" altLang="zh-CN" sz="1100"/>
                        <a:t>Whether patient has heart disease</a:t>
                      </a:r>
                      <a:endParaRPr lang="en-US" altLang="zh-CN" sz="1100"/>
                    </a:p>
                  </a:txBody>
                  <a:tcPr marL="0" marR="0" marT="0" marB="0" anchor="ctr" anchorCtr="0">
                    <a:lnL>
                      <a:noFill/>
                    </a:lnL>
                    <a:lnR>
                      <a:noFill/>
                    </a:lnR>
                    <a:lnT>
                      <a:noFill/>
                    </a:lnT>
                    <a:lnB>
                      <a:noFill/>
                    </a:lnB>
                    <a:noFill/>
                  </a:tcPr>
                </a:tc>
              </a:tr>
              <a:tr h="293370">
                <a:tc>
                  <a:txBody>
                    <a:bodyPr/>
                    <a:p>
                      <a:r>
                        <a:rPr lang="en-US" altLang="zh-CN" sz="1100"/>
                        <a:t>ever_married</a:t>
                      </a:r>
                      <a:endParaRPr lang="en-US" altLang="zh-CN" sz="1100"/>
                    </a:p>
                  </a:txBody>
                  <a:tcPr marL="0" marR="0" marT="0" marB="0" anchor="ctr" anchorCtr="0">
                    <a:lnL>
                      <a:noFill/>
                    </a:lnL>
                    <a:lnR>
                      <a:noFill/>
                    </a:lnR>
                    <a:lnT>
                      <a:noFill/>
                    </a:lnT>
                    <a:lnB>
                      <a:noFill/>
                    </a:lnB>
                    <a:noFill/>
                  </a:tcPr>
                </a:tc>
                <a:tc>
                  <a:txBody>
                    <a:bodyPr/>
                    <a:p>
                      <a:r>
                        <a:rPr lang="en-US" altLang="zh-CN" sz="1100"/>
                        <a:t>Marital status</a:t>
                      </a:r>
                      <a:endParaRPr lang="en-US" altLang="zh-CN" sz="1100"/>
                    </a:p>
                  </a:txBody>
                  <a:tcPr marL="0" marR="0" marT="0" marB="0" anchor="ctr" anchorCtr="0">
                    <a:lnL>
                      <a:noFill/>
                    </a:lnL>
                    <a:lnR>
                      <a:noFill/>
                    </a:lnR>
                    <a:lnT>
                      <a:noFill/>
                    </a:lnT>
                    <a:lnB>
                      <a:noFill/>
                    </a:lnB>
                    <a:noFill/>
                  </a:tcPr>
                </a:tc>
              </a:tr>
              <a:tr h="293370">
                <a:tc>
                  <a:txBody>
                    <a:bodyPr/>
                    <a:p>
                      <a:r>
                        <a:rPr lang="en-US" altLang="zh-CN" sz="1100"/>
                        <a:t>work_type</a:t>
                      </a:r>
                      <a:endParaRPr lang="en-US" altLang="zh-CN" sz="1100"/>
                    </a:p>
                  </a:txBody>
                  <a:tcPr marL="0" marR="0" marT="0" marB="0" anchor="ctr" anchorCtr="0">
                    <a:lnL>
                      <a:noFill/>
                    </a:lnL>
                    <a:lnR>
                      <a:noFill/>
                    </a:lnR>
                    <a:lnT>
                      <a:noFill/>
                    </a:lnT>
                    <a:lnB>
                      <a:noFill/>
                    </a:lnB>
                    <a:noFill/>
                  </a:tcPr>
                </a:tc>
                <a:tc>
                  <a:txBody>
                    <a:bodyPr/>
                    <a:p>
                      <a:r>
                        <a:rPr lang="en-US" altLang="zh-CN" sz="1100"/>
                        <a:t>Type of employment</a:t>
                      </a:r>
                      <a:endParaRPr lang="en-US" altLang="zh-CN" sz="1100"/>
                    </a:p>
                  </a:txBody>
                  <a:tcPr marL="0" marR="0" marT="0" marB="0" anchor="ctr" anchorCtr="0">
                    <a:lnL>
                      <a:noFill/>
                    </a:lnL>
                    <a:lnR>
                      <a:noFill/>
                    </a:lnR>
                    <a:lnT>
                      <a:noFill/>
                    </a:lnT>
                    <a:lnB>
                      <a:noFill/>
                    </a:lnB>
                    <a:noFill/>
                  </a:tcPr>
                </a:tc>
              </a:tr>
              <a:tr h="293370">
                <a:tc>
                  <a:txBody>
                    <a:bodyPr/>
                    <a:p>
                      <a:r>
                        <a:rPr lang="en-US" altLang="zh-CN" sz="1100"/>
                        <a:t>residence_type</a:t>
                      </a:r>
                      <a:endParaRPr lang="en-US" altLang="zh-CN" sz="1100"/>
                    </a:p>
                  </a:txBody>
                  <a:tcPr marL="0" marR="0" marT="0" marB="0" anchor="ctr" anchorCtr="0">
                    <a:lnL>
                      <a:noFill/>
                    </a:lnL>
                    <a:lnR>
                      <a:noFill/>
                    </a:lnR>
                    <a:lnT>
                      <a:noFill/>
                    </a:lnT>
                    <a:lnB>
                      <a:noFill/>
                    </a:lnB>
                    <a:noFill/>
                  </a:tcPr>
                </a:tc>
                <a:tc>
                  <a:txBody>
                    <a:bodyPr/>
                    <a:p>
                      <a:r>
                        <a:rPr lang="en-US" altLang="zh-CN" sz="1100"/>
                        <a:t>Urban or rural</a:t>
                      </a:r>
                      <a:endParaRPr lang="en-US" altLang="zh-CN" sz="1100"/>
                    </a:p>
                  </a:txBody>
                  <a:tcPr marL="0" marR="0" marT="0" marB="0" anchor="ctr" anchorCtr="0">
                    <a:lnL>
                      <a:noFill/>
                    </a:lnL>
                    <a:lnR>
                      <a:noFill/>
                    </a:lnR>
                    <a:lnT>
                      <a:noFill/>
                    </a:lnT>
                    <a:lnB>
                      <a:noFill/>
                    </a:lnB>
                    <a:noFill/>
                  </a:tcPr>
                </a:tc>
              </a:tr>
              <a:tr h="293370">
                <a:tc>
                  <a:txBody>
                    <a:bodyPr/>
                    <a:p>
                      <a:r>
                        <a:rPr lang="en-US" altLang="zh-CN" sz="1100"/>
                        <a:t>avg_glucose_level</a:t>
                      </a:r>
                      <a:endParaRPr lang="en-US" altLang="zh-CN" sz="1100"/>
                    </a:p>
                  </a:txBody>
                  <a:tcPr marL="0" marR="0" marT="0" marB="0" anchor="ctr" anchorCtr="0">
                    <a:lnL>
                      <a:noFill/>
                    </a:lnL>
                    <a:lnR>
                      <a:noFill/>
                    </a:lnR>
                    <a:lnT>
                      <a:noFill/>
                    </a:lnT>
                    <a:lnB>
                      <a:noFill/>
                    </a:lnB>
                    <a:noFill/>
                  </a:tcPr>
                </a:tc>
                <a:tc>
                  <a:txBody>
                    <a:bodyPr/>
                    <a:p>
                      <a:r>
                        <a:rPr lang="en-US" altLang="zh-CN" sz="1100"/>
                        <a:t>Average glucose level</a:t>
                      </a:r>
                      <a:endParaRPr lang="en-US" altLang="zh-CN" sz="1100"/>
                    </a:p>
                  </a:txBody>
                  <a:tcPr marL="0" marR="0" marT="0" marB="0" anchor="ctr" anchorCtr="0">
                    <a:lnL>
                      <a:noFill/>
                    </a:lnL>
                    <a:lnR>
                      <a:noFill/>
                    </a:lnR>
                    <a:lnT>
                      <a:noFill/>
                    </a:lnT>
                    <a:lnB>
                      <a:noFill/>
                    </a:lnB>
                    <a:noFill/>
                  </a:tcPr>
                </a:tc>
              </a:tr>
              <a:tr h="293370">
                <a:tc>
                  <a:txBody>
                    <a:bodyPr/>
                    <a:p>
                      <a:r>
                        <a:rPr lang="en-US" altLang="zh-CN" sz="1100"/>
                        <a:t>bmi</a:t>
                      </a:r>
                      <a:endParaRPr lang="en-US" altLang="zh-CN" sz="1100"/>
                    </a:p>
                  </a:txBody>
                  <a:tcPr marL="0" marR="0" marT="0" marB="0" anchor="ctr" anchorCtr="0">
                    <a:lnL>
                      <a:noFill/>
                    </a:lnL>
                    <a:lnR>
                      <a:noFill/>
                    </a:lnR>
                    <a:lnT>
                      <a:noFill/>
                    </a:lnT>
                    <a:lnB>
                      <a:noFill/>
                    </a:lnB>
                    <a:noFill/>
                  </a:tcPr>
                </a:tc>
                <a:tc>
                  <a:txBody>
                    <a:bodyPr/>
                    <a:p>
                      <a:r>
                        <a:rPr lang="en-US" altLang="zh-CN" sz="1100"/>
                        <a:t>Body mass index</a:t>
                      </a:r>
                      <a:endParaRPr lang="en-US" altLang="zh-CN" sz="1100"/>
                    </a:p>
                  </a:txBody>
                  <a:tcPr marL="0" marR="0" marT="0" marB="0" anchor="ctr" anchorCtr="0">
                    <a:lnL>
                      <a:noFill/>
                    </a:lnL>
                    <a:lnR>
                      <a:noFill/>
                    </a:lnR>
                    <a:lnT>
                      <a:noFill/>
                    </a:lnT>
                    <a:lnB>
                      <a:noFill/>
                    </a:lnB>
                    <a:noFill/>
                  </a:tcPr>
                </a:tc>
              </a:tr>
              <a:tr h="293370">
                <a:tc>
                  <a:txBody>
                    <a:bodyPr/>
                    <a:p>
                      <a:r>
                        <a:rPr lang="en-US" altLang="zh-CN" sz="1100"/>
                        <a:t>smoking_status</a:t>
                      </a:r>
                      <a:endParaRPr lang="en-US" altLang="zh-CN" sz="1100"/>
                    </a:p>
                  </a:txBody>
                  <a:tcPr marL="0" marR="0" marT="0" marB="0" anchor="ctr" anchorCtr="0">
                    <a:lnL>
                      <a:noFill/>
                    </a:lnL>
                    <a:lnR>
                      <a:noFill/>
                    </a:lnR>
                    <a:lnT>
                      <a:noFill/>
                    </a:lnT>
                    <a:lnB>
                      <a:noFill/>
                    </a:lnB>
                    <a:noFill/>
                  </a:tcPr>
                </a:tc>
                <a:tc>
                  <a:txBody>
                    <a:bodyPr/>
                    <a:p>
                      <a:r>
                        <a:rPr lang="en-US" altLang="zh-CN" sz="1100"/>
                        <a:t>Smoking habit</a:t>
                      </a:r>
                      <a:endParaRPr lang="en-US" altLang="zh-CN" sz="1100"/>
                    </a:p>
                  </a:txBody>
                  <a:tcPr marL="0" marR="0" marT="0" marB="0" anchor="ctr" anchorCtr="0">
                    <a:lnL>
                      <a:noFill/>
                    </a:lnL>
                    <a:lnR>
                      <a:noFill/>
                    </a:lnR>
                    <a:lnT>
                      <a:noFill/>
                    </a:lnT>
                    <a:lnB>
                      <a:noFill/>
                    </a:lnB>
                    <a:noFill/>
                  </a:tcPr>
                </a:tc>
              </a:tr>
              <a:tr h="293370">
                <a:tc>
                  <a:txBody>
                    <a:bodyPr/>
                    <a:p>
                      <a:r>
                        <a:rPr lang="en-US" altLang="zh-CN" sz="1100"/>
                        <a:t>stroke</a:t>
                      </a:r>
                      <a:endParaRPr lang="en-US" altLang="zh-CN" sz="1100"/>
                    </a:p>
                  </a:txBody>
                  <a:tcPr marL="0" marR="0" marT="0" marB="0" anchor="ctr" anchorCtr="0">
                    <a:lnL>
                      <a:noFill/>
                    </a:lnL>
                    <a:lnR>
                      <a:noFill/>
                    </a:lnR>
                    <a:lnT>
                      <a:noFill/>
                    </a:lnT>
                    <a:lnB>
                      <a:noFill/>
                    </a:lnB>
                    <a:noFill/>
                  </a:tcPr>
                </a:tc>
                <a:tc>
                  <a:txBody>
                    <a:bodyPr/>
                    <a:p>
                      <a:r>
                        <a:rPr lang="en-US" altLang="zh-CN" sz="1100"/>
                        <a:t>Target variable (0 = No stroke, 1 = Stroke)</a:t>
                      </a:r>
                      <a:endParaRPr lang="en-US" altLang="zh-CN" sz="1100"/>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1132205" y="7008495"/>
            <a:ext cx="5633085" cy="1083310"/>
          </a:xfrm>
          <a:prstGeom prst="rect">
            <a:avLst/>
          </a:prstGeom>
        </p:spPr>
        <p:txBody>
          <a:bodyPr>
            <a:noAutofit/>
          </a:bodyPr>
          <a:p>
            <a:endParaRPr lang="en-US" altLang="zh-CN" sz="2600"/>
          </a:p>
          <a:p>
            <a:r>
              <a:rPr lang="en-US" altLang="zh-CN" sz="1600"/>
              <a:t>This dataset is used to train the machine learning models to predict stroke risk.</a:t>
            </a:r>
            <a:endParaRPr lang="en-US" altLang="zh-CN" sz="1600"/>
          </a:p>
        </p:txBody>
      </p:sp>
      <p:sp>
        <p:nvSpPr>
          <p:cNvPr id="2" name="Slide Number Placeholder 1"/>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50620" y="885190"/>
            <a:ext cx="5535295" cy="6481445"/>
          </a:xfrm>
          <a:prstGeom prst="rect">
            <a:avLst/>
          </a:prstGeom>
        </p:spPr>
        <p:txBody>
          <a:bodyPr>
            <a:noAutofit/>
          </a:bodyPr>
          <a:p>
            <a:pPr>
              <a:spcAft>
                <a:spcPct val="60000"/>
              </a:spcAft>
            </a:pPr>
            <a:r>
              <a:rPr lang="en-US" altLang="zh-CN" sz="1800" b="1"/>
              <a:t>4.4 Modules Developed</a:t>
            </a:r>
            <a:endParaRPr lang="en-US" altLang="zh-CN" sz="2800" b="1"/>
          </a:p>
          <a:p>
            <a:pPr algn="just"/>
            <a:r>
              <a:rPr lang="en-US" altLang="zh-CN" sz="1600"/>
              <a:t>The system is divided into several modules to ensure efficient implementation and functionality.</a:t>
            </a:r>
            <a:endParaRPr lang="en-US" altLang="zh-CN" sz="1600"/>
          </a:p>
          <a:p>
            <a:pPr algn="just"/>
            <a:endParaRPr lang="en-US" altLang="zh-CN" sz="1600"/>
          </a:p>
          <a:p>
            <a:pPr algn="just">
              <a:spcAft>
                <a:spcPct val="60000"/>
              </a:spcAft>
            </a:pPr>
            <a:r>
              <a:rPr lang="en-US" altLang="zh-CN" sz="1800" b="1"/>
              <a:t>4.4.1 Data Collection Module</a:t>
            </a:r>
            <a:endParaRPr lang="en-US" altLang="zh-CN" sz="1800" b="1"/>
          </a:p>
          <a:p>
            <a:pPr algn="just"/>
            <a:r>
              <a:rPr lang="en-US" altLang="zh-CN" sz="1600"/>
              <a:t>This module is responsible for loading the dataset into the system.</a:t>
            </a:r>
            <a:endParaRPr lang="en-US" altLang="zh-CN" sz="1600"/>
          </a:p>
          <a:p>
            <a:pPr algn="just"/>
            <a:r>
              <a:rPr lang="en-US" altLang="zh-CN" sz="1600"/>
              <a:t>The dataset is usually stored in CSV format and is loaded using the Pandas library.</a:t>
            </a:r>
            <a:endParaRPr lang="en-US" altLang="zh-CN" sz="1600"/>
          </a:p>
          <a:p>
            <a:pPr algn="just"/>
            <a:endParaRPr lang="en-US" altLang="zh-CN" sz="1600"/>
          </a:p>
          <a:p>
            <a:pPr algn="just">
              <a:spcAft>
                <a:spcPct val="60000"/>
              </a:spcAft>
            </a:pPr>
            <a:r>
              <a:rPr lang="en-US" altLang="zh-CN" sz="1600" b="1"/>
              <a:t>Example Code</a:t>
            </a:r>
            <a:endParaRPr lang="en-US" altLang="zh-CN" sz="1600" b="1"/>
          </a:p>
          <a:p>
            <a:pPr algn="just"/>
            <a:r>
              <a:rPr lang="en-US" altLang="zh-CN" sz="1600"/>
              <a:t>importpandasaspd</a:t>
            </a:r>
            <a:endParaRPr lang="en-US" altLang="zh-CN" sz="1600"/>
          </a:p>
          <a:p>
            <a:pPr algn="just"/>
            <a:r>
              <a:rPr lang="en-US" altLang="zh-CN" sz="1600"/>
              <a:t>data=pd.read_csv("stroke_dataset.csv")</a:t>
            </a:r>
            <a:endParaRPr lang="en-US" altLang="zh-CN" sz="1600"/>
          </a:p>
          <a:p>
            <a:pPr algn="just"/>
            <a:r>
              <a:rPr lang="en-US" altLang="zh-CN" sz="1600"/>
              <a:t>print(data.head())</a:t>
            </a:r>
            <a:endParaRPr lang="en-US" altLang="zh-CN" sz="1600"/>
          </a:p>
          <a:p>
            <a:pPr algn="just"/>
            <a:r>
              <a:rPr lang="en-US" altLang="zh-CN" sz="1600"/>
              <a:t>This code loads the dataset and displays the first few rows.</a:t>
            </a:r>
            <a:endParaRPr lang="en-US" altLang="zh-CN" sz="1600"/>
          </a:p>
        </p:txBody>
      </p:sp>
      <p:sp>
        <p:nvSpPr>
          <p:cNvPr id="3" name="Text Box 2"/>
          <p:cNvSpPr txBox="1"/>
          <p:nvPr/>
        </p:nvSpPr>
        <p:spPr>
          <a:xfrm>
            <a:off x="1151255" y="5562600"/>
            <a:ext cx="5534660" cy="3139440"/>
          </a:xfrm>
          <a:prstGeom prst="rect">
            <a:avLst/>
          </a:prstGeom>
        </p:spPr>
        <p:txBody>
          <a:bodyPr>
            <a:noAutofit/>
          </a:bodyPr>
          <a:p>
            <a:pPr>
              <a:spcAft>
                <a:spcPct val="60000"/>
              </a:spcAft>
            </a:pPr>
            <a:r>
              <a:rPr lang="en-US" altLang="zh-CN" sz="1800" b="1"/>
              <a:t>4.4.2 Data Preprocessing Module</a:t>
            </a:r>
            <a:endParaRPr lang="en-US" altLang="zh-CN" sz="2300" b="1"/>
          </a:p>
          <a:p>
            <a:pPr algn="just"/>
            <a:r>
              <a:rPr lang="en-US" altLang="zh-CN" sz="1600"/>
              <a:t>Medical datasets often contain missing values and categorical variables. This module cleans the dataset and prepares it for machine learning algorithms.</a:t>
            </a:r>
            <a:endParaRPr lang="en-US" altLang="zh-CN" sz="1600"/>
          </a:p>
          <a:p>
            <a:pPr algn="just"/>
            <a:endParaRPr lang="en-US" altLang="zh-CN" sz="1600"/>
          </a:p>
          <a:p>
            <a:pPr algn="just"/>
            <a:r>
              <a:rPr lang="en-US" altLang="zh-CN" sz="1600"/>
              <a:t>Steps involved in preprocessing:</a:t>
            </a:r>
            <a:endParaRPr lang="en-US" altLang="zh-CN" sz="1600"/>
          </a:p>
          <a:p>
            <a:pPr algn="just"/>
            <a:endParaRPr lang="en-US" altLang="zh-CN" sz="1600"/>
          </a:p>
          <a:p>
            <a:pPr algn="just"/>
            <a:r>
              <a:rPr lang="en-US" altLang="zh-CN" sz="1600"/>
              <a:t>• Handling missing values</a:t>
            </a:r>
            <a:endParaRPr lang="en-US" altLang="zh-CN" sz="1600"/>
          </a:p>
          <a:p>
            <a:pPr algn="just"/>
            <a:r>
              <a:rPr lang="en-US" altLang="zh-CN" sz="1600"/>
              <a:t> • Encoding categorical variables</a:t>
            </a:r>
            <a:endParaRPr lang="en-US" altLang="zh-CN" sz="1600"/>
          </a:p>
          <a:p>
            <a:pPr algn="just"/>
            <a:r>
              <a:rPr lang="en-US" altLang="zh-CN" sz="1600"/>
              <a:t> • Removing unnecessary columns</a:t>
            </a:r>
            <a:endParaRPr lang="en-US" altLang="zh-CN" sz="1600"/>
          </a:p>
          <a:p>
            <a:pPr algn="just"/>
            <a:r>
              <a:rPr lang="en-US" altLang="zh-CN" sz="1600"/>
              <a:t> • Normalizing data</a:t>
            </a:r>
            <a:endParaRPr lang="en-US" altLang="zh-CN" sz="1600"/>
          </a:p>
        </p:txBody>
      </p:sp>
      <p:sp>
        <p:nvSpPr>
          <p:cNvPr id="4" name="Text Box 3"/>
          <p:cNvSpPr txBox="1"/>
          <p:nvPr/>
        </p:nvSpPr>
        <p:spPr>
          <a:xfrm>
            <a:off x="1151255" y="8651240"/>
            <a:ext cx="5535295" cy="1318260"/>
          </a:xfrm>
          <a:prstGeom prst="rect">
            <a:avLst/>
          </a:prstGeom>
        </p:spPr>
        <p:txBody>
          <a:bodyPr>
            <a:noAutofit/>
          </a:bodyPr>
          <a:p>
            <a:pPr>
              <a:spcAft>
                <a:spcPct val="60000"/>
              </a:spcAft>
            </a:pPr>
            <a:r>
              <a:rPr lang="en-US" altLang="zh-CN" sz="1800" b="1"/>
              <a:t>Example Code</a:t>
            </a:r>
            <a:endParaRPr lang="en-US" altLang="zh-CN" sz="1800" b="1"/>
          </a:p>
          <a:p>
            <a:r>
              <a:rPr lang="en-US" altLang="zh-CN" sz="1600"/>
              <a:t>data=data.drop("id", axis=1)</a:t>
            </a:r>
            <a:endParaRPr lang="en-US" altLang="zh-CN" sz="1600"/>
          </a:p>
          <a:p>
            <a:r>
              <a:rPr lang="en-US" altLang="zh-CN" sz="1600"/>
              <a:t>data=data.dropna()</a:t>
            </a: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21080" y="761365"/>
            <a:ext cx="5664835" cy="5791200"/>
          </a:xfrm>
          <a:prstGeom prst="rect">
            <a:avLst/>
          </a:prstGeom>
        </p:spPr>
        <p:txBody>
          <a:bodyPr>
            <a:noAutofit/>
          </a:bodyPr>
          <a:p>
            <a:r>
              <a:rPr lang="en-US" altLang="zh-CN" sz="2000" b="1"/>
              <a:t>Categorical variables are converted to numerical values</a:t>
            </a:r>
            <a:endParaRPr lang="en-US" altLang="zh-CN" sz="2000"/>
          </a:p>
          <a:p>
            <a:r>
              <a:rPr lang="en-US" altLang="zh-CN" sz="1600"/>
              <a:t>.</a:t>
            </a:r>
            <a:endParaRPr lang="en-US" altLang="zh-CN" sz="1600"/>
          </a:p>
          <a:p>
            <a:endParaRPr lang="en-US" altLang="zh-CN" sz="1600"/>
          </a:p>
          <a:p>
            <a:endParaRPr lang="en-US" altLang="zh-CN" sz="1600"/>
          </a:p>
          <a:p>
            <a:r>
              <a:rPr lang="en-US" altLang="zh-CN" sz="1800"/>
              <a:t>fromsklearn.preprocessingimportLabelEncoder</a:t>
            </a:r>
            <a:endParaRPr lang="en-US" altLang="zh-CN" sz="1800"/>
          </a:p>
          <a:p>
            <a:endParaRPr lang="en-US" altLang="zh-CN" sz="1800"/>
          </a:p>
          <a:p>
            <a:r>
              <a:rPr lang="en-US" altLang="zh-CN" sz="1800"/>
              <a:t>le=LabelEncoder()</a:t>
            </a:r>
            <a:endParaRPr lang="en-US" altLang="zh-CN" sz="1800"/>
          </a:p>
          <a:p>
            <a:endParaRPr lang="en-US" altLang="zh-CN" sz="1800"/>
          </a:p>
          <a:p>
            <a:r>
              <a:rPr lang="en-US" altLang="zh-CN" sz="1800"/>
              <a:t>data["gender"] =le.fit_transform(data["gender"])</a:t>
            </a:r>
            <a:endParaRPr lang="en-US" altLang="zh-CN" sz="1800"/>
          </a:p>
          <a:p>
            <a:endParaRPr lang="en-US" altLang="zh-CN" sz="1800"/>
          </a:p>
          <a:p>
            <a:r>
              <a:rPr lang="en-US" altLang="zh-CN" sz="1800"/>
              <a:t>data["ever_married"] =le.fit_transform(data["ever_married"])</a:t>
            </a:r>
            <a:endParaRPr lang="en-US" altLang="zh-CN" sz="1800"/>
          </a:p>
          <a:p>
            <a:endParaRPr lang="en-US" altLang="zh-CN" sz="1800"/>
          </a:p>
          <a:p>
            <a:r>
              <a:rPr lang="en-US" altLang="zh-CN" sz="1800"/>
              <a:t>data["work_type"] =le.fit_transform(data["work_type"])</a:t>
            </a:r>
            <a:endParaRPr lang="en-US" altLang="zh-CN" sz="1800"/>
          </a:p>
          <a:p>
            <a:endParaRPr lang="en-US" altLang="zh-CN" sz="1800"/>
          </a:p>
          <a:p>
            <a:r>
              <a:rPr lang="en-US" altLang="zh-CN" sz="1800"/>
              <a:t>data["Residence_type"] =le.fit_transform(data["Residence_type"])</a:t>
            </a:r>
            <a:endParaRPr lang="en-US" altLang="zh-CN" sz="1800"/>
          </a:p>
          <a:p>
            <a:endParaRPr lang="en-US" altLang="zh-CN" sz="1800"/>
          </a:p>
          <a:p>
            <a:r>
              <a:rPr lang="en-US" altLang="zh-CN" sz="1800"/>
              <a:t>data["smoking_status"] =le.fit_transform(data["smoking_status"])</a:t>
            </a:r>
            <a:endParaRPr lang="en-US" altLang="zh-CN" sz="18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50620" y="852170"/>
            <a:ext cx="5396865" cy="6151880"/>
          </a:xfrm>
          <a:prstGeom prst="rect">
            <a:avLst/>
          </a:prstGeom>
        </p:spPr>
        <p:txBody>
          <a:bodyPr>
            <a:noAutofit/>
          </a:bodyPr>
          <a:p>
            <a:pPr>
              <a:spcAft>
                <a:spcPct val="60000"/>
              </a:spcAft>
            </a:pPr>
            <a:r>
              <a:rPr lang="en-US" altLang="zh-CN" sz="1800" b="1"/>
              <a:t>4.4.3 Feature Selection Module</a:t>
            </a:r>
            <a:endParaRPr lang="en-US" altLang="zh-CN" sz="2800" b="1"/>
          </a:p>
          <a:p>
            <a:pPr algn="just"/>
            <a:r>
              <a:rPr lang="en-US" altLang="zh-CN" sz="1600"/>
              <a:t>Feature selection identifies the most relevant variables that influence stroke prediction.</a:t>
            </a:r>
            <a:endParaRPr lang="en-US" altLang="zh-CN" sz="1600"/>
          </a:p>
          <a:p>
            <a:pPr algn="just"/>
            <a:endParaRPr lang="en-US" altLang="zh-CN" sz="1600"/>
          </a:p>
          <a:p>
            <a:pPr algn="just"/>
            <a:r>
              <a:rPr lang="en-US" altLang="zh-CN" sz="1600"/>
              <a:t>Important features include:</a:t>
            </a:r>
            <a:endParaRPr lang="en-US" altLang="zh-CN" sz="1600"/>
          </a:p>
          <a:p>
            <a:pPr algn="just"/>
            <a:r>
              <a:rPr lang="en-US" altLang="zh-CN" sz="1600"/>
              <a:t>• Age</a:t>
            </a:r>
            <a:endParaRPr lang="en-US" altLang="zh-CN" sz="1600"/>
          </a:p>
          <a:p>
            <a:pPr algn="just"/>
            <a:r>
              <a:rPr lang="en-US" altLang="zh-CN" sz="1600"/>
              <a:t> • Hypertension</a:t>
            </a:r>
            <a:endParaRPr lang="en-US" altLang="zh-CN" sz="1600"/>
          </a:p>
          <a:p>
            <a:pPr algn="just"/>
            <a:r>
              <a:rPr lang="en-US" altLang="zh-CN" sz="1600"/>
              <a:t> • Heart disease</a:t>
            </a:r>
            <a:endParaRPr lang="en-US" altLang="zh-CN" sz="1600"/>
          </a:p>
          <a:p>
            <a:pPr algn="just"/>
            <a:r>
              <a:rPr lang="en-US" altLang="zh-CN" sz="1600"/>
              <a:t> • BMI</a:t>
            </a:r>
            <a:endParaRPr lang="en-US" altLang="zh-CN" sz="1600"/>
          </a:p>
          <a:p>
            <a:pPr algn="just"/>
            <a:r>
              <a:rPr lang="en-US" altLang="zh-CN" sz="1600"/>
              <a:t> • Average glucose level</a:t>
            </a:r>
            <a:endParaRPr lang="en-US" altLang="zh-CN" sz="1600"/>
          </a:p>
          <a:p>
            <a:pPr algn="just"/>
            <a:r>
              <a:rPr lang="en-US" altLang="zh-CN" sz="1600"/>
              <a:t> • Smoking status</a:t>
            </a:r>
            <a:endParaRPr lang="en-US" altLang="zh-CN" sz="1600"/>
          </a:p>
          <a:p>
            <a:pPr algn="just"/>
            <a:endParaRPr lang="en-US" altLang="zh-CN" sz="1600"/>
          </a:p>
          <a:p>
            <a:pPr algn="just"/>
            <a:r>
              <a:rPr lang="en-US" altLang="zh-CN" sz="1600"/>
              <a:t>Selecting important features improves prediction accuracy and reduces computation time.</a:t>
            </a:r>
            <a:endParaRPr lang="en-US" altLang="zh-CN" sz="1600"/>
          </a:p>
        </p:txBody>
      </p:sp>
      <p:sp>
        <p:nvSpPr>
          <p:cNvPr id="3" name="Text Box 2"/>
          <p:cNvSpPr txBox="1"/>
          <p:nvPr/>
        </p:nvSpPr>
        <p:spPr>
          <a:xfrm>
            <a:off x="1144905" y="4667250"/>
            <a:ext cx="5339715" cy="1661160"/>
          </a:xfrm>
          <a:prstGeom prst="rect">
            <a:avLst/>
          </a:prstGeom>
        </p:spPr>
        <p:txBody>
          <a:bodyPr>
            <a:noAutofit/>
          </a:bodyPr>
          <a:p>
            <a:pPr>
              <a:spcAft>
                <a:spcPct val="60000"/>
              </a:spcAft>
            </a:pPr>
            <a:r>
              <a:rPr lang="en-US" altLang="zh-CN" sz="1800" b="1"/>
              <a:t>4.4.4 Model Training Module</a:t>
            </a:r>
            <a:endParaRPr lang="en-US" altLang="zh-CN" sz="2800" b="1"/>
          </a:p>
          <a:p>
            <a:pPr algn="just"/>
            <a:r>
              <a:rPr lang="en-US" altLang="zh-CN" sz="1600"/>
              <a:t>In this module, machine learning models are trained using the dataset.</a:t>
            </a:r>
            <a:endParaRPr lang="en-US" altLang="zh-CN" sz="1600"/>
          </a:p>
          <a:p>
            <a:pPr algn="just"/>
            <a:r>
              <a:rPr lang="en-US" altLang="zh-CN" sz="1600"/>
              <a:t>The dataset is divided into training and testing sets.</a:t>
            </a:r>
            <a:endParaRPr lang="en-US" altLang="zh-CN" sz="1600"/>
          </a:p>
        </p:txBody>
      </p:sp>
      <p:sp>
        <p:nvSpPr>
          <p:cNvPr id="4" name="Text Box 3"/>
          <p:cNvSpPr txBox="1"/>
          <p:nvPr/>
        </p:nvSpPr>
        <p:spPr>
          <a:xfrm>
            <a:off x="1150620" y="6201410"/>
            <a:ext cx="5334000" cy="2800985"/>
          </a:xfrm>
          <a:prstGeom prst="rect">
            <a:avLst/>
          </a:prstGeom>
        </p:spPr>
        <p:txBody>
          <a:bodyPr>
            <a:noAutofit/>
          </a:bodyPr>
          <a:p>
            <a:pPr>
              <a:spcAft>
                <a:spcPct val="60000"/>
              </a:spcAft>
            </a:pPr>
            <a:r>
              <a:rPr lang="en-US" altLang="zh-CN" sz="2200" b="1"/>
              <a:t>Example Code</a:t>
            </a:r>
            <a:endParaRPr lang="en-US" altLang="zh-CN" sz="2200" b="1"/>
          </a:p>
          <a:p>
            <a:r>
              <a:rPr lang="en-US" altLang="zh-CN" sz="1600"/>
              <a:t>fromsklearn.model_selectionimporttrain_test_split</a:t>
            </a:r>
            <a:endParaRPr lang="en-US" altLang="zh-CN" sz="1600"/>
          </a:p>
          <a:p>
            <a:endParaRPr lang="en-US" altLang="zh-CN" sz="1600"/>
          </a:p>
          <a:p>
            <a:r>
              <a:rPr lang="en-US" altLang="zh-CN" sz="1600"/>
              <a:t>X=data.drop("stroke", axis=1)</a:t>
            </a:r>
            <a:endParaRPr lang="en-US" altLang="zh-CN" sz="1600"/>
          </a:p>
          <a:p>
            <a:r>
              <a:rPr lang="en-US" altLang="zh-CN" sz="1600"/>
              <a:t>y=data["stroke"]</a:t>
            </a:r>
            <a:endParaRPr lang="en-US" altLang="zh-CN" sz="1600"/>
          </a:p>
          <a:p>
            <a:r>
              <a:rPr lang="en-US" altLang="zh-CN" sz="1600"/>
              <a:t>X_train, X_test, y_train, y_test=train_test_split(X, y, test_size=0.2)</a:t>
            </a:r>
            <a:endParaRPr lang="en-US" altLang="zh-CN" sz="1600"/>
          </a:p>
          <a:p>
            <a:endParaRPr lang="en-US" altLang="zh-CN" sz="1600"/>
          </a:p>
          <a:p>
            <a:endParaRPr lang="en-US" altLang="zh-CN" sz="1600"/>
          </a:p>
          <a:p>
            <a:r>
              <a:rPr lang="en-US" altLang="zh-CN" sz="1600"/>
              <a:t>The model learns patterns from the training data.</a:t>
            </a: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30300" y="812165"/>
            <a:ext cx="5583555" cy="6387465"/>
          </a:xfrm>
          <a:prstGeom prst="rect">
            <a:avLst/>
          </a:prstGeom>
        </p:spPr>
        <p:txBody>
          <a:bodyPr>
            <a:noAutofit/>
          </a:bodyPr>
          <a:p>
            <a:pPr>
              <a:spcAft>
                <a:spcPct val="60000"/>
              </a:spcAft>
            </a:pPr>
            <a:r>
              <a:rPr lang="en-US" altLang="zh-CN" sz="1600" b="1"/>
              <a:t>4.4.5 Machine Learning Model Module</a:t>
            </a:r>
            <a:endParaRPr lang="en-US" altLang="zh-CN" sz="1600" b="1"/>
          </a:p>
          <a:p>
            <a:pPr algn="just"/>
            <a:r>
              <a:rPr lang="en-US" altLang="zh-CN" sz="1600"/>
              <a:t>Several machine learning algorithms are applied to improve prediction accuracy.</a:t>
            </a:r>
            <a:endParaRPr lang="en-US" altLang="zh-CN" sz="1600"/>
          </a:p>
          <a:p>
            <a:pPr algn="just"/>
            <a:endParaRPr lang="en-US" altLang="zh-CN" sz="1600"/>
          </a:p>
          <a:p>
            <a:pPr>
              <a:spcAft>
                <a:spcPct val="60000"/>
              </a:spcAft>
            </a:pPr>
            <a:r>
              <a:rPr lang="en-US" altLang="zh-CN" sz="1600" b="1"/>
              <a:t>Logistic Regression</a:t>
            </a:r>
            <a:endParaRPr lang="en-US" altLang="zh-CN" sz="2200" b="1"/>
          </a:p>
          <a:p>
            <a:r>
              <a:rPr lang="en-US" altLang="zh-CN" sz="1600"/>
              <a:t>fromsklearn.linear_modelimportLogisticRegression</a:t>
            </a:r>
            <a:endParaRPr lang="en-US" altLang="zh-CN" sz="1600"/>
          </a:p>
          <a:p>
            <a:r>
              <a:rPr lang="en-US" altLang="zh-CN" sz="1600"/>
              <a:t>model=LogisticRegression()</a:t>
            </a:r>
            <a:endParaRPr lang="en-US" altLang="zh-CN" sz="1600"/>
          </a:p>
          <a:p>
            <a:r>
              <a:rPr lang="en-US" altLang="zh-CN" sz="1600"/>
              <a:t>model.fit(X_train, y_train)</a:t>
            </a:r>
            <a:endParaRPr lang="en-US" altLang="zh-CN" sz="1600"/>
          </a:p>
          <a:p>
            <a:endParaRPr lang="en-US" altLang="zh-CN" sz="1600"/>
          </a:p>
          <a:p>
            <a:pPr>
              <a:spcAft>
                <a:spcPct val="60000"/>
              </a:spcAft>
            </a:pPr>
            <a:r>
              <a:rPr lang="en-US" altLang="zh-CN" sz="1600" b="1"/>
              <a:t>Decision Tree</a:t>
            </a:r>
            <a:endParaRPr lang="en-US" altLang="zh-CN" sz="1600" b="1"/>
          </a:p>
          <a:p>
            <a:r>
              <a:rPr lang="en-US" altLang="zh-CN" sz="1600"/>
              <a:t>fromsklearn.treeimportDecisionTreeClassifier</a:t>
            </a:r>
            <a:endParaRPr lang="en-US" altLang="zh-CN" sz="1600"/>
          </a:p>
          <a:p>
            <a:r>
              <a:rPr lang="en-US" altLang="zh-CN" sz="1600"/>
              <a:t>dt=DecisionTreeClassifier()</a:t>
            </a:r>
            <a:endParaRPr lang="en-US" altLang="zh-CN" sz="1600"/>
          </a:p>
          <a:p>
            <a:r>
              <a:rPr lang="en-US" altLang="zh-CN" sz="1600"/>
              <a:t>dt.fit(X_train, y_train)</a:t>
            </a:r>
            <a:endParaRPr lang="en-US" altLang="zh-CN" sz="1600"/>
          </a:p>
        </p:txBody>
      </p:sp>
      <p:sp>
        <p:nvSpPr>
          <p:cNvPr id="3" name="Text Box 2"/>
          <p:cNvSpPr txBox="1"/>
          <p:nvPr/>
        </p:nvSpPr>
        <p:spPr>
          <a:xfrm>
            <a:off x="1130300" y="4569460"/>
            <a:ext cx="5583555" cy="1925320"/>
          </a:xfrm>
          <a:prstGeom prst="rect">
            <a:avLst/>
          </a:prstGeom>
        </p:spPr>
        <p:txBody>
          <a:bodyPr>
            <a:noAutofit/>
          </a:bodyPr>
          <a:p>
            <a:pPr>
              <a:spcAft>
                <a:spcPct val="60000"/>
              </a:spcAft>
            </a:pPr>
            <a:r>
              <a:rPr lang="en-US" altLang="zh-CN" sz="1600" b="1"/>
              <a:t>Random Forest</a:t>
            </a:r>
            <a:endParaRPr lang="en-US" altLang="zh-CN" sz="2200" b="1"/>
          </a:p>
          <a:p>
            <a:r>
              <a:rPr lang="en-US" altLang="zh-CN" sz="1600"/>
              <a:t>fromsklearn.ensembleimportRandomForestClassifier</a:t>
            </a:r>
            <a:endParaRPr lang="en-US" altLang="zh-CN" sz="1600"/>
          </a:p>
          <a:p>
            <a:r>
              <a:rPr lang="en-US" altLang="zh-CN" sz="1600"/>
              <a:t>rf=RandomForestClassifier()</a:t>
            </a:r>
            <a:endParaRPr lang="en-US" altLang="zh-CN" sz="1600"/>
          </a:p>
          <a:p>
            <a:r>
              <a:rPr lang="en-US" altLang="zh-CN" sz="1600"/>
              <a:t>rf.fit(X_train, y_train)</a:t>
            </a:r>
            <a:endParaRPr lang="en-US" altLang="zh-CN" sz="1600"/>
          </a:p>
          <a:p>
            <a:endParaRPr lang="en-US" altLang="zh-CN" sz="1600"/>
          </a:p>
          <a:p>
            <a:r>
              <a:rPr lang="en-US" altLang="zh-CN" sz="1600"/>
              <a:t>Random Forest usually gives higher accuracy compared to other algorithms.</a:t>
            </a:r>
            <a:endParaRPr lang="en-US" altLang="zh-CN" sz="1600"/>
          </a:p>
        </p:txBody>
      </p:sp>
      <p:sp>
        <p:nvSpPr>
          <p:cNvPr id="4" name="Text Box 3"/>
          <p:cNvSpPr txBox="1"/>
          <p:nvPr/>
        </p:nvSpPr>
        <p:spPr>
          <a:xfrm>
            <a:off x="1130300" y="6839585"/>
            <a:ext cx="5584190" cy="2970530"/>
          </a:xfrm>
          <a:prstGeom prst="rect">
            <a:avLst/>
          </a:prstGeom>
        </p:spPr>
        <p:txBody>
          <a:bodyPr>
            <a:noAutofit/>
          </a:bodyPr>
          <a:p>
            <a:pPr>
              <a:spcAft>
                <a:spcPct val="60000"/>
              </a:spcAft>
            </a:pPr>
            <a:r>
              <a:rPr lang="en-US" altLang="zh-CN" sz="1800" b="1"/>
              <a:t>4.4.6 Model Evaluation Module</a:t>
            </a:r>
            <a:endParaRPr lang="en-US" altLang="zh-CN" sz="2800" b="1"/>
          </a:p>
          <a:p>
            <a:r>
              <a:rPr lang="en-US" altLang="zh-CN" sz="1600"/>
              <a:t>After training the models, their performance is evaluated using testing data.</a:t>
            </a:r>
            <a:endParaRPr lang="en-US" altLang="zh-CN" sz="1600"/>
          </a:p>
          <a:p>
            <a:pPr>
              <a:spcAft>
                <a:spcPct val="60000"/>
              </a:spcAft>
            </a:pPr>
            <a:r>
              <a:rPr lang="en-US" altLang="zh-CN" sz="1600" b="1"/>
              <a:t>Example Code</a:t>
            </a:r>
            <a:endParaRPr lang="en-US" altLang="zh-CN" sz="1600" b="1"/>
          </a:p>
          <a:p>
            <a:r>
              <a:rPr lang="en-US" altLang="zh-CN" sz="1600"/>
              <a:t>fromsklearn.metricsimportaccuracy_score</a:t>
            </a:r>
            <a:endParaRPr lang="en-US" altLang="zh-CN" sz="1600"/>
          </a:p>
          <a:p>
            <a:r>
              <a:rPr lang="en-US" altLang="zh-CN" sz="1600"/>
              <a:t>y_pred=rf.predict(X_test)</a:t>
            </a:r>
            <a:endParaRPr lang="en-US" altLang="zh-CN" sz="1600"/>
          </a:p>
          <a:p>
            <a:r>
              <a:rPr lang="en-US" altLang="zh-CN" sz="1600"/>
              <a:t>accuracy=accuracy_score(y_test, y_pred)</a:t>
            </a:r>
            <a:endParaRPr lang="en-US" altLang="zh-CN" sz="1600"/>
          </a:p>
          <a:p>
            <a:r>
              <a:rPr lang="en-US" altLang="zh-CN" sz="1600"/>
              <a:t>print("Model Accuracy:", accuracy)</a:t>
            </a: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55700" y="619760"/>
            <a:ext cx="5557520" cy="1908810"/>
          </a:xfrm>
          <a:prstGeom prst="rect">
            <a:avLst/>
          </a:prstGeom>
        </p:spPr>
        <p:txBody>
          <a:bodyPr>
            <a:noAutofit/>
          </a:bodyPr>
          <a:p>
            <a:r>
              <a:rPr lang="en-US" altLang="zh-CN" sz="1600"/>
              <a:t>Evaluation metrics include:</a:t>
            </a:r>
            <a:endParaRPr lang="en-US" altLang="zh-CN" sz="1600"/>
          </a:p>
          <a:p>
            <a:r>
              <a:rPr lang="en-US" altLang="zh-CN" sz="1600"/>
              <a:t>• Accuracy</a:t>
            </a:r>
            <a:endParaRPr lang="en-US" altLang="zh-CN" sz="1600"/>
          </a:p>
          <a:p>
            <a:r>
              <a:rPr lang="en-US" altLang="zh-CN" sz="1600"/>
              <a:t> • Precision</a:t>
            </a:r>
            <a:endParaRPr lang="en-US" altLang="zh-CN" sz="1600"/>
          </a:p>
          <a:p>
            <a:r>
              <a:rPr lang="en-US" altLang="zh-CN" sz="1600"/>
              <a:t> • Recall</a:t>
            </a:r>
            <a:endParaRPr lang="en-US" altLang="zh-CN" sz="1600"/>
          </a:p>
          <a:p>
            <a:r>
              <a:rPr lang="en-US" altLang="zh-CN" sz="1600"/>
              <a:t> • F1 Score</a:t>
            </a:r>
            <a:endParaRPr lang="en-US" altLang="zh-CN" sz="1600"/>
          </a:p>
          <a:p>
            <a:r>
              <a:rPr lang="en-US" altLang="zh-CN" sz="1600"/>
              <a:t> • Confusion Matrix</a:t>
            </a:r>
            <a:endParaRPr lang="en-US" altLang="zh-CN" sz="1600"/>
          </a:p>
        </p:txBody>
      </p:sp>
      <p:sp>
        <p:nvSpPr>
          <p:cNvPr id="3" name="Text Box 2"/>
          <p:cNvSpPr txBox="1"/>
          <p:nvPr/>
        </p:nvSpPr>
        <p:spPr>
          <a:xfrm>
            <a:off x="1142365" y="2528570"/>
            <a:ext cx="5570855" cy="4173220"/>
          </a:xfrm>
          <a:prstGeom prst="rect">
            <a:avLst/>
          </a:prstGeom>
        </p:spPr>
        <p:txBody>
          <a:bodyPr>
            <a:noAutofit/>
          </a:bodyPr>
          <a:p>
            <a:pPr>
              <a:spcAft>
                <a:spcPct val="60000"/>
              </a:spcAft>
            </a:pPr>
            <a:r>
              <a:rPr lang="en-US" altLang="zh-CN" sz="1800" b="1"/>
              <a:t>4.4.7 Prediction Module</a:t>
            </a:r>
            <a:endParaRPr lang="en-US" altLang="zh-CN" sz="2800" b="1"/>
          </a:p>
          <a:p>
            <a:r>
              <a:rPr lang="en-US" altLang="zh-CN" sz="1600"/>
              <a:t>This module allows users to input patient data and receive stroke prediction results.</a:t>
            </a:r>
            <a:endParaRPr lang="en-US" altLang="zh-CN" sz="1600"/>
          </a:p>
          <a:p>
            <a:pPr>
              <a:spcAft>
                <a:spcPct val="60000"/>
              </a:spcAft>
            </a:pPr>
            <a:r>
              <a:rPr lang="en-US" altLang="zh-CN" sz="1600" b="1"/>
              <a:t>Example Code</a:t>
            </a:r>
            <a:endParaRPr lang="en-US" altLang="zh-CN" sz="1600" b="1"/>
          </a:p>
          <a:p>
            <a:r>
              <a:rPr lang="en-US" altLang="zh-CN" sz="1600"/>
              <a:t>input_data= [[1, 65, 1, 0, 1, 2, 1, 120.5, 32.1, 2]]</a:t>
            </a:r>
            <a:endParaRPr lang="en-US" altLang="zh-CN" sz="1600"/>
          </a:p>
          <a:p>
            <a:r>
              <a:rPr lang="en-US" altLang="zh-CN" sz="1600"/>
              <a:t>prediction=rf.predict(input_data)</a:t>
            </a:r>
            <a:endParaRPr lang="en-US" altLang="zh-CN" sz="1600"/>
          </a:p>
          <a:p>
            <a:r>
              <a:rPr lang="en-US" altLang="zh-CN" sz="1600"/>
              <a:t>ifprediction==1:</a:t>
            </a:r>
            <a:endParaRPr lang="en-US" altLang="zh-CN" sz="1600"/>
          </a:p>
          <a:p>
            <a:r>
              <a:rPr lang="en-US" altLang="zh-CN" sz="1600"/>
              <a:t>    print("High Risk of Stroke")</a:t>
            </a:r>
            <a:endParaRPr lang="en-US" altLang="zh-CN" sz="1600"/>
          </a:p>
          <a:p>
            <a:r>
              <a:rPr lang="en-US" altLang="zh-CN" sz="1600"/>
              <a:t>else:</a:t>
            </a:r>
            <a:endParaRPr lang="en-US" altLang="zh-CN" sz="1600"/>
          </a:p>
          <a:p>
            <a:r>
              <a:rPr lang="en-US" altLang="zh-CN" sz="1600"/>
              <a:t>    print("Low Risk of Stroke")</a:t>
            </a:r>
            <a:endParaRPr lang="en-US" altLang="zh-CN" sz="1600"/>
          </a:p>
        </p:txBody>
      </p:sp>
      <p:sp>
        <p:nvSpPr>
          <p:cNvPr id="4" name="Text Box 3"/>
          <p:cNvSpPr txBox="1"/>
          <p:nvPr/>
        </p:nvSpPr>
        <p:spPr>
          <a:xfrm>
            <a:off x="1155700" y="5815330"/>
            <a:ext cx="5557520" cy="3096260"/>
          </a:xfrm>
          <a:prstGeom prst="rect">
            <a:avLst/>
          </a:prstGeom>
        </p:spPr>
        <p:txBody>
          <a:bodyPr>
            <a:noAutofit/>
          </a:bodyPr>
          <a:p>
            <a:pPr>
              <a:spcAft>
                <a:spcPct val="60000"/>
              </a:spcAft>
            </a:pPr>
            <a:r>
              <a:rPr lang="en-US" altLang="zh-CN" sz="1800" b="1"/>
              <a:t>4.4.8 Model Saving Module</a:t>
            </a:r>
            <a:endParaRPr lang="en-US" altLang="zh-CN" sz="1800" b="1"/>
          </a:p>
          <a:p>
            <a:r>
              <a:rPr lang="en-US" altLang="zh-CN" sz="1600"/>
              <a:t>After training the model, it is saved so that it can be used later without retraining.</a:t>
            </a:r>
            <a:endParaRPr lang="en-US" altLang="zh-CN" sz="1600"/>
          </a:p>
          <a:p>
            <a:endParaRPr lang="en-US" altLang="zh-CN" sz="1600"/>
          </a:p>
          <a:p>
            <a:r>
              <a:rPr lang="en-US" altLang="zh-CN" sz="1600"/>
              <a:t>importjoblib</a:t>
            </a:r>
            <a:endParaRPr lang="en-US" altLang="zh-CN" sz="1600"/>
          </a:p>
          <a:p>
            <a:r>
              <a:rPr lang="en-US" altLang="zh-CN" sz="1600"/>
              <a:t>joblib.dump(rf, "stroke_model.pkl")</a:t>
            </a:r>
            <a:endParaRPr lang="en-US" altLang="zh-CN" sz="1600"/>
          </a:p>
          <a:p>
            <a:endParaRPr lang="en-US" altLang="zh-CN" sz="1600"/>
          </a:p>
          <a:p>
            <a:r>
              <a:rPr lang="en-US" altLang="zh-CN" sz="1600"/>
              <a:t>This model file can be used in the web application.</a:t>
            </a: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22680" y="753745"/>
            <a:ext cx="5514975" cy="6619875"/>
          </a:xfrm>
          <a:prstGeom prst="rect">
            <a:avLst/>
          </a:prstGeom>
        </p:spPr>
        <p:txBody>
          <a:bodyPr>
            <a:noAutofit/>
          </a:bodyPr>
          <a:p>
            <a:pPr>
              <a:spcAft>
                <a:spcPct val="60000"/>
              </a:spcAft>
            </a:pPr>
            <a:r>
              <a:rPr lang="en-US" altLang="zh-CN" sz="1800" b="1"/>
              <a:t>4.5 User Interface Implementation</a:t>
            </a:r>
            <a:endParaRPr lang="en-US" altLang="zh-CN" sz="1800" b="1"/>
          </a:p>
          <a:p>
            <a:r>
              <a:rPr lang="en-US" altLang="zh-CN" sz="1600"/>
              <a:t>To make the system user-friendly, a simple web interface is developed using Streamlit or Flask.</a:t>
            </a:r>
            <a:endParaRPr lang="en-US" altLang="zh-CN" sz="1600"/>
          </a:p>
          <a:p>
            <a:r>
              <a:rPr lang="en-US" altLang="zh-CN" sz="1600"/>
              <a:t>The interface allows users to enter patient health details and receive prediction results.</a:t>
            </a:r>
            <a:endParaRPr lang="en-US" altLang="zh-CN" sz="1600"/>
          </a:p>
          <a:p>
            <a:endParaRPr lang="en-US" altLang="zh-CN" sz="1600"/>
          </a:p>
          <a:p>
            <a:r>
              <a:rPr lang="en-US" altLang="zh-CN" sz="1600"/>
              <a:t>Example input fields include:</a:t>
            </a:r>
            <a:endParaRPr lang="en-US" altLang="zh-CN" sz="1600"/>
          </a:p>
          <a:p>
            <a:r>
              <a:rPr lang="en-US" altLang="zh-CN" sz="1600"/>
              <a:t>• Age</a:t>
            </a:r>
            <a:endParaRPr lang="en-US" altLang="zh-CN" sz="1600"/>
          </a:p>
          <a:p>
            <a:r>
              <a:rPr lang="en-US" altLang="zh-CN" sz="1600"/>
              <a:t> • Gender</a:t>
            </a:r>
            <a:endParaRPr lang="en-US" altLang="zh-CN" sz="1600"/>
          </a:p>
          <a:p>
            <a:r>
              <a:rPr lang="en-US" altLang="zh-CN" sz="1600"/>
              <a:t> • Hypertension</a:t>
            </a:r>
            <a:endParaRPr lang="en-US" altLang="zh-CN" sz="1600"/>
          </a:p>
          <a:p>
            <a:r>
              <a:rPr lang="en-US" altLang="zh-CN" sz="1600"/>
              <a:t> • Heart Disease</a:t>
            </a:r>
            <a:endParaRPr lang="en-US" altLang="zh-CN" sz="1600"/>
          </a:p>
          <a:p>
            <a:r>
              <a:rPr lang="en-US" altLang="zh-CN" sz="1600"/>
              <a:t> • BMI</a:t>
            </a:r>
            <a:endParaRPr lang="en-US" altLang="zh-CN" sz="1600"/>
          </a:p>
          <a:p>
            <a:r>
              <a:rPr lang="en-US" altLang="zh-CN" sz="1600"/>
              <a:t> • Glucose Level</a:t>
            </a:r>
            <a:endParaRPr lang="en-US" altLang="zh-CN" sz="1600"/>
          </a:p>
          <a:p>
            <a:r>
              <a:rPr lang="en-US" altLang="zh-CN" sz="1600"/>
              <a:t> • Smoking Status</a:t>
            </a:r>
            <a:endParaRPr lang="en-US" altLang="zh-CN" sz="1600"/>
          </a:p>
          <a:p>
            <a:endParaRPr lang="en-US" altLang="zh-CN" sz="1600"/>
          </a:p>
          <a:p>
            <a:r>
              <a:rPr lang="en-US" altLang="zh-CN" sz="1600"/>
              <a:t>Once the user submits the information, the system processes the data and predicts the stroke risk.</a:t>
            </a:r>
            <a:endParaRPr lang="en-US" altLang="zh-CN" sz="1600"/>
          </a:p>
        </p:txBody>
      </p:sp>
      <p:pic>
        <p:nvPicPr>
          <p:cNvPr id="3" name="Picture 2"/>
          <p:cNvPicPr/>
          <p:nvPr/>
        </p:nvPicPr>
        <p:blipFill>
          <a:blip r:embed="rId1"/>
          <a:stretch>
            <a:fillRect/>
          </a:stretch>
        </p:blipFill>
        <p:spPr>
          <a:xfrm>
            <a:off x="1122680" y="5556250"/>
            <a:ext cx="5514340" cy="3623945"/>
          </a:xfrm>
          <a:prstGeom prst="rect">
            <a:avLst/>
          </a:prstGeom>
        </p:spPr>
      </p:pic>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64565" y="818515"/>
            <a:ext cx="5857875" cy="1931035"/>
          </a:xfrm>
          <a:prstGeom prst="rect">
            <a:avLst/>
          </a:prstGeom>
        </p:spPr>
        <p:txBody>
          <a:bodyPr>
            <a:noAutofit/>
          </a:bodyPr>
          <a:p>
            <a:pPr>
              <a:spcAft>
                <a:spcPct val="60000"/>
              </a:spcAft>
            </a:pPr>
            <a:r>
              <a:rPr lang="en-US" altLang="zh-CN" sz="1800" b="1"/>
              <a:t>4.6 System Screenshots</a:t>
            </a:r>
            <a:endParaRPr lang="en-US" altLang="zh-CN" sz="2800" b="1"/>
          </a:p>
          <a:p>
            <a:r>
              <a:rPr lang="en-US" altLang="zh-CN" sz="1600"/>
              <a:t>This section includes screenshots of the implemented system.</a:t>
            </a:r>
            <a:endParaRPr lang="en-US" altLang="zh-CN" sz="1600"/>
          </a:p>
          <a:p>
            <a:endParaRPr lang="en-US" altLang="zh-CN" sz="1600"/>
          </a:p>
          <a:p>
            <a:pPr>
              <a:spcAft>
                <a:spcPct val="60000"/>
              </a:spcAft>
            </a:pPr>
            <a:r>
              <a:rPr lang="en-US" altLang="zh-CN" sz="1800" b="1"/>
              <a:t>Screenshot 1: Dataset Loading</a:t>
            </a:r>
            <a:endParaRPr lang="en-US" altLang="zh-CN" sz="1800" b="1"/>
          </a:p>
        </p:txBody>
      </p:sp>
      <p:pic>
        <p:nvPicPr>
          <p:cNvPr id="3" name="Picture 2"/>
          <p:cNvPicPr/>
          <p:nvPr/>
        </p:nvPicPr>
        <p:blipFill>
          <a:blip r:embed="rId1"/>
          <a:stretch>
            <a:fillRect/>
          </a:stretch>
        </p:blipFill>
        <p:spPr>
          <a:xfrm>
            <a:off x="964565" y="2788920"/>
            <a:ext cx="5858510" cy="3063240"/>
          </a:xfrm>
          <a:prstGeom prst="rect">
            <a:avLst/>
          </a:prstGeom>
        </p:spPr>
      </p:pic>
      <p:sp>
        <p:nvSpPr>
          <p:cNvPr id="4" name="Text Box 3"/>
          <p:cNvSpPr txBox="1"/>
          <p:nvPr/>
        </p:nvSpPr>
        <p:spPr>
          <a:xfrm>
            <a:off x="991235" y="6324600"/>
            <a:ext cx="5857240" cy="1232535"/>
          </a:xfrm>
          <a:prstGeom prst="rect">
            <a:avLst/>
          </a:prstGeom>
        </p:spPr>
        <p:txBody>
          <a:bodyPr>
            <a:noAutofit/>
          </a:bodyPr>
          <a:p>
            <a:pPr>
              <a:spcAft>
                <a:spcPct val="60000"/>
              </a:spcAft>
            </a:pPr>
            <a:r>
              <a:rPr lang="en-US" altLang="zh-CN" sz="1800" b="1"/>
              <a:t>Screenshot 2: Model Training</a:t>
            </a:r>
            <a:endParaRPr lang="en-US" altLang="zh-CN" sz="2200" b="1"/>
          </a:p>
          <a:p>
            <a:r>
              <a:rPr lang="en-US" altLang="zh-CN" sz="1600"/>
              <a:t>Displays training and testing process of machine learning models.</a:t>
            </a:r>
            <a:endParaRPr lang="en-US" altLang="zh-CN" sz="1600"/>
          </a:p>
        </p:txBody>
      </p:sp>
      <p:pic>
        <p:nvPicPr>
          <p:cNvPr id="5" name="Picture 4"/>
          <p:cNvPicPr/>
          <p:nvPr/>
        </p:nvPicPr>
        <p:blipFill>
          <a:blip r:embed="rId2"/>
          <a:stretch>
            <a:fillRect/>
          </a:stretch>
        </p:blipFill>
        <p:spPr>
          <a:xfrm>
            <a:off x="964565" y="7546975"/>
            <a:ext cx="5895975" cy="2112010"/>
          </a:xfrm>
          <a:prstGeom prst="rect">
            <a:avLst/>
          </a:prstGeom>
        </p:spPr>
      </p:pic>
      <p:sp>
        <p:nvSpPr>
          <p:cNvPr id="6" name="Slide Number Placeholder 5"/>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56640" y="744220"/>
            <a:ext cx="5765165" cy="1376680"/>
          </a:xfrm>
          <a:prstGeom prst="rect">
            <a:avLst/>
          </a:prstGeom>
        </p:spPr>
        <p:txBody>
          <a:bodyPr>
            <a:noAutofit/>
          </a:bodyPr>
          <a:p>
            <a:pPr>
              <a:spcAft>
                <a:spcPct val="60000"/>
              </a:spcAft>
            </a:pPr>
            <a:r>
              <a:rPr lang="en-US" altLang="zh-CN" sz="1800" b="1"/>
              <a:t>Screenshot 3: Data Visualization</a:t>
            </a:r>
            <a:endParaRPr lang="en-US" altLang="zh-CN" sz="1800" b="1"/>
          </a:p>
          <a:p>
            <a:r>
              <a:rPr lang="en-US" altLang="zh-CN" sz="1600"/>
              <a:t>Graphs showing distribution of stroke cases based on age, BMI, and glucose level.</a:t>
            </a:r>
            <a:endParaRPr lang="en-US" altLang="zh-CN" sz="1600"/>
          </a:p>
        </p:txBody>
      </p:sp>
      <p:pic>
        <p:nvPicPr>
          <p:cNvPr id="3" name="Picture 2"/>
          <p:cNvPicPr/>
          <p:nvPr/>
        </p:nvPicPr>
        <p:blipFill>
          <a:blip r:embed="rId1"/>
          <a:stretch>
            <a:fillRect/>
          </a:stretch>
        </p:blipFill>
        <p:spPr>
          <a:xfrm>
            <a:off x="1056640" y="2333625"/>
            <a:ext cx="5764530" cy="6877050"/>
          </a:xfrm>
          <a:prstGeom prst="rect">
            <a:avLst/>
          </a:prstGeom>
        </p:spPr>
      </p:pic>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49960" y="837565"/>
            <a:ext cx="5963285" cy="1359535"/>
          </a:xfrm>
          <a:prstGeom prst="rect">
            <a:avLst/>
          </a:prstGeom>
        </p:spPr>
        <p:txBody>
          <a:bodyPr>
            <a:noAutofit/>
          </a:bodyPr>
          <a:p>
            <a:pPr>
              <a:spcAft>
                <a:spcPct val="60000"/>
              </a:spcAft>
            </a:pPr>
            <a:r>
              <a:rPr lang="en-US" altLang="zh-CN" sz="1800" b="1"/>
              <a:t>Screenshot 4: Prediction Interface</a:t>
            </a:r>
            <a:endParaRPr lang="en-US" altLang="zh-CN" sz="1800" b="1"/>
          </a:p>
          <a:p>
            <a:r>
              <a:rPr lang="en-US" altLang="zh-CN" sz="1600"/>
              <a:t>User interface where patient data is entered.</a:t>
            </a:r>
            <a:endParaRPr lang="en-US" altLang="zh-CN" sz="1600"/>
          </a:p>
        </p:txBody>
      </p:sp>
      <p:pic>
        <p:nvPicPr>
          <p:cNvPr id="3" name="Picture 2"/>
          <p:cNvPicPr/>
          <p:nvPr/>
        </p:nvPicPr>
        <p:blipFill>
          <a:blip r:embed="rId1"/>
          <a:stretch>
            <a:fillRect/>
          </a:stretch>
        </p:blipFill>
        <p:spPr>
          <a:xfrm>
            <a:off x="949960" y="1941195"/>
            <a:ext cx="5962650" cy="7023100"/>
          </a:xfrm>
          <a:prstGeom prst="rect">
            <a:avLst/>
          </a:prstGeom>
        </p:spPr>
      </p:pic>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87755" y="638810"/>
            <a:ext cx="5612130" cy="1420495"/>
          </a:xfrm>
          <a:prstGeom prst="rect">
            <a:avLst/>
          </a:prstGeom>
        </p:spPr>
        <p:txBody>
          <a:bodyPr>
            <a:noAutofit/>
          </a:bodyPr>
          <a:p>
            <a:pPr>
              <a:spcAft>
                <a:spcPct val="60000"/>
              </a:spcAft>
            </a:pPr>
            <a:r>
              <a:rPr lang="en-US" altLang="zh-CN" sz="1800" b="1"/>
              <a:t>Screenshot 5: Prediction Result</a:t>
            </a:r>
            <a:endParaRPr lang="en-US" altLang="zh-CN" sz="2200" b="1"/>
          </a:p>
          <a:p>
            <a:r>
              <a:rPr lang="en-US" altLang="zh-CN" sz="1600"/>
              <a:t>Final output showing stroke risk prediction.</a:t>
            </a:r>
            <a:endParaRPr lang="en-US" altLang="zh-CN" sz="1600"/>
          </a:p>
        </p:txBody>
      </p:sp>
      <p:pic>
        <p:nvPicPr>
          <p:cNvPr id="3" name="Picture 2"/>
          <p:cNvPicPr/>
          <p:nvPr/>
        </p:nvPicPr>
        <p:blipFill>
          <a:blip r:embed="rId1"/>
          <a:stretch>
            <a:fillRect/>
          </a:stretch>
        </p:blipFill>
        <p:spPr>
          <a:xfrm>
            <a:off x="1087120" y="1963420"/>
            <a:ext cx="5612765" cy="6084570"/>
          </a:xfrm>
          <a:prstGeom prst="rect">
            <a:avLst/>
          </a:prstGeom>
        </p:spPr>
      </p:pic>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87755" y="827405"/>
            <a:ext cx="5338445" cy="2414270"/>
          </a:xfrm>
          <a:prstGeom prst="rect">
            <a:avLst/>
          </a:prstGeom>
        </p:spPr>
        <p:txBody>
          <a:bodyPr>
            <a:noAutofit/>
          </a:bodyPr>
          <a:p>
            <a:pPr>
              <a:spcAft>
                <a:spcPct val="60000"/>
              </a:spcAft>
            </a:pPr>
            <a:r>
              <a:rPr lang="en-US" altLang="zh-CN" sz="1800" b="1"/>
              <a:t>4.7 Advantages of Implementation</a:t>
            </a:r>
            <a:endParaRPr lang="en-US" altLang="zh-CN" sz="1800" b="1"/>
          </a:p>
          <a:p>
            <a:pPr algn="just"/>
            <a:r>
              <a:rPr lang="en-US" altLang="zh-CN" sz="1600"/>
              <a:t>The implemented system offers several advantages:</a:t>
            </a:r>
            <a:endParaRPr lang="en-US" altLang="zh-CN" sz="1600"/>
          </a:p>
          <a:p>
            <a:pPr algn="just"/>
            <a:r>
              <a:rPr lang="en-US" altLang="zh-CN" sz="1600"/>
              <a:t>• Provides early stroke risk prediction</a:t>
            </a:r>
            <a:endParaRPr lang="en-US" altLang="zh-CN" sz="1600"/>
          </a:p>
          <a:p>
            <a:pPr algn="just"/>
            <a:r>
              <a:rPr lang="en-US" altLang="zh-CN" sz="1600"/>
              <a:t> • Supports medical decision-making</a:t>
            </a:r>
            <a:endParaRPr lang="en-US" altLang="zh-CN" sz="1600"/>
          </a:p>
          <a:p>
            <a:pPr algn="just"/>
            <a:r>
              <a:rPr lang="en-US" altLang="zh-CN" sz="1600"/>
              <a:t> • Easy-to-use interface</a:t>
            </a:r>
            <a:endParaRPr lang="en-US" altLang="zh-CN" sz="1600"/>
          </a:p>
          <a:p>
            <a:pPr algn="just"/>
            <a:r>
              <a:rPr lang="en-US" altLang="zh-CN" sz="1600"/>
              <a:t> • Fast and accurate results</a:t>
            </a:r>
            <a:endParaRPr lang="en-US" altLang="zh-CN" sz="1600"/>
          </a:p>
          <a:p>
            <a:pPr algn="just"/>
            <a:r>
              <a:rPr lang="en-US" altLang="zh-CN" sz="1600"/>
              <a:t> • Helps in preventive healthcare</a:t>
            </a:r>
            <a:endParaRPr lang="en-US" altLang="zh-CN" sz="1600"/>
          </a:p>
        </p:txBody>
      </p:sp>
      <p:sp>
        <p:nvSpPr>
          <p:cNvPr id="3" name="Text Box 2"/>
          <p:cNvSpPr txBox="1"/>
          <p:nvPr/>
        </p:nvSpPr>
        <p:spPr>
          <a:xfrm>
            <a:off x="1087755" y="3352800"/>
            <a:ext cx="5338445" cy="3755390"/>
          </a:xfrm>
          <a:prstGeom prst="rect">
            <a:avLst/>
          </a:prstGeom>
        </p:spPr>
        <p:txBody>
          <a:bodyPr>
            <a:noAutofit/>
          </a:bodyPr>
          <a:p>
            <a:pPr>
              <a:spcAft>
                <a:spcPct val="60000"/>
              </a:spcAft>
            </a:pPr>
            <a:r>
              <a:rPr lang="en-US" altLang="zh-CN" sz="1800" b="1"/>
              <a:t>4.8 Summary</a:t>
            </a:r>
            <a:endParaRPr lang="en-US" altLang="zh-CN" sz="1800" b="1"/>
          </a:p>
          <a:p>
            <a:pPr algn="just"/>
            <a:r>
              <a:rPr lang="en-US" altLang="zh-CN" sz="1600"/>
              <a:t>This chapter described the implementation of the Heart Stroke Risk Prediction system. The system was developed using Python and machine learning libraries such as Scikit-learn, Pandas, and NumPy.</a:t>
            </a:r>
            <a:endParaRPr lang="en-US" altLang="zh-CN" sz="1600"/>
          </a:p>
          <a:p>
            <a:pPr algn="just"/>
            <a:r>
              <a:rPr lang="en-US" altLang="zh-CN" sz="1600"/>
              <a:t>Several modules were developed including data preprocessing, model training, evaluation, and prediction modules. Random Forest was identified as the best-performing algorithm for predicting stroke risk.</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44270" y="516890"/>
            <a:ext cx="5989320" cy="406400"/>
          </a:xfrm>
          <a:prstGeom prst="rect">
            <a:avLst/>
          </a:prstGeom>
        </p:spPr>
        <p:txBody>
          <a:bodyPr>
            <a:noAutofit/>
          </a:bodyPr>
          <a:p>
            <a:pPr>
              <a:spcAft>
                <a:spcPct val="60000"/>
              </a:spcAft>
            </a:pPr>
            <a:r>
              <a:rPr lang="en-US" altLang="zh-CN" sz="2200" b="0"/>
              <a:t>CHAPTER 5- RESULTS AND DISCUSSION</a:t>
            </a:r>
            <a:endParaRPr lang="en-US" altLang="zh-CN" sz="2200" b="0"/>
          </a:p>
        </p:txBody>
      </p:sp>
      <p:sp>
        <p:nvSpPr>
          <p:cNvPr id="3" name="Text Box 2"/>
          <p:cNvSpPr txBox="1"/>
          <p:nvPr/>
        </p:nvSpPr>
        <p:spPr>
          <a:xfrm>
            <a:off x="946150" y="1584325"/>
            <a:ext cx="5856605" cy="4406265"/>
          </a:xfrm>
          <a:prstGeom prst="rect">
            <a:avLst/>
          </a:prstGeom>
        </p:spPr>
        <p:txBody>
          <a:bodyPr>
            <a:noAutofit/>
          </a:bodyPr>
          <a:p>
            <a:pPr>
              <a:spcAft>
                <a:spcPct val="60000"/>
              </a:spcAft>
            </a:pPr>
            <a:r>
              <a:rPr lang="en-US" altLang="zh-CN" sz="1800" b="1"/>
              <a:t>5.1 Introduction</a:t>
            </a:r>
            <a:endParaRPr lang="en-US" altLang="zh-CN" sz="1800" b="1"/>
          </a:p>
          <a:p>
            <a:pPr>
              <a:spcAft>
                <a:spcPct val="60000"/>
              </a:spcAft>
            </a:pPr>
            <a:endParaRPr lang="en-US" altLang="zh-CN" sz="2300" b="1"/>
          </a:p>
          <a:p>
            <a:pPr algn="just"/>
            <a:r>
              <a:rPr lang="en-US" altLang="zh-CN" sz="1600"/>
              <a:t>This chapter presents the results obtained from the implementation of the Heart Stroke Risk Prediction system and provides a detailed analysis of the model performance. The system was developed using machine learning algorithms to predict the probability of stroke based on various patient health parameters.</a:t>
            </a:r>
            <a:endParaRPr lang="en-US" altLang="zh-CN" sz="1600"/>
          </a:p>
          <a:p>
            <a:pPr algn="just"/>
            <a:endParaRPr lang="en-US" altLang="zh-CN" sz="1600"/>
          </a:p>
          <a:p>
            <a:pPr algn="just"/>
            <a:r>
              <a:rPr lang="en-US" altLang="zh-CN" sz="1600"/>
              <a:t>The evaluation of the system includes analysis of the dataset, visualization of important features, comparison of different machine learning algorithms, and interpretation of prediction results. The objective of this chapter is to demonstrate the effectiveness and reliability of the proposed system.</a:t>
            </a:r>
            <a:endParaRPr lang="en-US" altLang="zh-CN" sz="1600"/>
          </a:p>
          <a:p>
            <a:pPr algn="just"/>
            <a:endParaRPr lang="en-US" altLang="zh-CN" sz="1600"/>
          </a:p>
          <a:p>
            <a:pPr algn="just"/>
            <a:r>
              <a:rPr lang="en-US" altLang="zh-CN" sz="1600"/>
              <a:t>Several performance metrics such as accuracy, precision, recall, and confusion matrix are used to evaluate the prediction models.</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63955" y="701040"/>
            <a:ext cx="5825490" cy="7687945"/>
          </a:xfrm>
          <a:prstGeom prst="rect">
            <a:avLst/>
          </a:prstGeom>
        </p:spPr>
        <p:txBody>
          <a:bodyPr>
            <a:noAutofit/>
          </a:bodyPr>
          <a:p>
            <a:pPr>
              <a:spcAft>
                <a:spcPct val="60000"/>
              </a:spcAft>
            </a:pPr>
            <a:r>
              <a:rPr lang="en-US" altLang="zh-CN" sz="1800" b="1"/>
              <a:t>5.2 Dataset Analysis</a:t>
            </a:r>
            <a:endParaRPr lang="en-US" altLang="zh-CN" sz="1800" b="1"/>
          </a:p>
          <a:p>
            <a:pPr>
              <a:spcAft>
                <a:spcPct val="60000"/>
              </a:spcAft>
            </a:pPr>
            <a:endParaRPr lang="en-US" altLang="zh-CN" sz="1800" b="1"/>
          </a:p>
          <a:p>
            <a:pPr algn="just"/>
            <a:r>
              <a:rPr lang="en-US" altLang="zh-CN" sz="1600"/>
              <a:t>The stroke dataset used in this project contains medical records of patients with various health parameters. Before training the model, exploratory data analysis was performed to understand the characteristics of the dataset.</a:t>
            </a:r>
            <a:endParaRPr lang="en-US" altLang="zh-CN" sz="1600"/>
          </a:p>
          <a:p>
            <a:pPr algn="just"/>
            <a:endParaRPr lang="en-US" altLang="zh-CN" sz="1600"/>
          </a:p>
          <a:p>
            <a:pPr algn="just"/>
            <a:r>
              <a:rPr lang="en-US" altLang="zh-CN" sz="1600"/>
              <a:t>The dataset includes attributes such as age, gender, hypertension, heart disease, average glucose level, body mass index (BMI), and smoking status. These features are considered important factors influencing stroke risk.</a:t>
            </a:r>
            <a:endParaRPr lang="en-US" altLang="zh-CN" sz="1600"/>
          </a:p>
          <a:p>
            <a:pPr algn="just"/>
            <a:r>
              <a:rPr lang="en-US" altLang="zh-CN" sz="1600"/>
              <a:t>The dataset was analyzed using data visualization techniques to identify patterns and relationships between different variables</a:t>
            </a:r>
            <a:endParaRPr lang="en-US" altLang="zh-CN" sz="1600"/>
          </a:p>
          <a:p>
            <a:pPr algn="just"/>
            <a:r>
              <a:rPr lang="en-US" altLang="zh-CN" sz="1600"/>
              <a:t>.</a:t>
            </a:r>
            <a:endParaRPr lang="en-US" altLang="zh-CN" sz="1600"/>
          </a:p>
          <a:p>
            <a:pPr algn="just"/>
            <a:r>
              <a:rPr lang="en-US" altLang="zh-CN" sz="1600"/>
              <a:t>Key observations from dataset analysis include:</a:t>
            </a:r>
            <a:endParaRPr lang="en-US" altLang="zh-CN" sz="1600"/>
          </a:p>
          <a:p>
            <a:pPr algn="just"/>
            <a:r>
              <a:rPr lang="en-US" altLang="zh-CN" sz="1600"/>
              <a:t>• Stroke cases are more common among older individuals.</a:t>
            </a:r>
            <a:endParaRPr lang="en-US" altLang="zh-CN" sz="1600"/>
          </a:p>
          <a:p>
            <a:pPr algn="just"/>
            <a:r>
              <a:rPr lang="en-US" altLang="zh-CN" sz="1600"/>
              <a:t> • Patients with hypertension and heart disease have a higher probability of stroke.</a:t>
            </a:r>
            <a:endParaRPr lang="en-US" altLang="zh-CN" sz="1600"/>
          </a:p>
          <a:p>
            <a:pPr algn="just"/>
            <a:r>
              <a:rPr lang="en-US" altLang="zh-CN" sz="1600"/>
              <a:t> • Higher glucose levels are associated with increased stroke risk.</a:t>
            </a:r>
            <a:endParaRPr lang="en-US" altLang="zh-CN" sz="1600"/>
          </a:p>
          <a:p>
            <a:pPr algn="just"/>
            <a:r>
              <a:rPr lang="en-US" altLang="zh-CN" sz="1600"/>
              <a:t> • Lifestyle factors such as smoking may also influence stroke occurrence.</a:t>
            </a:r>
            <a:endParaRPr lang="en-US" altLang="zh-CN" sz="1600"/>
          </a:p>
          <a:p>
            <a:pPr algn="just"/>
            <a:endParaRPr lang="en-US" altLang="zh-CN" sz="1600"/>
          </a:p>
          <a:p>
            <a:pPr algn="just"/>
            <a:r>
              <a:rPr lang="en-US" altLang="zh-CN" sz="1600"/>
              <a:t>These insights help in selecting relevant features for building the machine learning model.</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02360" y="775970"/>
            <a:ext cx="5719445" cy="3096260"/>
          </a:xfrm>
          <a:prstGeom prst="rect">
            <a:avLst/>
          </a:prstGeom>
        </p:spPr>
        <p:txBody>
          <a:bodyPr>
            <a:noAutofit/>
          </a:bodyPr>
          <a:p>
            <a:pPr>
              <a:spcAft>
                <a:spcPct val="60000"/>
              </a:spcAft>
            </a:pPr>
            <a:r>
              <a:rPr lang="en-US" altLang="zh-CN" sz="1800" b="1"/>
              <a:t>5.3 Data Visualization</a:t>
            </a:r>
            <a:endParaRPr lang="en-US" altLang="zh-CN" sz="2800" b="1"/>
          </a:p>
          <a:p>
            <a:pPr algn="just"/>
            <a:r>
              <a:rPr lang="en-US" altLang="zh-CN" sz="1600"/>
              <a:t>Data visualization plays an important role in understanding patterns and relationships within the dataset. Several graphical techniques were used to analyze the stroke dataset</a:t>
            </a:r>
            <a:endParaRPr lang="en-US" altLang="zh-CN" sz="1600"/>
          </a:p>
          <a:p>
            <a:pPr algn="just"/>
            <a:r>
              <a:rPr lang="en-US" altLang="zh-CN" sz="1600"/>
              <a:t>.</a:t>
            </a:r>
            <a:endParaRPr lang="en-US" altLang="zh-CN" sz="1600"/>
          </a:p>
          <a:p>
            <a:pPr algn="just">
              <a:spcAft>
                <a:spcPct val="60000"/>
              </a:spcAft>
            </a:pPr>
            <a:r>
              <a:rPr lang="en-US" altLang="zh-CN" sz="1600" b="1"/>
              <a:t>5.3.1 Age Distribution</a:t>
            </a:r>
            <a:endParaRPr lang="en-US" altLang="zh-CN" sz="1600" b="1"/>
          </a:p>
          <a:p>
            <a:pPr algn="just"/>
            <a:r>
              <a:rPr lang="en-US" altLang="zh-CN" sz="1600"/>
              <a:t>A histogram or bar chart was used to analyze the distribution of age among patients. The analysis shows that stroke occurrences increase significantly in individuals above the age of 50.</a:t>
            </a:r>
            <a:endParaRPr lang="en-US" altLang="zh-CN" sz="1600"/>
          </a:p>
        </p:txBody>
      </p:sp>
      <p:sp>
        <p:nvSpPr>
          <p:cNvPr id="3" name="Text Box 2"/>
          <p:cNvSpPr txBox="1"/>
          <p:nvPr/>
        </p:nvSpPr>
        <p:spPr>
          <a:xfrm>
            <a:off x="1102360" y="3710940"/>
            <a:ext cx="5323840" cy="413385"/>
          </a:xfrm>
          <a:prstGeom prst="rect">
            <a:avLst/>
          </a:prstGeom>
        </p:spPr>
        <p:txBody>
          <a:bodyPr>
            <a:noAutofit/>
          </a:bodyPr>
          <a:p>
            <a:r>
              <a:rPr lang="en-US" altLang="zh-CN" sz="1600" b="1"/>
              <a:t>Figure:</a:t>
            </a:r>
            <a:r>
              <a:rPr lang="en-US" altLang="zh-CN" sz="1600"/>
              <a:t> Age Distribution Graph</a:t>
            </a:r>
            <a:endParaRPr lang="en-US" altLang="zh-CN" sz="1600"/>
          </a:p>
        </p:txBody>
      </p:sp>
      <p:pic>
        <p:nvPicPr>
          <p:cNvPr id="4" name="Picture 3"/>
          <p:cNvPicPr/>
          <p:nvPr/>
        </p:nvPicPr>
        <p:blipFill>
          <a:blip r:embed="rId1"/>
          <a:stretch>
            <a:fillRect/>
          </a:stretch>
        </p:blipFill>
        <p:spPr>
          <a:xfrm>
            <a:off x="960120" y="4045585"/>
            <a:ext cx="5861685" cy="4459605"/>
          </a:xfrm>
          <a:prstGeom prst="rect">
            <a:avLst/>
          </a:prstGeom>
        </p:spPr>
      </p:pic>
      <p:sp>
        <p:nvSpPr>
          <p:cNvPr id="5" name="Text Box 4"/>
          <p:cNvSpPr txBox="1"/>
          <p:nvPr/>
        </p:nvSpPr>
        <p:spPr>
          <a:xfrm>
            <a:off x="1148080" y="8706485"/>
            <a:ext cx="5673725" cy="1066800"/>
          </a:xfrm>
          <a:prstGeom prst="rect">
            <a:avLst/>
          </a:prstGeom>
        </p:spPr>
        <p:txBody>
          <a:bodyPr>
            <a:noAutofit/>
          </a:bodyPr>
          <a:p>
            <a:r>
              <a:rPr lang="en-US" altLang="zh-CN" sz="1600" b="1"/>
              <a:t>Explanation:</a:t>
            </a:r>
            <a:endParaRPr lang="en-US" altLang="zh-CN" sz="1600" b="1"/>
          </a:p>
          <a:p>
            <a:r>
              <a:rPr lang="en-US" altLang="zh-CN" sz="1600"/>
              <a:t> The graph indicates that elderly individuals are more vulnerable to stroke compared to younger populations.</a:t>
            </a:r>
            <a:endParaRPr lang="en-US" altLang="zh-CN" sz="1600"/>
          </a:p>
        </p:txBody>
      </p:sp>
      <p:sp>
        <p:nvSpPr>
          <p:cNvPr id="6" name="Slide Number Placeholder 5"/>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42035" y="608330"/>
            <a:ext cx="5719445" cy="1642745"/>
          </a:xfrm>
          <a:prstGeom prst="rect">
            <a:avLst/>
          </a:prstGeom>
        </p:spPr>
        <p:txBody>
          <a:bodyPr>
            <a:noAutofit/>
          </a:bodyPr>
          <a:p>
            <a:pPr>
              <a:spcAft>
                <a:spcPct val="60000"/>
              </a:spcAft>
            </a:pPr>
            <a:r>
              <a:rPr lang="en-US" altLang="zh-CN" sz="1800" b="1"/>
              <a:t>5.3.2 Stroke vs Hypertension</a:t>
            </a:r>
            <a:endParaRPr lang="en-US" altLang="zh-CN" sz="1800" b="1"/>
          </a:p>
          <a:p>
            <a:r>
              <a:rPr lang="en-US" altLang="zh-CN" sz="1600"/>
              <a:t>A bar chart was used to compare stroke occurrence among patients with and without hypertension.</a:t>
            </a:r>
            <a:endParaRPr lang="en-US" altLang="zh-CN" sz="1600"/>
          </a:p>
          <a:p>
            <a:endParaRPr lang="en-US" altLang="zh-CN" sz="1600"/>
          </a:p>
          <a:p>
            <a:r>
              <a:rPr lang="en-US" altLang="zh-CN" sz="1600" b="1"/>
              <a:t>Figure: </a:t>
            </a:r>
            <a:r>
              <a:rPr lang="en-US" altLang="zh-CN" sz="1600"/>
              <a:t>Hypertension vs Stroke Graph</a:t>
            </a:r>
            <a:endParaRPr lang="en-US" altLang="zh-CN" sz="1600"/>
          </a:p>
        </p:txBody>
      </p:sp>
      <p:pic>
        <p:nvPicPr>
          <p:cNvPr id="3" name="Picture 2"/>
          <p:cNvPicPr/>
          <p:nvPr/>
        </p:nvPicPr>
        <p:blipFill>
          <a:blip r:embed="rId1"/>
          <a:stretch>
            <a:fillRect/>
          </a:stretch>
        </p:blipFill>
        <p:spPr>
          <a:xfrm>
            <a:off x="655320" y="2428875"/>
            <a:ext cx="6385560" cy="5688330"/>
          </a:xfrm>
          <a:prstGeom prst="rect">
            <a:avLst/>
          </a:prstGeom>
        </p:spPr>
      </p:pic>
      <p:sp>
        <p:nvSpPr>
          <p:cNvPr id="6" name="Text Box 5"/>
          <p:cNvSpPr txBox="1"/>
          <p:nvPr/>
        </p:nvSpPr>
        <p:spPr>
          <a:xfrm>
            <a:off x="1042035" y="8238490"/>
            <a:ext cx="5654040" cy="1332230"/>
          </a:xfrm>
          <a:prstGeom prst="rect">
            <a:avLst/>
          </a:prstGeom>
        </p:spPr>
        <p:txBody>
          <a:bodyPr>
            <a:noAutofit/>
          </a:bodyPr>
          <a:p>
            <a:r>
              <a:rPr lang="en-US" altLang="zh-CN" sz="1600" b="1"/>
              <a:t>Explanation:</a:t>
            </a:r>
            <a:endParaRPr lang="en-US" altLang="zh-CN" sz="1600" b="1"/>
          </a:p>
          <a:p>
            <a:pPr algn="just"/>
            <a:r>
              <a:rPr lang="en-US" altLang="zh-CN" sz="1600"/>
              <a:t> The visualization shows that patients with hypertension have a higher probability of experiencing a stroke compared to those without hypertension.</a:t>
            </a:r>
            <a:endParaRPr lang="en-US" altLang="zh-CN" sz="1600"/>
          </a:p>
        </p:txBody>
      </p:sp>
      <p:sp>
        <p:nvSpPr>
          <p:cNvPr id="7" name="Slide Number Placeholder 6"/>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11555" y="836930"/>
            <a:ext cx="5642610" cy="1588770"/>
          </a:xfrm>
          <a:prstGeom prst="rect">
            <a:avLst/>
          </a:prstGeom>
        </p:spPr>
        <p:txBody>
          <a:bodyPr>
            <a:noAutofit/>
          </a:bodyPr>
          <a:p>
            <a:pPr>
              <a:spcAft>
                <a:spcPct val="60000"/>
              </a:spcAft>
            </a:pPr>
            <a:r>
              <a:rPr lang="en-US" altLang="zh-CN" sz="1800" b="1"/>
              <a:t>5.3.3 Stroke vs Heart Disease</a:t>
            </a:r>
            <a:endParaRPr lang="en-US" altLang="zh-CN" sz="1800" b="1"/>
          </a:p>
          <a:p>
            <a:r>
              <a:rPr lang="en-US" altLang="zh-CN" sz="1600"/>
              <a:t>Another graph was created to analyze the relationship between heart disease and stroke.</a:t>
            </a:r>
            <a:endParaRPr lang="en-US" altLang="zh-CN" sz="1600"/>
          </a:p>
          <a:p>
            <a:endParaRPr lang="en-US" altLang="zh-CN" sz="1600"/>
          </a:p>
          <a:p>
            <a:r>
              <a:rPr lang="en-US" altLang="zh-CN" sz="1600" b="1"/>
              <a:t>Figure: </a:t>
            </a:r>
            <a:r>
              <a:rPr lang="en-US" altLang="zh-CN" sz="1600"/>
              <a:t>Heart Disease vs Stroke Graph</a:t>
            </a:r>
            <a:endParaRPr lang="en-US" altLang="zh-CN" sz="1600"/>
          </a:p>
        </p:txBody>
      </p:sp>
      <p:pic>
        <p:nvPicPr>
          <p:cNvPr id="3" name="Picture 2"/>
          <p:cNvPicPr/>
          <p:nvPr/>
        </p:nvPicPr>
        <p:blipFill>
          <a:blip r:embed="rId1"/>
          <a:stretch>
            <a:fillRect/>
          </a:stretch>
        </p:blipFill>
        <p:spPr>
          <a:xfrm>
            <a:off x="814705" y="2419350"/>
            <a:ext cx="6158230" cy="5219700"/>
          </a:xfrm>
          <a:prstGeom prst="rect">
            <a:avLst/>
          </a:prstGeom>
        </p:spPr>
      </p:pic>
      <p:sp>
        <p:nvSpPr>
          <p:cNvPr id="4" name="Text Box 3"/>
          <p:cNvSpPr txBox="1"/>
          <p:nvPr/>
        </p:nvSpPr>
        <p:spPr>
          <a:xfrm>
            <a:off x="1011555" y="7727950"/>
            <a:ext cx="5962015" cy="1978025"/>
          </a:xfrm>
          <a:prstGeom prst="rect">
            <a:avLst/>
          </a:prstGeom>
        </p:spPr>
        <p:txBody>
          <a:bodyPr>
            <a:noAutofit/>
          </a:bodyPr>
          <a:p>
            <a:r>
              <a:rPr lang="en-US" altLang="zh-CN" sz="1600" b="1"/>
              <a:t>Explanation:</a:t>
            </a:r>
            <a:endParaRPr lang="en-US" altLang="zh-CN" sz="1600"/>
          </a:p>
          <a:p>
            <a:pPr algn="just"/>
            <a:r>
              <a:rPr lang="en-US" altLang="zh-CN" sz="1600"/>
              <a:t> Patients suffering from heart disease show a significantly higher stroke rate. This indicates that cardiovascular health plays a major role in stroke prediction.</a:t>
            </a: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87755" y="704850"/>
            <a:ext cx="5627370" cy="1760855"/>
          </a:xfrm>
          <a:prstGeom prst="rect">
            <a:avLst/>
          </a:prstGeom>
        </p:spPr>
        <p:txBody>
          <a:bodyPr>
            <a:noAutofit/>
          </a:bodyPr>
          <a:p>
            <a:pPr>
              <a:spcAft>
                <a:spcPct val="60000"/>
              </a:spcAft>
            </a:pPr>
            <a:r>
              <a:rPr lang="en-US" altLang="zh-CN" sz="1800" b="1"/>
              <a:t>5.3.4 Average Glucose Level Analysis</a:t>
            </a:r>
            <a:endParaRPr lang="en-US" altLang="zh-CN" sz="2300" b="1"/>
          </a:p>
          <a:p>
            <a:pPr algn="just"/>
            <a:r>
              <a:rPr lang="en-US" altLang="zh-CN" sz="1600"/>
              <a:t>A scatter plot or distribution graph was used to study the relationship between glucose level and stroke occurrence</a:t>
            </a:r>
            <a:endParaRPr lang="en-US" altLang="zh-CN" sz="1600"/>
          </a:p>
          <a:p>
            <a:pPr algn="just"/>
            <a:r>
              <a:rPr lang="en-US" altLang="zh-CN" sz="1600"/>
              <a:t>.</a:t>
            </a:r>
            <a:endParaRPr lang="en-US" altLang="zh-CN" sz="1600"/>
          </a:p>
          <a:p>
            <a:r>
              <a:rPr lang="en-US" altLang="zh-CN" sz="1600" b="1"/>
              <a:t>Figure:</a:t>
            </a:r>
            <a:r>
              <a:rPr lang="en-US" altLang="zh-CN" sz="1600"/>
              <a:t> Glucose Level vs Stroke Graph</a:t>
            </a:r>
            <a:endParaRPr lang="en-US" altLang="zh-CN" sz="1600"/>
          </a:p>
        </p:txBody>
      </p:sp>
      <p:pic>
        <p:nvPicPr>
          <p:cNvPr id="3" name="Picture 2"/>
          <p:cNvPicPr/>
          <p:nvPr/>
        </p:nvPicPr>
        <p:blipFill>
          <a:blip r:embed="rId1"/>
          <a:stretch>
            <a:fillRect/>
          </a:stretch>
        </p:blipFill>
        <p:spPr>
          <a:xfrm>
            <a:off x="1088390" y="2367280"/>
            <a:ext cx="5791200" cy="5324475"/>
          </a:xfrm>
          <a:prstGeom prst="rect">
            <a:avLst/>
          </a:prstGeom>
        </p:spPr>
      </p:pic>
      <p:sp>
        <p:nvSpPr>
          <p:cNvPr id="4" name="Text Box 3"/>
          <p:cNvSpPr txBox="1"/>
          <p:nvPr/>
        </p:nvSpPr>
        <p:spPr>
          <a:xfrm>
            <a:off x="1149350" y="7897495"/>
            <a:ext cx="5673090" cy="1129665"/>
          </a:xfrm>
          <a:prstGeom prst="rect">
            <a:avLst/>
          </a:prstGeom>
        </p:spPr>
        <p:txBody>
          <a:bodyPr>
            <a:noAutofit/>
          </a:bodyPr>
          <a:p>
            <a:r>
              <a:rPr lang="en-US" altLang="zh-CN" sz="1600" b="1"/>
              <a:t>Explanation:</a:t>
            </a:r>
            <a:endParaRPr lang="en-US" altLang="zh-CN" sz="1600" b="1"/>
          </a:p>
          <a:p>
            <a:pPr algn="just"/>
            <a:r>
              <a:rPr lang="en-US" altLang="zh-CN" sz="1600"/>
              <a:t> Higher average glucose levels are associated with increased stroke risk, which may indicate the influence of diabetes or other metabolic conditions.</a:t>
            </a: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71880" y="730250"/>
            <a:ext cx="5734685" cy="1786890"/>
          </a:xfrm>
          <a:prstGeom prst="rect">
            <a:avLst/>
          </a:prstGeom>
        </p:spPr>
        <p:txBody>
          <a:bodyPr>
            <a:noAutofit/>
          </a:bodyPr>
          <a:p>
            <a:pPr>
              <a:spcAft>
                <a:spcPct val="60000"/>
              </a:spcAft>
            </a:pPr>
            <a:r>
              <a:rPr lang="en-US" altLang="zh-CN" sz="1800" b="1"/>
              <a:t>5.3.5 BMI Distribution</a:t>
            </a:r>
            <a:endParaRPr lang="en-US" altLang="zh-CN" sz="2300" b="1"/>
          </a:p>
          <a:p>
            <a:r>
              <a:rPr lang="en-US" altLang="zh-CN" sz="1600"/>
              <a:t>A distribution plot was created to analyze the body mass index of patients.</a:t>
            </a:r>
            <a:endParaRPr lang="en-US" altLang="zh-CN" sz="1600"/>
          </a:p>
          <a:p>
            <a:endParaRPr lang="en-US" altLang="zh-CN" sz="1600"/>
          </a:p>
          <a:p>
            <a:r>
              <a:rPr lang="en-US" altLang="zh-CN" sz="1600" b="1"/>
              <a:t>Figure:</a:t>
            </a:r>
            <a:r>
              <a:rPr lang="en-US" altLang="zh-CN" sz="1600"/>
              <a:t> BMI Distribution Graph</a:t>
            </a:r>
            <a:endParaRPr lang="en-US" altLang="zh-CN" sz="1600"/>
          </a:p>
        </p:txBody>
      </p:sp>
      <p:pic>
        <p:nvPicPr>
          <p:cNvPr id="3" name="Picture 2"/>
          <p:cNvPicPr/>
          <p:nvPr/>
        </p:nvPicPr>
        <p:blipFill>
          <a:blip r:embed="rId1"/>
          <a:stretch>
            <a:fillRect/>
          </a:stretch>
        </p:blipFill>
        <p:spPr>
          <a:xfrm>
            <a:off x="887095" y="2231390"/>
            <a:ext cx="6291580" cy="5588635"/>
          </a:xfrm>
          <a:prstGeom prst="rect">
            <a:avLst/>
          </a:prstGeom>
        </p:spPr>
      </p:pic>
      <p:sp>
        <p:nvSpPr>
          <p:cNvPr id="4" name="Text Box 3"/>
          <p:cNvSpPr txBox="1"/>
          <p:nvPr/>
        </p:nvSpPr>
        <p:spPr>
          <a:xfrm>
            <a:off x="1071880" y="7767320"/>
            <a:ext cx="5723890" cy="1517650"/>
          </a:xfrm>
          <a:prstGeom prst="rect">
            <a:avLst/>
          </a:prstGeom>
        </p:spPr>
        <p:txBody>
          <a:bodyPr>
            <a:noAutofit/>
          </a:bodyPr>
          <a:p>
            <a:r>
              <a:rPr lang="en-US" altLang="zh-CN" sz="1600" b="1"/>
              <a:t>Explanation:</a:t>
            </a:r>
            <a:endParaRPr lang="en-US" altLang="zh-CN" sz="1600" b="1"/>
          </a:p>
          <a:p>
            <a:pPr algn="just"/>
            <a:r>
              <a:rPr lang="en-US" altLang="zh-CN" sz="1600"/>
              <a:t> The graph indicates that overweight and obese individuals may have higher chances of stroke compared to individuals with normal BMI levels.</a:t>
            </a:r>
            <a:endParaRPr lang="en-US" altLang="zh-CN" sz="1600"/>
          </a:p>
        </p:txBody>
      </p:sp>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77595" y="677545"/>
            <a:ext cx="5642610" cy="2799080"/>
          </a:xfrm>
          <a:prstGeom prst="rect">
            <a:avLst/>
          </a:prstGeom>
        </p:spPr>
        <p:txBody>
          <a:bodyPr>
            <a:noAutofit/>
          </a:bodyPr>
          <a:p>
            <a:pPr>
              <a:spcAft>
                <a:spcPct val="60000"/>
              </a:spcAft>
            </a:pPr>
            <a:r>
              <a:rPr lang="en-US" altLang="zh-CN" sz="1800" b="1"/>
              <a:t>5.4 Confusion Matrix Analysis</a:t>
            </a:r>
            <a:endParaRPr lang="en-US" altLang="zh-CN" sz="2800" b="1"/>
          </a:p>
          <a:p>
            <a:pPr algn="just"/>
            <a:r>
              <a:rPr lang="en-US" altLang="zh-CN" sz="1600"/>
              <a:t>A confusion matrix is used to evaluate the classification performance of the machine learning model.</a:t>
            </a:r>
            <a:endParaRPr lang="en-US" altLang="zh-CN" sz="1600"/>
          </a:p>
          <a:p>
            <a:pPr algn="just"/>
            <a:r>
              <a:rPr lang="en-US" altLang="zh-CN" sz="1600"/>
              <a:t>Confusion Matrix Components:</a:t>
            </a:r>
            <a:endParaRPr lang="en-US" altLang="zh-CN" sz="1600"/>
          </a:p>
          <a:p>
            <a:pPr algn="just"/>
            <a:r>
              <a:rPr lang="en-US" altLang="zh-CN" sz="1600"/>
              <a:t>• True Positive (TP) – Correctly predicted stroke cases</a:t>
            </a:r>
            <a:endParaRPr lang="en-US" altLang="zh-CN" sz="1600"/>
          </a:p>
          <a:p>
            <a:pPr algn="just"/>
            <a:r>
              <a:rPr lang="en-US" altLang="zh-CN" sz="1600"/>
              <a:t> • True Negative (TN) – Correctly predicted non-stroke cases</a:t>
            </a:r>
            <a:endParaRPr lang="en-US" altLang="zh-CN" sz="1600"/>
          </a:p>
          <a:p>
            <a:pPr algn="just"/>
            <a:r>
              <a:rPr lang="en-US" altLang="zh-CN" sz="1600"/>
              <a:t> • False Positive (FP) – Incorrectly predicted stroke cases</a:t>
            </a:r>
            <a:endParaRPr lang="en-US" altLang="zh-CN" sz="1600"/>
          </a:p>
          <a:p>
            <a:pPr algn="just"/>
            <a:r>
              <a:rPr lang="en-US" altLang="zh-CN" sz="1600"/>
              <a:t> • False Negative (FN) – Missed stroke cases</a:t>
            </a:r>
            <a:endParaRPr lang="en-US" altLang="zh-CN" sz="1600"/>
          </a:p>
          <a:p>
            <a:pPr algn="just"/>
            <a:r>
              <a:rPr lang="en-US" altLang="zh-CN" sz="1600"/>
              <a:t>Example Confusion Matrix Table</a:t>
            </a:r>
            <a:endParaRPr lang="en-US" altLang="zh-CN" sz="1600"/>
          </a:p>
        </p:txBody>
      </p:sp>
      <p:graphicFrame>
        <p:nvGraphicFramePr>
          <p:cNvPr id="3" name="Table 2"/>
          <p:cNvGraphicFramePr/>
          <p:nvPr>
            <p:custDataLst>
              <p:tags r:id="rId1"/>
            </p:custDataLst>
          </p:nvPr>
        </p:nvGraphicFramePr>
        <p:xfrm>
          <a:off x="1104265" y="3647440"/>
          <a:ext cx="5894070" cy="1049655"/>
        </p:xfrm>
        <a:graphic>
          <a:graphicData uri="http://schemas.openxmlformats.org/drawingml/2006/table">
            <a:tbl>
              <a:tblPr/>
              <a:tblGrid>
                <a:gridCol w="1964690"/>
                <a:gridCol w="1964690"/>
                <a:gridCol w="1964690"/>
              </a:tblGrid>
              <a:tr h="349885">
                <a:tc>
                  <a:txBody>
                    <a:bodyPr/>
                    <a:p>
                      <a:endParaRPr sz="1100"/>
                    </a:p>
                  </a:txBody>
                  <a:tcPr marL="0" marR="0" marT="0" marB="0" anchor="ctr" anchorCtr="0">
                    <a:lnL>
                      <a:noFill/>
                    </a:lnL>
                    <a:lnR>
                      <a:noFill/>
                    </a:lnR>
                    <a:lnT>
                      <a:noFill/>
                    </a:lnT>
                    <a:lnB>
                      <a:noFill/>
                    </a:lnB>
                    <a:noFill/>
                  </a:tcPr>
                </a:tc>
                <a:tc>
                  <a:txBody>
                    <a:bodyPr/>
                    <a:p>
                      <a:r>
                        <a:rPr lang="en-US" altLang="zh-CN" sz="1100"/>
                        <a:t>Predicted No Stroke</a:t>
                      </a:r>
                      <a:endParaRPr lang="en-US" altLang="zh-CN" sz="1100"/>
                    </a:p>
                  </a:txBody>
                  <a:tcPr marL="0" marR="0" marT="0" marB="0" anchor="ctr" anchorCtr="0">
                    <a:lnL>
                      <a:noFill/>
                    </a:lnL>
                    <a:lnR>
                      <a:noFill/>
                    </a:lnR>
                    <a:lnT>
                      <a:noFill/>
                    </a:lnT>
                    <a:lnB>
                      <a:noFill/>
                    </a:lnB>
                    <a:noFill/>
                  </a:tcPr>
                </a:tc>
                <a:tc>
                  <a:txBody>
                    <a:bodyPr/>
                    <a:p>
                      <a:r>
                        <a:rPr lang="en-US" altLang="zh-CN" sz="1100"/>
                        <a:t>Predicted Stroke</a:t>
                      </a:r>
                      <a:endParaRPr lang="en-US" altLang="zh-CN" sz="1100"/>
                    </a:p>
                  </a:txBody>
                  <a:tcPr marL="0" marR="0" marT="0" marB="0" anchor="ctr" anchorCtr="0">
                    <a:lnL>
                      <a:noFill/>
                    </a:lnL>
                    <a:lnR>
                      <a:noFill/>
                    </a:lnR>
                    <a:lnT>
                      <a:noFill/>
                    </a:lnT>
                    <a:lnB>
                      <a:noFill/>
                    </a:lnB>
                    <a:noFill/>
                  </a:tcPr>
                </a:tc>
              </a:tr>
              <a:tr h="349885">
                <a:tc>
                  <a:txBody>
                    <a:bodyPr/>
                    <a:p>
                      <a:r>
                        <a:rPr lang="en-US" altLang="zh-CN" sz="1100"/>
                        <a:t>Actual No Stroke</a:t>
                      </a:r>
                      <a:endParaRPr lang="en-US" altLang="zh-CN" sz="1100"/>
                    </a:p>
                  </a:txBody>
                  <a:tcPr marL="0" marR="0" marT="0" marB="0" anchor="ctr" anchorCtr="0">
                    <a:lnL>
                      <a:noFill/>
                    </a:lnL>
                    <a:lnR>
                      <a:noFill/>
                    </a:lnR>
                    <a:lnT>
                      <a:noFill/>
                    </a:lnT>
                    <a:lnB>
                      <a:noFill/>
                    </a:lnB>
                    <a:noFill/>
                  </a:tcPr>
                </a:tc>
                <a:tc>
                  <a:txBody>
                    <a:bodyPr/>
                    <a:p>
                      <a:r>
                        <a:rPr lang="en-US" altLang="zh-CN" sz="1100"/>
                        <a:t>950</a:t>
                      </a:r>
                      <a:endParaRPr lang="en-US" altLang="zh-CN" sz="1100"/>
                    </a:p>
                  </a:txBody>
                  <a:tcPr marL="0" marR="0" marT="0" marB="0" anchor="ctr" anchorCtr="0">
                    <a:lnL>
                      <a:noFill/>
                    </a:lnL>
                    <a:lnR>
                      <a:noFill/>
                    </a:lnR>
                    <a:lnT>
                      <a:noFill/>
                    </a:lnT>
                    <a:lnB>
                      <a:noFill/>
                    </a:lnB>
                    <a:noFill/>
                  </a:tcPr>
                </a:tc>
                <a:tc>
                  <a:txBody>
                    <a:bodyPr/>
                    <a:p>
                      <a:r>
                        <a:rPr lang="en-US" altLang="zh-CN" sz="1100"/>
                        <a:t>20</a:t>
                      </a:r>
                      <a:endParaRPr lang="en-US" altLang="zh-CN" sz="1100"/>
                    </a:p>
                  </a:txBody>
                  <a:tcPr marL="0" marR="0" marT="0" marB="0" anchor="ctr" anchorCtr="0">
                    <a:lnL>
                      <a:noFill/>
                    </a:lnL>
                    <a:lnR>
                      <a:noFill/>
                    </a:lnR>
                    <a:lnT>
                      <a:noFill/>
                    </a:lnT>
                    <a:lnB>
                      <a:noFill/>
                    </a:lnB>
                    <a:noFill/>
                  </a:tcPr>
                </a:tc>
              </a:tr>
              <a:tr h="349885">
                <a:tc>
                  <a:txBody>
                    <a:bodyPr/>
                    <a:p>
                      <a:r>
                        <a:rPr lang="en-US" altLang="zh-CN" sz="1100"/>
                        <a:t>Actual Stroke</a:t>
                      </a:r>
                      <a:endParaRPr lang="en-US" altLang="zh-CN" sz="1100"/>
                    </a:p>
                  </a:txBody>
                  <a:tcPr marL="0" marR="0" marT="0" marB="0" anchor="ctr" anchorCtr="0">
                    <a:lnL>
                      <a:noFill/>
                    </a:lnL>
                    <a:lnR>
                      <a:noFill/>
                    </a:lnR>
                    <a:lnT>
                      <a:noFill/>
                    </a:lnT>
                    <a:lnB>
                      <a:noFill/>
                    </a:lnB>
                    <a:noFill/>
                  </a:tcPr>
                </a:tc>
                <a:tc>
                  <a:txBody>
                    <a:bodyPr/>
                    <a:p>
                      <a:r>
                        <a:rPr lang="en-US" altLang="zh-CN" sz="1100"/>
                        <a:t>15</a:t>
                      </a:r>
                      <a:endParaRPr lang="en-US" altLang="zh-CN" sz="1100"/>
                    </a:p>
                  </a:txBody>
                  <a:tcPr marL="0" marR="0" marT="0" marB="0" anchor="ctr" anchorCtr="0">
                    <a:lnL>
                      <a:noFill/>
                    </a:lnL>
                    <a:lnR>
                      <a:noFill/>
                    </a:lnR>
                    <a:lnT>
                      <a:noFill/>
                    </a:lnT>
                    <a:lnB>
                      <a:noFill/>
                    </a:lnB>
                    <a:noFill/>
                  </a:tcPr>
                </a:tc>
                <a:tc>
                  <a:txBody>
                    <a:bodyPr/>
                    <a:p>
                      <a:r>
                        <a:rPr lang="en-US" altLang="zh-CN" sz="1100"/>
                        <a:t>75</a:t>
                      </a:r>
                      <a:endParaRPr lang="en-US" altLang="zh-CN" sz="1100"/>
                    </a:p>
                  </a:txBody>
                  <a:tcPr marL="0" marR="0" marT="0" marB="0" anchor="ctr" anchorCtr="0">
                    <a:lnL>
                      <a:noFill/>
                    </a:lnL>
                    <a:lnR>
                      <a:noFill/>
                    </a:lnR>
                    <a:lnT>
                      <a:noFill/>
                    </a:lnT>
                    <a:lnB>
                      <a:noFill/>
                    </a:lnB>
                    <a:noFill/>
                  </a:tcPr>
                </a:tc>
              </a:tr>
            </a:tbl>
          </a:graphicData>
        </a:graphic>
      </p:graphicFrame>
      <p:pic>
        <p:nvPicPr>
          <p:cNvPr id="4" name="Picture 3"/>
          <p:cNvPicPr/>
          <p:nvPr/>
        </p:nvPicPr>
        <p:blipFill>
          <a:blip r:embed="rId2"/>
          <a:stretch>
            <a:fillRect/>
          </a:stretch>
        </p:blipFill>
        <p:spPr>
          <a:xfrm>
            <a:off x="723900" y="4957445"/>
            <a:ext cx="6075680" cy="4387850"/>
          </a:xfrm>
          <a:prstGeom prst="rect">
            <a:avLst/>
          </a:prstGeom>
        </p:spPr>
      </p:pic>
      <p:sp>
        <p:nvSpPr>
          <p:cNvPr id="5" name="Slide Number Placeholder 4"/>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11555" y="822325"/>
            <a:ext cx="5765165" cy="3659505"/>
          </a:xfrm>
          <a:prstGeom prst="rect">
            <a:avLst/>
          </a:prstGeom>
        </p:spPr>
        <p:txBody>
          <a:bodyPr>
            <a:noAutofit/>
          </a:bodyPr>
          <a:p>
            <a:pPr>
              <a:spcAft>
                <a:spcPct val="60000"/>
              </a:spcAft>
            </a:pPr>
            <a:r>
              <a:rPr lang="en-US" altLang="zh-CN" sz="1800" b="1"/>
              <a:t>5.5 Precision and Recall Analysis</a:t>
            </a:r>
            <a:endParaRPr lang="en-US" altLang="zh-CN" sz="1800" b="1"/>
          </a:p>
          <a:p>
            <a:pPr algn="just"/>
            <a:r>
              <a:rPr lang="en-US" altLang="zh-CN" sz="1600"/>
              <a:t>Precision and recall are important metrics for evaluating classification models in healthcare applications.</a:t>
            </a:r>
            <a:endParaRPr lang="en-US" altLang="zh-CN" sz="1600"/>
          </a:p>
          <a:p>
            <a:pPr algn="just"/>
            <a:r>
              <a:rPr lang="en-US" altLang="zh-CN" sz="1600"/>
              <a:t>Precision measures the proportion of correctly predicted positive cases among all predicted positive cases.</a:t>
            </a:r>
            <a:endParaRPr lang="en-US" altLang="zh-CN" sz="1600"/>
          </a:p>
          <a:p>
            <a:pPr algn="just"/>
            <a:r>
              <a:rPr lang="en-US" altLang="zh-CN" sz="1600"/>
              <a:t>Recall measures the proportion of correctly predicted positive cases among all actual positive cases.</a:t>
            </a:r>
            <a:endParaRPr lang="en-US" altLang="zh-CN" sz="1600"/>
          </a:p>
          <a:p>
            <a:pPr algn="just"/>
            <a:r>
              <a:rPr lang="en-US" altLang="zh-CN" sz="1600"/>
              <a:t>High precision and recall values indicate that the model is effective in identifying stroke cases without producing too many false predictions.</a:t>
            </a:r>
            <a:endParaRPr lang="en-US" altLang="zh-CN" sz="1600"/>
          </a:p>
        </p:txBody>
      </p:sp>
      <p:sp>
        <p:nvSpPr>
          <p:cNvPr id="3" name="Text Box 2"/>
          <p:cNvSpPr txBox="1"/>
          <p:nvPr/>
        </p:nvSpPr>
        <p:spPr>
          <a:xfrm>
            <a:off x="990600" y="4038600"/>
            <a:ext cx="5688330" cy="5307330"/>
          </a:xfrm>
          <a:prstGeom prst="rect">
            <a:avLst/>
          </a:prstGeom>
        </p:spPr>
        <p:txBody>
          <a:bodyPr>
            <a:noAutofit/>
          </a:bodyPr>
          <a:p>
            <a:pPr>
              <a:spcAft>
                <a:spcPct val="60000"/>
              </a:spcAft>
            </a:pPr>
            <a:r>
              <a:rPr lang="en-US" altLang="zh-CN" sz="1800" b="1"/>
              <a:t>5.6 Prediction Results</a:t>
            </a:r>
            <a:endParaRPr lang="en-US" altLang="zh-CN" sz="1800" b="1"/>
          </a:p>
          <a:p>
            <a:r>
              <a:rPr lang="en-US" altLang="zh-CN" sz="1600"/>
              <a:t>The developed system allows users to input patient details and obtain stroke risk predictions.</a:t>
            </a:r>
            <a:endParaRPr lang="en-US" altLang="zh-CN" sz="1600"/>
          </a:p>
          <a:p>
            <a:endParaRPr lang="en-US" altLang="zh-CN" sz="1600"/>
          </a:p>
          <a:p>
            <a:r>
              <a:rPr lang="en-US" altLang="zh-CN" sz="1600"/>
              <a:t>Example Prediction Input</a:t>
            </a:r>
            <a:endParaRPr lang="en-US" altLang="zh-CN" sz="1600"/>
          </a:p>
          <a:p>
            <a:endParaRPr lang="en-US" altLang="zh-CN" sz="1600"/>
          </a:p>
          <a:p>
            <a:r>
              <a:rPr lang="en-US" altLang="zh-CN" sz="1600"/>
              <a:t>Age: 60</a:t>
            </a:r>
            <a:endParaRPr lang="en-US" altLang="zh-CN" sz="1600"/>
          </a:p>
          <a:p>
            <a:r>
              <a:rPr lang="en-US" altLang="zh-CN" sz="1600"/>
              <a:t> Hypertension: Yes</a:t>
            </a:r>
            <a:endParaRPr lang="en-US" altLang="zh-CN" sz="1600"/>
          </a:p>
          <a:p>
            <a:r>
              <a:rPr lang="en-US" altLang="zh-CN" sz="1600"/>
              <a:t> Heart Disease: No</a:t>
            </a:r>
            <a:endParaRPr lang="en-US" altLang="zh-CN" sz="1600"/>
          </a:p>
          <a:p>
            <a:r>
              <a:rPr lang="en-US" altLang="zh-CN" sz="1600"/>
              <a:t> BMI: 30</a:t>
            </a:r>
            <a:endParaRPr lang="en-US" altLang="zh-CN" sz="1600"/>
          </a:p>
          <a:p>
            <a:r>
              <a:rPr lang="en-US" altLang="zh-CN" sz="1600"/>
              <a:t> Glucose Level: 145</a:t>
            </a:r>
            <a:endParaRPr lang="en-US" altLang="zh-CN" sz="1600"/>
          </a:p>
          <a:p>
            <a:r>
              <a:rPr lang="en-US" altLang="zh-CN" sz="1600"/>
              <a:t> Smoking Status: Former Smoker</a:t>
            </a:r>
            <a:endParaRPr lang="en-US" altLang="zh-CN" sz="1600"/>
          </a:p>
          <a:p>
            <a:r>
              <a:rPr lang="en-US" altLang="zh-CN" sz="1600"/>
              <a:t>Prediction Output:</a:t>
            </a:r>
            <a:endParaRPr lang="en-US" altLang="zh-CN" sz="1600"/>
          </a:p>
          <a:p>
            <a:r>
              <a:rPr lang="en-US" altLang="zh-CN" sz="1600"/>
              <a:t>High Risk of Stroke</a:t>
            </a:r>
            <a:endParaRPr lang="en-US" altLang="zh-CN" sz="1600"/>
          </a:p>
          <a:p>
            <a:endParaRPr lang="en-US" altLang="zh-CN" sz="1600"/>
          </a:p>
          <a:p>
            <a:r>
              <a:rPr lang="en-US" altLang="zh-CN" sz="1600" b="1"/>
              <a:t>Explanation:</a:t>
            </a:r>
            <a:endParaRPr lang="en-US" altLang="zh-CN" sz="1600" b="1"/>
          </a:p>
          <a:p>
            <a:pPr algn="just"/>
            <a:r>
              <a:rPr lang="en-US" altLang="zh-CN" sz="1600"/>
              <a:t>The system analyzes the input parameters and uses the trained machine learning model to determine the probability of stroke. Based on the prediction, patients can take preventive measures or consult healthcare professionals.</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11555" y="756920"/>
            <a:ext cx="5673725" cy="4766310"/>
          </a:xfrm>
          <a:prstGeom prst="rect">
            <a:avLst/>
          </a:prstGeom>
        </p:spPr>
        <p:txBody>
          <a:bodyPr>
            <a:noAutofit/>
          </a:bodyPr>
          <a:p>
            <a:pPr>
              <a:spcAft>
                <a:spcPct val="60000"/>
              </a:spcAft>
            </a:pPr>
            <a:r>
              <a:rPr lang="en-US" altLang="zh-CN" sz="1800" b="1"/>
              <a:t>5.7 Performance Discussion</a:t>
            </a:r>
            <a:endParaRPr lang="en-US" altLang="zh-CN" sz="2800" b="1"/>
          </a:p>
          <a:p>
            <a:pPr algn="just"/>
            <a:r>
              <a:rPr lang="en-US" altLang="zh-CN" sz="1600"/>
              <a:t>The results obtained from the machine learning models indicate that the proposed system can effectively predict stroke risk based on patient health parameters.</a:t>
            </a:r>
            <a:endParaRPr lang="en-US" altLang="zh-CN" sz="1600"/>
          </a:p>
          <a:p>
            <a:pPr algn="just"/>
            <a:r>
              <a:rPr lang="en-US" altLang="zh-CN" sz="1600"/>
              <a:t>Random Forest performed better compared to other algorithms due to its ability to handle complex data patterns and reduce overfitting.</a:t>
            </a:r>
            <a:endParaRPr lang="en-US" altLang="zh-CN" sz="1600"/>
          </a:p>
          <a:p>
            <a:pPr algn="just"/>
            <a:r>
              <a:rPr lang="en-US" altLang="zh-CN" sz="1600"/>
              <a:t>The system also demonstrated the importance of features such as age, hypertension, glucose level, and BMI in stroke prediction.</a:t>
            </a:r>
            <a:endParaRPr lang="en-US" altLang="zh-CN" sz="1600"/>
          </a:p>
          <a:p>
            <a:pPr algn="just"/>
            <a:r>
              <a:rPr lang="en-US" altLang="zh-CN" sz="1600"/>
              <a:t>Although the system provides reliable predictions, it should be used as a supportive tool rather than a replacement for medical diagnosis.</a:t>
            </a:r>
            <a:endParaRPr lang="en-US" altLang="zh-CN" sz="1600"/>
          </a:p>
          <a:p>
            <a:pPr algn="just"/>
            <a:r>
              <a:rPr lang="en-US" altLang="zh-CN" sz="1600"/>
              <a:t>Healthcare professionals should use the predictions along with clinical expertise to make informed decisions.</a:t>
            </a:r>
            <a:endParaRPr lang="en-US" altLang="zh-CN" sz="1600"/>
          </a:p>
        </p:txBody>
      </p:sp>
      <p:sp>
        <p:nvSpPr>
          <p:cNvPr id="3" name="Text Box 2"/>
          <p:cNvSpPr txBox="1"/>
          <p:nvPr/>
        </p:nvSpPr>
        <p:spPr>
          <a:xfrm>
            <a:off x="1011555" y="4950460"/>
            <a:ext cx="5674360" cy="4256405"/>
          </a:xfrm>
          <a:prstGeom prst="rect">
            <a:avLst/>
          </a:prstGeom>
        </p:spPr>
        <p:txBody>
          <a:bodyPr>
            <a:noAutofit/>
          </a:bodyPr>
          <a:p>
            <a:pPr>
              <a:spcAft>
                <a:spcPct val="60000"/>
              </a:spcAft>
            </a:pPr>
            <a:r>
              <a:rPr lang="en-US" altLang="zh-CN" sz="1800" b="1"/>
              <a:t>5.8 Limitations of the System</a:t>
            </a:r>
            <a:endParaRPr lang="en-US" altLang="zh-CN" sz="2800" b="1"/>
          </a:p>
          <a:p>
            <a:pPr algn="just"/>
            <a:r>
              <a:rPr lang="en-US" altLang="zh-CN" sz="1600"/>
              <a:t>Despite the promising results, the system has some limitations.</a:t>
            </a:r>
            <a:endParaRPr lang="en-US" altLang="zh-CN" sz="1600"/>
          </a:p>
          <a:p>
            <a:pPr algn="just"/>
            <a:r>
              <a:rPr lang="en-US" altLang="zh-CN" sz="1600"/>
              <a:t>• The model accuracy depends on the quality of the dataset.</a:t>
            </a:r>
            <a:endParaRPr lang="en-US" altLang="zh-CN" sz="1600"/>
          </a:p>
          <a:p>
            <a:pPr algn="just"/>
            <a:r>
              <a:rPr lang="en-US" altLang="zh-CN" sz="1600"/>
              <a:t> • The dataset may not represent all possible patient conditions.</a:t>
            </a:r>
            <a:endParaRPr lang="en-US" altLang="zh-CN" sz="1600"/>
          </a:p>
          <a:p>
            <a:pPr algn="just"/>
            <a:r>
              <a:rPr lang="en-US" altLang="zh-CN" sz="1600"/>
              <a:t> • Medical predictions require large and diverse datasets for better accuracy.</a:t>
            </a:r>
            <a:endParaRPr lang="en-US" altLang="zh-CN" sz="1600"/>
          </a:p>
          <a:p>
            <a:pPr algn="just"/>
            <a:r>
              <a:rPr lang="en-US" altLang="zh-CN" sz="1600"/>
              <a:t> • The system should be continuously updated with new medical data.</a:t>
            </a:r>
            <a:endParaRPr lang="en-US" altLang="zh-CN" sz="1600"/>
          </a:p>
          <a:p>
            <a:pPr algn="just"/>
            <a:r>
              <a:rPr lang="en-US" altLang="zh-CN" sz="1600"/>
              <a:t>Addressing these limitations can further improve the performance of the stroke prediction system.</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33475" y="897255"/>
            <a:ext cx="5292725" cy="6137275"/>
          </a:xfrm>
          <a:prstGeom prst="rect">
            <a:avLst/>
          </a:prstGeom>
        </p:spPr>
        <p:txBody>
          <a:bodyPr>
            <a:noAutofit/>
          </a:bodyPr>
          <a:p>
            <a:pPr>
              <a:spcAft>
                <a:spcPct val="60000"/>
              </a:spcAft>
            </a:pPr>
            <a:r>
              <a:rPr lang="en-US" altLang="zh-CN" sz="1800" b="1"/>
              <a:t>5.9 Summary</a:t>
            </a:r>
            <a:endParaRPr lang="en-US" altLang="zh-CN" sz="1800" b="1"/>
          </a:p>
          <a:p>
            <a:pPr algn="just"/>
            <a:r>
              <a:rPr lang="en-US" altLang="zh-CN" sz="1600"/>
              <a:t>This chapter presented the results and performance analysis of the Heart Stroke Risk Prediction system. Various machine learning algorithms were implemented and evaluated using different performance metrics.</a:t>
            </a:r>
            <a:endParaRPr lang="en-US" altLang="zh-CN" sz="1600"/>
          </a:p>
          <a:p>
            <a:pPr algn="just"/>
            <a:r>
              <a:rPr lang="en-US" altLang="zh-CN" sz="1600"/>
              <a:t>The results showed that the Random Forest algorithm achieved the highest accuracy and provided reliable stroke predictions.</a:t>
            </a:r>
            <a:endParaRPr lang="en-US" altLang="zh-CN" sz="1600"/>
          </a:p>
          <a:p>
            <a:pPr algn="just"/>
            <a:r>
              <a:rPr lang="en-US" altLang="zh-CN" sz="1600"/>
              <a:t>Data visualization techniques were used to analyze important features influencing stroke risk. The developed system demonstrates the potential of machine learning in supporting healthcare decision-making and early disease detection.</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80085" y="532130"/>
            <a:ext cx="6830695" cy="977265"/>
          </a:xfrm>
          <a:prstGeom prst="rect">
            <a:avLst/>
          </a:prstGeom>
        </p:spPr>
        <p:txBody>
          <a:bodyPr>
            <a:noAutofit/>
          </a:bodyPr>
          <a:p>
            <a:pPr>
              <a:spcAft>
                <a:spcPct val="60000"/>
              </a:spcAft>
            </a:pPr>
            <a:r>
              <a:rPr lang="en-US" altLang="zh-CN" sz="2200" b="1"/>
              <a:t>CHAPTER 6-CONCLUSION AND FUTURE WORK</a:t>
            </a:r>
            <a:endParaRPr lang="en-US" altLang="zh-CN" sz="2200" b="1"/>
          </a:p>
        </p:txBody>
      </p:sp>
      <p:sp>
        <p:nvSpPr>
          <p:cNvPr id="3" name="Text Box 2"/>
          <p:cNvSpPr txBox="1"/>
          <p:nvPr/>
        </p:nvSpPr>
        <p:spPr>
          <a:xfrm>
            <a:off x="894080" y="1593215"/>
            <a:ext cx="6085840" cy="6238875"/>
          </a:xfrm>
          <a:prstGeom prst="rect">
            <a:avLst/>
          </a:prstGeom>
        </p:spPr>
        <p:txBody>
          <a:bodyPr>
            <a:noAutofit/>
          </a:bodyPr>
          <a:p>
            <a:pPr>
              <a:spcAft>
                <a:spcPct val="60000"/>
              </a:spcAft>
            </a:pPr>
            <a:r>
              <a:rPr lang="en-US" altLang="zh-CN" sz="1800" b="1"/>
              <a:t>6.1 Introduction</a:t>
            </a:r>
            <a:endParaRPr lang="en-US" altLang="zh-CN" sz="1800" b="1"/>
          </a:p>
          <a:p>
            <a:pPr>
              <a:spcAft>
                <a:spcPct val="60000"/>
              </a:spcAft>
            </a:pPr>
            <a:endParaRPr lang="en-US" altLang="zh-CN" sz="1800" b="1"/>
          </a:p>
          <a:p>
            <a:pPr algn="just"/>
            <a:r>
              <a:rPr lang="en-US" altLang="zh-CN" sz="1600"/>
              <a:t>This chapter summarizes the overall findings and outcomes of the project titled “Heart Stroke Risk Prediction using Machine Learning.” The project focused on developing a machine learning-based system capable of predicting the risk of stroke based on patient health parameters. Stroke is one of the leading causes of death and disability worldwide, and early detection plays a crucial role in reducing its impact.</a:t>
            </a:r>
            <a:endParaRPr lang="en-US" altLang="zh-CN" sz="1600"/>
          </a:p>
          <a:p>
            <a:pPr algn="just"/>
            <a:endParaRPr lang="en-US" altLang="zh-CN" sz="1600"/>
          </a:p>
          <a:p>
            <a:pPr algn="just"/>
            <a:r>
              <a:rPr lang="en-US" altLang="zh-CN" sz="1600"/>
              <a:t>The proposed system uses machine learning algorithms to analyze patient data and identify patterns associated with stroke risk. By analyzing medical attributes such as age, hypertension, heart disease, body mass index (BMI), glucose level, and smoking status, the system can predict whether a patient is at high risk of stroke.</a:t>
            </a:r>
            <a:endParaRPr lang="en-US" altLang="zh-CN" sz="1600"/>
          </a:p>
          <a:p>
            <a:pPr algn="just"/>
            <a:endParaRPr lang="en-US" altLang="zh-CN" sz="1600"/>
          </a:p>
          <a:p>
            <a:pPr algn="just"/>
            <a:r>
              <a:rPr lang="en-US" altLang="zh-CN" sz="1600"/>
              <a:t>The project demonstrates how machine learning techniques can be applied in the healthcare sector to assist medical professionals in making better decisions and improving patient outcomes.</a:t>
            </a:r>
            <a:endParaRPr lang="en-US" altLang="zh-CN" sz="1600"/>
          </a:p>
        </p:txBody>
      </p:sp>
      <p:sp>
        <p:nvSpPr>
          <p:cNvPr id="4" name="Slide Number Placeholder 3"/>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65200" y="471170"/>
            <a:ext cx="6008370" cy="9443085"/>
          </a:xfrm>
          <a:prstGeom prst="rect">
            <a:avLst/>
          </a:prstGeom>
        </p:spPr>
        <p:txBody>
          <a:bodyPr>
            <a:noAutofit/>
          </a:bodyPr>
          <a:p>
            <a:pPr>
              <a:spcAft>
                <a:spcPct val="60000"/>
              </a:spcAft>
            </a:pPr>
            <a:r>
              <a:rPr lang="en-US" altLang="zh-CN" sz="1800" b="1"/>
              <a:t>6.2 Summary of Findings</a:t>
            </a:r>
            <a:endParaRPr lang="en-US" altLang="zh-CN" sz="2800" b="1"/>
          </a:p>
          <a:p>
            <a:pPr algn="just"/>
            <a:r>
              <a:rPr lang="en-US" altLang="zh-CN" sz="1600"/>
              <a:t>The main objective of this project was to develop a predictive system that can estimate the probability of stroke occurrence using machine learning algorithms. The system was implemented using Python and various machine learning libraries such as Pandas, NumPy, Scikit-learn, and Matplotlib.</a:t>
            </a:r>
            <a:endParaRPr lang="en-US" altLang="zh-CN" sz="1600"/>
          </a:p>
          <a:p>
            <a:pPr algn="just"/>
            <a:r>
              <a:rPr lang="en-US" altLang="zh-CN" sz="1600"/>
              <a:t>The project followed a systematic process that included data collection, data preprocessing, feature selection, model training, model evaluation, and prediction generation.</a:t>
            </a:r>
            <a:endParaRPr lang="en-US" altLang="zh-CN" sz="1600"/>
          </a:p>
          <a:p>
            <a:pPr algn="just"/>
            <a:r>
              <a:rPr lang="en-US" altLang="zh-CN" sz="1600"/>
              <a:t>The dataset used in this project contained multiple health-related attributes that influence stroke risk. Data preprocessing techniques were applied to clean the dataset, handle missing values, and convert categorical variables into numerical form. This ensured that the data was suitable for machine learning algorithms.</a:t>
            </a:r>
            <a:endParaRPr lang="en-US" altLang="zh-CN" sz="1600"/>
          </a:p>
          <a:p>
            <a:pPr algn="just"/>
            <a:r>
              <a:rPr lang="en-US" altLang="zh-CN" sz="1600"/>
              <a:t>Several machine learning algorithms were implemented and compared in this project, including Logistic Regression, Decision Tree, and Random Forest. These models were trained using the training dataset and evaluated using testing data.</a:t>
            </a:r>
            <a:endParaRPr lang="en-US" altLang="zh-CN" sz="1600"/>
          </a:p>
          <a:p>
            <a:pPr algn="just"/>
            <a:r>
              <a:rPr lang="en-US" altLang="zh-CN" sz="1600"/>
              <a:t>The performance of the models was measured using evaluation metrics such as accuracy, precision, recall, and confusion matrix. Among the tested models, the Random Forest algorithm achieved the highest accuracy and demonstrated better performance in predicting stroke risk.</a:t>
            </a:r>
            <a:endParaRPr lang="en-US" altLang="zh-CN" sz="1600"/>
          </a:p>
          <a:p>
            <a:pPr algn="just"/>
            <a:r>
              <a:rPr lang="en-US" altLang="zh-CN" sz="1600"/>
              <a:t>The results also showed that certain health parameters play a significant role in stroke prediction. Factors such as age, hypertension, heart disease, BMI, and glucose level were identified as important indicators of stroke risk.</a:t>
            </a:r>
            <a:endParaRPr lang="en-US" altLang="zh-CN" sz="1600"/>
          </a:p>
          <a:p>
            <a:pPr algn="just"/>
            <a:r>
              <a:rPr lang="en-US" altLang="zh-CN" sz="1600"/>
              <a:t>The developed system allows users to input patient health details and obtain a prediction about the likelihood of stroke. This system can serve as a supportive tool for healthcare professionals and may assist in early diagnosis and preventive healthcare planning.</a:t>
            </a:r>
            <a:endParaRPr lang="en-US" altLang="zh-CN" sz="1600"/>
          </a:p>
          <a:p>
            <a:pPr algn="just"/>
            <a:r>
              <a:rPr lang="en-US" altLang="zh-CN" sz="1600"/>
              <a:t>Overall, the project successfully demonstrates the effectiveness of machine learning techniques in predicting stroke risk using healthcare data.</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143000" y="762000"/>
            <a:ext cx="5628005" cy="8324215"/>
          </a:xfrm>
          <a:prstGeom prst="rect">
            <a:avLst/>
          </a:prstGeom>
        </p:spPr>
        <p:txBody>
          <a:bodyPr>
            <a:noAutofit/>
          </a:bodyPr>
          <a:p>
            <a:pPr>
              <a:spcAft>
                <a:spcPct val="60000"/>
              </a:spcAft>
            </a:pPr>
            <a:r>
              <a:rPr lang="en-US" altLang="zh-CN" sz="1800" b="1"/>
              <a:t>6.3 Limitations of the Study</a:t>
            </a:r>
            <a:endParaRPr lang="en-US" altLang="zh-CN" sz="1800" b="1"/>
          </a:p>
          <a:p>
            <a:pPr>
              <a:spcAft>
                <a:spcPct val="60000"/>
              </a:spcAft>
            </a:pPr>
            <a:endParaRPr lang="en-US" altLang="zh-CN" sz="1800" b="1"/>
          </a:p>
          <a:p>
            <a:pPr algn="just"/>
            <a:r>
              <a:rPr lang="en-US" altLang="zh-CN" sz="1600"/>
              <a:t>Although the proposed system provides promising results, there are several limitations that should be considered.</a:t>
            </a:r>
            <a:endParaRPr lang="en-US" altLang="zh-CN" sz="1600"/>
          </a:p>
          <a:p>
            <a:pPr algn="just"/>
            <a:r>
              <a:rPr lang="en-US" altLang="zh-CN" sz="1600"/>
              <a:t>One of the major limitations is the size and quality of the dataset used in the project. Machine learning models perform better when trained on large and diverse datasets. The dataset used in this project may not represent all possible patient conditions and medical variations.</a:t>
            </a:r>
            <a:endParaRPr lang="en-US" altLang="zh-CN" sz="1600"/>
          </a:p>
          <a:p>
            <a:pPr algn="just"/>
            <a:r>
              <a:rPr lang="en-US" altLang="zh-CN" sz="1600"/>
              <a:t>Another limitation is the presence of missing values and imbalanced data in the dataset. In many healthcare datasets, the number of patients who experienced a stroke is much smaller compared to those who did not. This imbalance can affect the performance of machine learning models.</a:t>
            </a:r>
            <a:endParaRPr lang="en-US" altLang="zh-CN" sz="1600"/>
          </a:p>
          <a:p>
            <a:pPr algn="just"/>
            <a:r>
              <a:rPr lang="en-US" altLang="zh-CN" sz="1600"/>
              <a:t>The system is also limited to a predefined set of health parameters. In real-world medical diagnosis, doctors consider many additional factors such as genetic history, lifestyle habits, medication usage, and medical test results.</a:t>
            </a:r>
            <a:endParaRPr lang="en-US" altLang="zh-CN" sz="1600"/>
          </a:p>
          <a:p>
            <a:pPr algn="just"/>
            <a:r>
              <a:rPr lang="en-US" altLang="zh-CN" sz="1600"/>
              <a:t>Furthermore, the system provides predictions based on statistical patterns in the data and should not be considered a replacement for professional medical diagnosis. The results generated by the system should always be interpreted with the guidance of healthcare professionals.</a:t>
            </a:r>
            <a:endParaRPr lang="en-US" altLang="zh-CN" sz="1600"/>
          </a:p>
          <a:p>
            <a:pPr algn="just"/>
            <a:r>
              <a:rPr lang="en-US" altLang="zh-CN" sz="1600"/>
              <a:t>Despite these limitations, the system demonstrates the potential of machine learning techniques in assisting healthcare decision-making.</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71880" y="688975"/>
            <a:ext cx="5917565" cy="8192770"/>
          </a:xfrm>
          <a:prstGeom prst="rect">
            <a:avLst/>
          </a:prstGeom>
        </p:spPr>
        <p:txBody>
          <a:bodyPr wrap="square">
            <a:noAutofit/>
          </a:bodyPr>
          <a:p>
            <a:pPr>
              <a:spcAft>
                <a:spcPct val="60000"/>
              </a:spcAft>
            </a:pPr>
            <a:r>
              <a:rPr lang="en-US" altLang="zh-CN" sz="1800" b="1"/>
              <a:t>6.4 Future Work</a:t>
            </a:r>
            <a:endParaRPr lang="en-US" altLang="zh-CN" sz="1800" b="1"/>
          </a:p>
          <a:p>
            <a:pPr algn="just"/>
            <a:r>
              <a:rPr lang="en-US" altLang="zh-CN" sz="1600"/>
              <a:t>There are several opportunities to improve and extend the proposed Heart Stroke Risk Prediction system in the future.</a:t>
            </a:r>
            <a:endParaRPr lang="en-US" altLang="zh-CN" sz="1600"/>
          </a:p>
          <a:p>
            <a:pPr algn="just"/>
            <a:r>
              <a:rPr lang="en-US" altLang="zh-CN" sz="1600"/>
              <a:t>One possible improvement is the use of larger and more comprehensive healthcare datasets. Training the machine learning model on larger datasets collected from hospitals and medical institutions can improve prediction accuracy and reliability.</a:t>
            </a:r>
            <a:endParaRPr lang="en-US" altLang="zh-CN" sz="1600"/>
          </a:p>
          <a:p>
            <a:pPr algn="just"/>
            <a:r>
              <a:rPr lang="en-US" altLang="zh-CN" sz="1600"/>
              <a:t>Another improvement involves the use of advanced machine learning and deep learning algorithms. Techniques such as Gradient Boosting, Support Vector Machines, and Neural Networks may provide better performance and more accurate predictions.</a:t>
            </a:r>
            <a:endParaRPr lang="en-US" altLang="zh-CN" sz="1600"/>
          </a:p>
          <a:p>
            <a:pPr algn="just"/>
            <a:r>
              <a:rPr lang="en-US" altLang="zh-CN" sz="1600"/>
              <a:t>The system can also be enhanced by integrating additional medical parameters such as cholesterol levels, blood pressure readings, ECG data, and medical imaging results. These additional features can provide a more comprehensive analysis of stroke risk.</a:t>
            </a:r>
            <a:endParaRPr lang="en-US" altLang="zh-CN" sz="1600"/>
          </a:p>
          <a:p>
            <a:pPr algn="just"/>
            <a:r>
              <a:rPr lang="en-US" altLang="zh-CN" sz="1600"/>
              <a:t>Future versions of the system can also include real-time monitoring using wearable health devices. By collecting continuous health data, the system can provide dynamic and real-time stroke risk predictions.</a:t>
            </a:r>
            <a:endParaRPr lang="en-US" altLang="zh-CN" sz="1600"/>
          </a:p>
          <a:p>
            <a:pPr algn="just"/>
            <a:r>
              <a:rPr lang="en-US" altLang="zh-CN" sz="1600"/>
              <a:t>Another potential improvement is the development of a fully functional web or mobile application. This would allow patients and healthcare professionals to easily access the prediction system from anywhere.</a:t>
            </a:r>
            <a:endParaRPr lang="en-US" altLang="zh-CN" sz="1600"/>
          </a:p>
          <a:p>
            <a:pPr algn="just"/>
            <a:r>
              <a:rPr lang="en-US" altLang="zh-CN" sz="1600"/>
              <a:t>Integration with hospital management systems and electronic health records (EHR) could also make the system more practical and useful in real healthcare environments.</a:t>
            </a:r>
            <a:endParaRPr lang="en-US" altLang="zh-CN" sz="1600"/>
          </a:p>
          <a:p>
            <a:pPr algn="just"/>
            <a:r>
              <a:rPr lang="en-US" altLang="zh-CN" sz="1600"/>
              <a:t>With these improvements, the Heart Stroke Risk Prediction system can become a more powerful tool for early detection and prevention of stroke.</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26160" y="850900"/>
            <a:ext cx="5796280" cy="7907655"/>
          </a:xfrm>
          <a:prstGeom prst="rect">
            <a:avLst/>
          </a:prstGeom>
        </p:spPr>
        <p:txBody>
          <a:bodyPr>
            <a:noAutofit/>
          </a:bodyPr>
          <a:p>
            <a:pPr>
              <a:spcAft>
                <a:spcPct val="60000"/>
              </a:spcAft>
            </a:pPr>
            <a:r>
              <a:rPr lang="en-US" altLang="zh-CN" sz="1800" b="1"/>
              <a:t>6.5 Conclusion</a:t>
            </a:r>
            <a:endParaRPr lang="en-US" altLang="zh-CN" sz="1800" b="1"/>
          </a:p>
          <a:p>
            <a:pPr>
              <a:spcAft>
                <a:spcPct val="60000"/>
              </a:spcAft>
            </a:pPr>
            <a:endParaRPr lang="en-US" altLang="zh-CN" sz="1800" b="1"/>
          </a:p>
          <a:p>
            <a:pPr algn="just"/>
            <a:r>
              <a:rPr lang="en-US" altLang="zh-CN" sz="1600"/>
              <a:t>In conclusion, the project successfully developed a machine learning-based system for predicting stroke risk using patient health data. The system analyzes multiple health parameters and applies machine learning algorithms to identify patterns associated with stroke occurrence.</a:t>
            </a:r>
            <a:endParaRPr lang="en-US" altLang="zh-CN" sz="1600"/>
          </a:p>
          <a:p>
            <a:pPr algn="just"/>
            <a:endParaRPr lang="en-US" altLang="zh-CN" sz="1600"/>
          </a:p>
          <a:p>
            <a:pPr algn="just"/>
            <a:r>
              <a:rPr lang="en-US" altLang="zh-CN" sz="1600"/>
              <a:t>The results obtained from the implemented models demonstrate that machine learning techniques can effectively analyze healthcare data and provide meaningful predictions. Among the algorithms tested, the Random Forest model provided the best performance in terms of prediction accuracy.</a:t>
            </a:r>
            <a:endParaRPr lang="en-US" altLang="zh-CN" sz="1600"/>
          </a:p>
          <a:p>
            <a:pPr algn="just"/>
            <a:r>
              <a:rPr lang="en-US" altLang="zh-CN" sz="1600"/>
              <a:t>The developed system highlights the potential of artificial intelligence and machine learning in improving healthcare services. By providing early predictions of stroke risk, such systems can help doctors and patients take preventive measures and reduce the impact of stroke</a:t>
            </a:r>
            <a:endParaRPr lang="en-US" altLang="zh-CN" sz="1600"/>
          </a:p>
          <a:p>
            <a:pPr algn="just"/>
            <a:r>
              <a:rPr lang="en-US" altLang="zh-CN" sz="1600"/>
              <a:t>.</a:t>
            </a:r>
            <a:endParaRPr lang="en-US" altLang="zh-CN" sz="1600"/>
          </a:p>
          <a:p>
            <a:pPr algn="just"/>
            <a:r>
              <a:rPr lang="en-US" altLang="zh-CN" sz="1600"/>
              <a:t>Although the system has some limitations, it provides a strong foundation for further research and development in the field of healthcare analytics and disease prediction.</a:t>
            </a:r>
            <a:endParaRPr lang="en-US" altLang="zh-CN" sz="1600"/>
          </a:p>
          <a:p>
            <a:pPr algn="just"/>
            <a:endParaRPr lang="en-US" altLang="zh-CN" sz="1600"/>
          </a:p>
          <a:p>
            <a:pPr algn="just"/>
            <a:r>
              <a:rPr lang="en-US" altLang="zh-CN" sz="1600"/>
              <a:t>The project emphasizes the importance of combining technology and medical knowledge to build intelligent healthcare systems that improve patient outcomes and support medical professionals in their decision-making process.</a:t>
            </a:r>
            <a:endParaRPr lang="en-US" altLang="zh-CN" sz="1600"/>
          </a:p>
        </p:txBody>
      </p:sp>
      <p:sp>
        <p:nvSpPr>
          <p:cNvPr id="3" name="Slide Number Placeholder 2"/>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7"/>
          </p:nvPr>
        </p:nvSpPr>
        <p:spPr/>
        <p:txBody>
          <a:bodyPr/>
          <a:p>
            <a:pPr marL="38100">
              <a:lnSpc>
                <a:spcPts val="1055"/>
              </a:lnSpc>
            </a:pPr>
            <a:fld id="{81D60167-4931-47E6-BA6A-407CBD079E47}" type="slidenum">
              <a:rPr spc="-50" dirty="0"/>
            </a:fld>
            <a:endParaRPr spc="-50" dirty="0"/>
          </a:p>
        </p:txBody>
      </p:sp>
      <p:sp>
        <p:nvSpPr>
          <p:cNvPr id="3" name="Text Box 2"/>
          <p:cNvSpPr txBox="1"/>
          <p:nvPr/>
        </p:nvSpPr>
        <p:spPr>
          <a:xfrm>
            <a:off x="1150620" y="748030"/>
            <a:ext cx="5687060" cy="8749030"/>
          </a:xfrm>
          <a:prstGeom prst="rect">
            <a:avLst/>
          </a:prstGeom>
        </p:spPr>
        <p:txBody>
          <a:bodyPr>
            <a:noAutofit/>
          </a:bodyPr>
          <a:p>
            <a:pPr>
              <a:spcAft>
                <a:spcPct val="60000"/>
              </a:spcAft>
            </a:pPr>
            <a:r>
              <a:rPr lang="en-US" altLang="zh-CN" sz="1800" b="1"/>
              <a:t>REFERENCES</a:t>
            </a:r>
            <a:endParaRPr lang="en-US" altLang="zh-CN" sz="1800" b="1"/>
          </a:p>
          <a:p>
            <a:endParaRPr lang="en-US" altLang="zh-CN" sz="1600"/>
          </a:p>
          <a:p>
            <a:pPr algn="just">
              <a:buAutoNum type="arabicPeriod"/>
            </a:pPr>
            <a:r>
              <a:rPr lang="en-US" altLang="zh-CN" sz="1600"/>
              <a:t>World Health Organization, “Stroke, Cerebrovascular Accident,” WHO Global Health Reports, 2022.</a:t>
            </a:r>
            <a:endParaRPr lang="en-US" altLang="zh-CN" sz="1600"/>
          </a:p>
          <a:p>
            <a:pPr algn="just">
              <a:buAutoNum type="arabicPeriod"/>
            </a:pPr>
            <a:endParaRPr lang="en-US" altLang="zh-CN" sz="1600"/>
          </a:p>
          <a:p>
            <a:pPr indent="0" algn="just">
              <a:buNone/>
            </a:pPr>
            <a:r>
              <a:rPr lang="en-US" altLang="zh-CN" sz="1600"/>
              <a:t>2.Pedregosa, F., et al., “Scikit-learn: Machine Learning in Python,” Journal of Machine Learning Research, Vol. 12, pp. 2825–2830, 2011.</a:t>
            </a:r>
            <a:endParaRPr lang="en-US" altLang="zh-CN" sz="1600"/>
          </a:p>
          <a:p>
            <a:pPr algn="just">
              <a:buAutoNum type="arabicPeriod"/>
            </a:pPr>
            <a:endParaRPr lang="en-US" altLang="zh-CN" sz="1600"/>
          </a:p>
          <a:p>
            <a:pPr indent="0" algn="just">
              <a:buNone/>
            </a:pPr>
            <a:r>
              <a:rPr lang="en-US" altLang="zh-CN" sz="1600"/>
              <a:t>3.Breiman, L., “Random Forests,” Machine Learning Journal, Vol. 45, No. 1, pp. 5–32, 2001.</a:t>
            </a:r>
            <a:endParaRPr lang="en-US" altLang="zh-CN" sz="1600"/>
          </a:p>
          <a:p>
            <a:pPr algn="just">
              <a:buAutoNum type="arabicPeriod"/>
            </a:pPr>
            <a:endParaRPr lang="en-US" altLang="zh-CN" sz="1600"/>
          </a:p>
          <a:p>
            <a:pPr indent="0" algn="just">
              <a:buNone/>
            </a:pPr>
            <a:r>
              <a:rPr lang="en-US" altLang="zh-CN" sz="1600"/>
              <a:t>4.Bishop, C. M., “Pattern Recognition and Machine Learning,” Springer Publications, 2006.</a:t>
            </a:r>
            <a:endParaRPr lang="en-US" altLang="zh-CN" sz="1600"/>
          </a:p>
          <a:p>
            <a:pPr algn="just">
              <a:buAutoNum type="arabicPeriod"/>
            </a:pPr>
            <a:endParaRPr lang="en-US" altLang="zh-CN" sz="1600"/>
          </a:p>
          <a:p>
            <a:pPr indent="0" algn="just">
              <a:buNone/>
            </a:pPr>
            <a:r>
              <a:rPr lang="en-US" altLang="zh-CN" sz="1600"/>
              <a:t>5.Han, J., Kamber, M., and Pei, J., “Data Mining: Concepts and Techniques,” Morgan Kaufmann Publishers, 2012.</a:t>
            </a:r>
            <a:endParaRPr lang="en-US" altLang="zh-CN" sz="1600"/>
          </a:p>
          <a:p>
            <a:pPr algn="just">
              <a:buAutoNum type="arabicPeriod"/>
            </a:pPr>
            <a:endParaRPr lang="en-US" altLang="zh-CN" sz="1600"/>
          </a:p>
          <a:p>
            <a:pPr indent="0" algn="just">
              <a:buNone/>
            </a:pPr>
            <a:r>
              <a:rPr lang="en-US" altLang="zh-CN" sz="1600"/>
              <a:t>6.Witten, I. H., Frank, E., and Hall, M. A., “Data Mining: Practical Machine Learning Tools and Techniques,” Morgan Kaufmann Publishers, 2016.</a:t>
            </a:r>
            <a:endParaRPr lang="en-US" altLang="zh-CN" sz="1600"/>
          </a:p>
          <a:p>
            <a:pPr algn="just">
              <a:buAutoNum type="arabicPeriod"/>
            </a:pPr>
            <a:endParaRPr lang="en-US" altLang="zh-CN" sz="1600"/>
          </a:p>
          <a:p>
            <a:pPr indent="0" algn="just">
              <a:buNone/>
            </a:pPr>
            <a:r>
              <a:rPr lang="en-US" altLang="zh-CN" sz="1600"/>
              <a:t>7.Géron, A., “Hands-On Machine Learning with Scikit-Learn, Keras, and TensorFlow,” O’Reilly Media, 2019.</a:t>
            </a:r>
            <a:endParaRPr lang="en-US" altLang="zh-CN" sz="1600"/>
          </a:p>
          <a:p>
            <a:pPr algn="just">
              <a:buAutoNum type="arabicPeriod"/>
            </a:pPr>
            <a:endParaRPr lang="en-US" altLang="zh-CN" sz="1600"/>
          </a:p>
          <a:p>
            <a:pPr indent="0" algn="just">
              <a:buNone/>
            </a:pPr>
            <a:r>
              <a:rPr lang="en-US" altLang="zh-CN" sz="1600"/>
              <a:t>8.Dua, D., and Graff, C., “UCI Machine Learning Repository,” University of California, Irvine, 2019.</a:t>
            </a:r>
            <a:endParaRPr lang="en-US" altLang="zh-CN" sz="1600"/>
          </a:p>
          <a:p>
            <a:pPr algn="just">
              <a:buAutoNum type="arabicPeriod"/>
            </a:pPr>
            <a:endParaRPr lang="en-US" altLang="zh-CN" sz="1600"/>
          </a:p>
          <a:p>
            <a:pPr indent="0" algn="just">
              <a:buNone/>
            </a:pPr>
            <a:r>
              <a:rPr lang="en-US" altLang="zh-CN" sz="1600"/>
              <a:t>9.Kotsiantis, S., “Supervised Machine Learning: A Review of Classification Techniques,” Informatica Journal, 2007.</a:t>
            </a:r>
            <a:endParaRPr lang="en-US" altLang="zh-CN" sz="1600"/>
          </a:p>
          <a:p>
            <a:pPr algn="just">
              <a:buAutoNum type="arabicPeriod"/>
            </a:pPr>
            <a:endParaRPr lang="en-US" altLang="zh-CN" sz="1600"/>
          </a:p>
          <a:p>
            <a:pPr indent="0" algn="just">
              <a:buNone/>
            </a:pPr>
            <a:r>
              <a:rPr lang="en-US" altLang="zh-CN" sz="1600"/>
              <a:t>10.S. B. Kotsiantis, “Decision Trees: A Recent Overview,” Artificial Intelligence Review, 2013.</a:t>
            </a:r>
            <a:endParaRPr lang="en-US" altLang="zh-CN" sz="16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Number Placeholder 1"/>
          <p:cNvSpPr>
            <a:spLocks noGrp="1"/>
          </p:cNvSpPr>
          <p:nvPr>
            <p:ph type="sldNum" sz="quarter" idx="7"/>
          </p:nvPr>
        </p:nvSpPr>
        <p:spPr/>
        <p:txBody>
          <a:bodyPr/>
          <a:p>
            <a:pPr marL="38100">
              <a:lnSpc>
                <a:spcPts val="1055"/>
              </a:lnSpc>
            </a:pPr>
            <a:fld id="{81D60167-4931-47E6-BA6A-407CBD079E47}" type="slidenum">
              <a:rPr spc="-50" dirty="0"/>
            </a:fld>
            <a:endParaRPr spc="-50" dirty="0"/>
          </a:p>
        </p:txBody>
      </p:sp>
    </p:spTree>
  </p:cSld>
  <p:clrMapOvr>
    <a:masterClrMapping/>
  </p:clrMapOvr>
</p:sld>
</file>

<file path=ppt/tags/tag1.xml><?xml version="1.0" encoding="utf-8"?>
<p:tagLst xmlns:p="http://schemas.openxmlformats.org/presentationml/2006/main">
  <p:tag name="TABLE_ENDDRAG_ORIGIN_RECT" val="512*354"/>
  <p:tag name="TABLE_ENDDRAG_RECT" val="58*216*512*354"/>
</p:tagLst>
</file>

<file path=ppt/tags/tag2.xml><?xml version="1.0" encoding="utf-8"?>
<p:tagLst xmlns:p="http://schemas.openxmlformats.org/presentationml/2006/main">
  <p:tag name="TABLE_ENDDRAG_ORIGIN_RECT" val="443*299"/>
  <p:tag name="TABLE_ENDDRAG_RECT" val="89*218*443*299"/>
</p:tagLst>
</file>

<file path=ppt/tags/tag3.xml><?xml version="1.0" encoding="utf-8"?>
<p:tagLst xmlns:p="http://schemas.openxmlformats.org/presentationml/2006/main">
  <p:tag name="TABLE_ENDDRAG_ORIGIN_RECT" val="464*82"/>
  <p:tag name="TABLE_ENDDRAG_RECT" val="86*287*464*8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64588</Words>
  <Application>WPS Presentation</Application>
  <PresentationFormat>On-screen Show (4:3)</PresentationFormat>
  <Paragraphs>1292</Paragraphs>
  <Slides>70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70</vt:i4>
      </vt:variant>
    </vt:vector>
  </HeadingPairs>
  <TitlesOfParts>
    <vt:vector size="78" baseType="lpstr">
      <vt:lpstr>Arial</vt:lpstr>
      <vt:lpstr>SimSun</vt:lpstr>
      <vt:lpstr>Wingdings</vt:lpstr>
      <vt:lpstr>Calibri</vt:lpstr>
      <vt:lpstr>Times New Roman</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Ajay Bevara</cp:lastModifiedBy>
  <cp:revision>70</cp:revision>
  <dcterms:created xsi:type="dcterms:W3CDTF">2026-03-06T06:35:00Z</dcterms:created>
  <dcterms:modified xsi:type="dcterms:W3CDTF">2026-03-07T10:05:07Z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2026-03-05T09:00:00Z</vt:filetime>
  </property>
  <property fmtid="{D5CDD505-2E9C-101B-9397-08002B2CF9AE}" pid="3" name="Creator">
    <vt:lpwstr>Microsoft® Word 2016</vt:lpwstr>
  </property>
  <property fmtid="{D5CDD505-2E9C-101B-9397-08002B2CF9AE}" pid="4" name="LastSaved">
    <vt:filetime>2026-03-07T09:00:00Z</vt:filetime>
  </property>
  <property fmtid="{D5CDD505-2E9C-101B-9397-08002B2CF9AE}" pid="5" name="Producer">
    <vt:lpwstr>www.ilovepdf.com</vt:lpwstr>
  </property>
  <property fmtid="{D5CDD505-2E9C-101B-9397-08002B2CF9AE}" pid="6" name="ICV">
    <vt:lpwstr>FDCD7D3F942F408080C2BD28384E7751_12</vt:lpwstr>
  </property>
  <property fmtid="{D5CDD505-2E9C-101B-9397-08002B2CF9AE}" pid="7" name="KSOProductBuildVer">
    <vt:lpwstr>1033-12.2.0.23196</vt:lpwstr>
  </property>
</Properties>
</file>